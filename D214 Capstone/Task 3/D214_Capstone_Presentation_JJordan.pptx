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828" r:id="rId4"/>
  </p:sldMasterIdLst>
  <p:notesMasterIdLst>
    <p:notesMasterId r:id="rId18"/>
  </p:notesMasterIdLst>
  <p:handoutMasterIdLst>
    <p:handoutMasterId r:id="rId19"/>
  </p:handoutMasterIdLst>
  <p:sldIdLst>
    <p:sldId id="256" r:id="rId5"/>
    <p:sldId id="262" r:id="rId6"/>
    <p:sldId id="257" r:id="rId7"/>
    <p:sldId id="264" r:id="rId8"/>
    <p:sldId id="267" r:id="rId9"/>
    <p:sldId id="265" r:id="rId10"/>
    <p:sldId id="266" r:id="rId11"/>
    <p:sldId id="268" r:id="rId12"/>
    <p:sldId id="260" r:id="rId13"/>
    <p:sldId id="269" r:id="rId14"/>
    <p:sldId id="270" r:id="rId15"/>
    <p:sldId id="263"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8" autoAdjust="0"/>
    <p:restoredTop sz="73185" autoAdjust="0"/>
  </p:normalViewPr>
  <p:slideViewPr>
    <p:cSldViewPr snapToGrid="0">
      <p:cViewPr varScale="1">
        <p:scale>
          <a:sx n="87" d="100"/>
          <a:sy n="87" d="100"/>
        </p:scale>
        <p:origin x="86" y="187"/>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ata5.xml.rels><?xml version="1.0" encoding="UTF-8" standalone="yes"?>
<Relationships xmlns="http://schemas.openxmlformats.org/package/2006/relationships"><Relationship Id="rId1" Type="http://schemas.openxmlformats.org/officeDocument/2006/relationships/image" Target="../media/image9.png"/></Relationships>
</file>

<file path=ppt/diagrams/_rels/data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_rels/drawing5.xml.rels><?xml version="1.0" encoding="UTF-8" standalone="yes"?>
<Relationships xmlns="http://schemas.openxmlformats.org/package/2006/relationships"><Relationship Id="rId1" Type="http://schemas.openxmlformats.org/officeDocument/2006/relationships/image" Target="../media/image9.png"/></Relationships>
</file>

<file path=ppt/diagrams/_rels/drawing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B432F4-5FDB-4518-9272-2F3934AC6AA2}" type="doc">
      <dgm:prSet loTypeId="urn:microsoft.com/office/officeart/2008/layout/LinedList" loCatId="hierarchy" qsTypeId="urn:microsoft.com/office/officeart/2005/8/quickstyle/simple4" qsCatId="simple" csTypeId="urn:microsoft.com/office/officeart/2018/5/colors/Iconchunking_neutralbg_colorful1" csCatId="colorful" phldr="1"/>
      <dgm:spPr/>
      <dgm:t>
        <a:bodyPr/>
        <a:lstStyle/>
        <a:p>
          <a:endParaRPr lang="en-US"/>
        </a:p>
      </dgm:t>
    </dgm:pt>
    <dgm:pt modelId="{14BC708E-A0A1-4102-88E4-E75128B4E51E}">
      <dgm:prSet/>
      <dgm:spPr/>
      <dgm:t>
        <a:bodyPr/>
        <a:lstStyle/>
        <a:p>
          <a:pPr>
            <a:lnSpc>
              <a:spcPct val="100000"/>
            </a:lnSpc>
          </a:pPr>
          <a:r>
            <a:rPr lang="en-US" noProof="0" dirty="0" smtClean="0">
              <a:solidFill>
                <a:schemeClr val="bg1"/>
              </a:solidFill>
              <a:effectLst>
                <a:glow rad="152400">
                  <a:schemeClr val="bg1">
                    <a:alpha val="19000"/>
                  </a:schemeClr>
                </a:glow>
              </a:effectLst>
            </a:rPr>
            <a:t>Null Hypothesis</a:t>
          </a:r>
        </a:p>
        <a:p>
          <a:pPr>
            <a:lnSpc>
              <a:spcPct val="100000"/>
            </a:lnSpc>
          </a:pPr>
          <a:r>
            <a:rPr lang="en-US" noProof="0" dirty="0" smtClean="0">
              <a:solidFill>
                <a:schemeClr val="bg1"/>
              </a:solidFill>
              <a:effectLst>
                <a:glow rad="152400">
                  <a:schemeClr val="bg1">
                    <a:alpha val="19000"/>
                  </a:schemeClr>
                </a:glow>
              </a:effectLst>
            </a:rPr>
            <a:t>- </a:t>
          </a:r>
          <a:r>
            <a:rPr lang="en-US" baseline="0" dirty="0" smtClean="0">
              <a:solidFill>
                <a:schemeClr val="bg1"/>
              </a:solidFill>
            </a:rPr>
            <a:t>The future stock price cannot be predicted with 80% accuracy</a:t>
          </a:r>
          <a:endParaRPr lang="en-US" baseline="0" noProof="0" dirty="0">
            <a:solidFill>
              <a:schemeClr val="bg1"/>
            </a:solidFill>
            <a:effectLst>
              <a:glow rad="152400">
                <a:schemeClr val="bg1">
                  <a:alpha val="19000"/>
                </a:schemeClr>
              </a:glow>
            </a:effectLst>
          </a:endParaRPr>
        </a:p>
      </dgm:t>
    </dgm:pt>
    <dgm:pt modelId="{CF221EFF-354A-47A9-A498-1F0BBF01ECB8}" type="par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519C821-85FB-4CA3-BEB5-E4BFBC529B83}" type="sib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C6D21269-399B-4BA2-8621-C7B9DA1E1B8F}">
      <dgm:prSet/>
      <dgm:spPr/>
      <dgm:t>
        <a:bodyPr/>
        <a:lstStyle/>
        <a:p>
          <a:pPr>
            <a:lnSpc>
              <a:spcPct val="100000"/>
            </a:lnSpc>
          </a:pPr>
          <a:r>
            <a:rPr lang="en-US" noProof="0" dirty="0" smtClean="0">
              <a:solidFill>
                <a:schemeClr val="bg1"/>
              </a:solidFill>
              <a:effectLst>
                <a:glow rad="152400">
                  <a:schemeClr val="bg1">
                    <a:alpha val="19000"/>
                  </a:schemeClr>
                </a:glow>
              </a:effectLst>
            </a:rPr>
            <a:t>Alternate Hypothesis</a:t>
          </a:r>
        </a:p>
        <a:p>
          <a:pPr>
            <a:lnSpc>
              <a:spcPct val="100000"/>
            </a:lnSpc>
          </a:pPr>
          <a:r>
            <a:rPr lang="en-US" noProof="0" dirty="0" smtClean="0">
              <a:solidFill>
                <a:schemeClr val="bg1"/>
              </a:solidFill>
              <a:effectLst>
                <a:glow rad="152400">
                  <a:schemeClr val="bg1">
                    <a:alpha val="19000"/>
                  </a:schemeClr>
                </a:glow>
              </a:effectLst>
            </a:rPr>
            <a:t>- </a:t>
          </a:r>
          <a:r>
            <a:rPr lang="en-US" dirty="0" smtClean="0">
              <a:solidFill>
                <a:schemeClr val="bg1"/>
              </a:solidFill>
            </a:rPr>
            <a:t>The future stock price can be predicted with 80% accuracy</a:t>
          </a:r>
          <a:endParaRPr lang="en-US" noProof="0" dirty="0" smtClean="0">
            <a:solidFill>
              <a:schemeClr val="bg1"/>
            </a:solidFill>
            <a:effectLst>
              <a:glow rad="152400">
                <a:schemeClr val="bg1">
                  <a:alpha val="19000"/>
                </a:schemeClr>
              </a:glow>
            </a:effectLst>
          </a:endParaRPr>
        </a:p>
        <a:p>
          <a:pPr>
            <a:lnSpc>
              <a:spcPct val="100000"/>
            </a:lnSpc>
          </a:pPr>
          <a:endParaRPr lang="en-US" noProof="0" dirty="0">
            <a:solidFill>
              <a:schemeClr val="bg1"/>
            </a:solidFill>
            <a:effectLst>
              <a:glow rad="152400">
                <a:schemeClr val="bg1">
                  <a:alpha val="19000"/>
                </a:schemeClr>
              </a:glow>
            </a:effectLst>
          </a:endParaRPr>
        </a:p>
      </dgm:t>
    </dgm:pt>
    <dgm:pt modelId="{AA3929B3-1058-4240-AD5D-9518D4976567}" type="par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C79B0F2C-DDB4-44EB-89F7-717146B88B10}" type="sib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4DB19DA1-38CF-4A1B-B9F5-C2C345EBAD02}" type="pres">
      <dgm:prSet presAssocID="{E1B432F4-5FDB-4518-9272-2F3934AC6AA2}" presName="vert0" presStyleCnt="0">
        <dgm:presLayoutVars>
          <dgm:dir/>
          <dgm:animOne val="branch"/>
          <dgm:animLvl val="lvl"/>
        </dgm:presLayoutVars>
      </dgm:prSet>
      <dgm:spPr/>
      <dgm:t>
        <a:bodyPr/>
        <a:lstStyle/>
        <a:p>
          <a:endParaRPr lang="en-US"/>
        </a:p>
      </dgm:t>
    </dgm:pt>
    <dgm:pt modelId="{9F9AC6FB-21CC-4D11-8D3B-85E6C94943F9}" type="pres">
      <dgm:prSet presAssocID="{14BC708E-A0A1-4102-88E4-E75128B4E51E}" presName="thickLine" presStyleLbl="alignNode1" presStyleIdx="0" presStyleCnt="2"/>
      <dgm:spPr/>
    </dgm:pt>
    <dgm:pt modelId="{150ACCFC-4EEC-4CC6-A675-C11A42555E48}" type="pres">
      <dgm:prSet presAssocID="{14BC708E-A0A1-4102-88E4-E75128B4E51E}" presName="horz1" presStyleCnt="0"/>
      <dgm:spPr/>
    </dgm:pt>
    <dgm:pt modelId="{D374D593-77BB-4A6D-BAEB-BD3EB9EDB862}" type="pres">
      <dgm:prSet presAssocID="{14BC708E-A0A1-4102-88E4-E75128B4E51E}" presName="tx1" presStyleLbl="revTx" presStyleIdx="0" presStyleCnt="2"/>
      <dgm:spPr/>
      <dgm:t>
        <a:bodyPr/>
        <a:lstStyle/>
        <a:p>
          <a:endParaRPr lang="en-US"/>
        </a:p>
      </dgm:t>
    </dgm:pt>
    <dgm:pt modelId="{578121E1-9C88-41C3-89BF-D5EC2F2D2363}" type="pres">
      <dgm:prSet presAssocID="{14BC708E-A0A1-4102-88E4-E75128B4E51E}" presName="vert1" presStyleCnt="0"/>
      <dgm:spPr/>
    </dgm:pt>
    <dgm:pt modelId="{FB6E1C64-608D-4FE3-A84B-F17A0BC1F25F}" type="pres">
      <dgm:prSet presAssocID="{C6D21269-399B-4BA2-8621-C7B9DA1E1B8F}" presName="thickLine" presStyleLbl="alignNode1" presStyleIdx="1" presStyleCnt="2"/>
      <dgm:spPr/>
    </dgm:pt>
    <dgm:pt modelId="{12F3ED0B-7501-4BA3-8036-5FDF40722677}" type="pres">
      <dgm:prSet presAssocID="{C6D21269-399B-4BA2-8621-C7B9DA1E1B8F}" presName="horz1" presStyleCnt="0"/>
      <dgm:spPr/>
    </dgm:pt>
    <dgm:pt modelId="{D2AB8134-4265-4737-A81B-C1A759452B05}" type="pres">
      <dgm:prSet presAssocID="{C6D21269-399B-4BA2-8621-C7B9DA1E1B8F}" presName="tx1" presStyleLbl="revTx" presStyleIdx="1" presStyleCnt="2"/>
      <dgm:spPr/>
      <dgm:t>
        <a:bodyPr/>
        <a:lstStyle/>
        <a:p>
          <a:endParaRPr lang="en-US"/>
        </a:p>
      </dgm:t>
    </dgm:pt>
    <dgm:pt modelId="{43F78976-DC24-4D44-AD53-AE721B48953C}" type="pres">
      <dgm:prSet presAssocID="{C6D21269-399B-4BA2-8621-C7B9DA1E1B8F}" presName="vert1" presStyleCnt="0"/>
      <dgm:spPr/>
    </dgm:pt>
  </dgm:ptLst>
  <dgm:cxnLst>
    <dgm:cxn modelId="{895E0B92-DF24-4A1D-BAE1-EBCEC38635FA}" type="presOf" srcId="{E1B432F4-5FDB-4518-9272-2F3934AC6AA2}" destId="{4DB19DA1-38CF-4A1B-B9F5-C2C345EBAD02}" srcOrd="0" destOrd="0" presId="urn:microsoft.com/office/officeart/2008/layout/LinedList"/>
    <dgm:cxn modelId="{EB9839C5-F324-41C4-8950-5284E09FB71E}" srcId="{E1B432F4-5FDB-4518-9272-2F3934AC6AA2}" destId="{14BC708E-A0A1-4102-88E4-E75128B4E51E}" srcOrd="0" destOrd="0" parTransId="{CF221EFF-354A-47A9-A498-1F0BBF01ECB8}" sibTransId="{7519C821-85FB-4CA3-BEB5-E4BFBC529B83}"/>
    <dgm:cxn modelId="{DE5CBA1F-B846-434E-BD20-C2153B0487E3}" type="presOf" srcId="{14BC708E-A0A1-4102-88E4-E75128B4E51E}" destId="{D374D593-77BB-4A6D-BAEB-BD3EB9EDB862}" srcOrd="0" destOrd="0" presId="urn:microsoft.com/office/officeart/2008/layout/LinedList"/>
    <dgm:cxn modelId="{C72549D2-6B6C-479B-9B17-B7A01D99B08D}" type="presOf" srcId="{C6D21269-399B-4BA2-8621-C7B9DA1E1B8F}" destId="{D2AB8134-4265-4737-A81B-C1A759452B05}" srcOrd="0" destOrd="0" presId="urn:microsoft.com/office/officeart/2008/layout/LinedList"/>
    <dgm:cxn modelId="{E4AD895B-72A4-4A6B-A7F4-C77A53EC51BC}" srcId="{E1B432F4-5FDB-4518-9272-2F3934AC6AA2}" destId="{C6D21269-399B-4BA2-8621-C7B9DA1E1B8F}" srcOrd="1" destOrd="0" parTransId="{AA3929B3-1058-4240-AD5D-9518D4976567}" sibTransId="{C79B0F2C-DDB4-44EB-89F7-717146B88B10}"/>
    <dgm:cxn modelId="{59C31F1A-1AC7-41A7-9E20-D24308A6187B}" type="presParOf" srcId="{4DB19DA1-38CF-4A1B-B9F5-C2C345EBAD02}" destId="{9F9AC6FB-21CC-4D11-8D3B-85E6C94943F9}" srcOrd="0" destOrd="0" presId="urn:microsoft.com/office/officeart/2008/layout/LinedList"/>
    <dgm:cxn modelId="{EDC91F5D-D5E5-4AE9-B4A1-0899F8550E05}" type="presParOf" srcId="{4DB19DA1-38CF-4A1B-B9F5-C2C345EBAD02}" destId="{150ACCFC-4EEC-4CC6-A675-C11A42555E48}" srcOrd="1" destOrd="0" presId="urn:microsoft.com/office/officeart/2008/layout/LinedList"/>
    <dgm:cxn modelId="{30F63949-AD78-4290-B505-1A4181368D93}" type="presParOf" srcId="{150ACCFC-4EEC-4CC6-A675-C11A42555E48}" destId="{D374D593-77BB-4A6D-BAEB-BD3EB9EDB862}" srcOrd="0" destOrd="0" presId="urn:microsoft.com/office/officeart/2008/layout/LinedList"/>
    <dgm:cxn modelId="{42B50A77-A415-42F6-BC0D-63A0B577314B}" type="presParOf" srcId="{150ACCFC-4EEC-4CC6-A675-C11A42555E48}" destId="{578121E1-9C88-41C3-89BF-D5EC2F2D2363}" srcOrd="1" destOrd="0" presId="urn:microsoft.com/office/officeart/2008/layout/LinedList"/>
    <dgm:cxn modelId="{CD61BF4C-6E43-4B00-9698-A50677597888}" type="presParOf" srcId="{4DB19DA1-38CF-4A1B-B9F5-C2C345EBAD02}" destId="{FB6E1C64-608D-4FE3-A84B-F17A0BC1F25F}" srcOrd="2" destOrd="0" presId="urn:microsoft.com/office/officeart/2008/layout/LinedList"/>
    <dgm:cxn modelId="{98612088-125E-4980-AB99-50BCB5AE0414}" type="presParOf" srcId="{4DB19DA1-38CF-4A1B-B9F5-C2C345EBAD02}" destId="{12F3ED0B-7501-4BA3-8036-5FDF40722677}" srcOrd="3" destOrd="0" presId="urn:microsoft.com/office/officeart/2008/layout/LinedList"/>
    <dgm:cxn modelId="{5B74D97A-65C8-4DDA-BD2B-197509093290}" type="presParOf" srcId="{12F3ED0B-7501-4BA3-8036-5FDF40722677}" destId="{D2AB8134-4265-4737-A81B-C1A759452B05}" srcOrd="0" destOrd="0" presId="urn:microsoft.com/office/officeart/2008/layout/LinedList"/>
    <dgm:cxn modelId="{3B6FFB5D-D762-4C55-B6EB-B33DF96A15CD}" type="presParOf" srcId="{12F3ED0B-7501-4BA3-8036-5FDF40722677}" destId="{43F78976-DC24-4D44-AD53-AE721B48953C}"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B432F4-5FDB-4518-9272-2F3934AC6AA2}" type="doc">
      <dgm:prSet loTypeId="urn:microsoft.com/office/officeart/2009/layout/CircleArrowProcess" loCatId="cycle" qsTypeId="urn:microsoft.com/office/officeart/2005/8/quickstyle/simple1" qsCatId="simple" csTypeId="urn:microsoft.com/office/officeart/2018/5/colors/Iconchunking_neutralbg_colorful1" csCatId="colorful" phldr="1"/>
      <dgm:spPr/>
      <dgm:t>
        <a:bodyPr/>
        <a:lstStyle/>
        <a:p>
          <a:endParaRPr lang="en-US"/>
        </a:p>
      </dgm:t>
    </dgm:pt>
    <dgm:pt modelId="{14BC708E-A0A1-4102-88E4-E75128B4E51E}">
      <dgm:prSet/>
      <dgm:spPr/>
      <dgm:t>
        <a:bodyPr/>
        <a:lstStyle/>
        <a:p>
          <a:pPr>
            <a:lnSpc>
              <a:spcPct val="100000"/>
            </a:lnSpc>
          </a:pPr>
          <a:r>
            <a:rPr lang="en-US" baseline="0" noProof="0" dirty="0" smtClean="0">
              <a:solidFill>
                <a:schemeClr val="bg1"/>
              </a:solidFill>
              <a:effectLst>
                <a:glow rad="152400">
                  <a:schemeClr val="bg1">
                    <a:alpha val="19000"/>
                  </a:schemeClr>
                </a:glow>
              </a:effectLst>
            </a:rPr>
            <a:t>Data Cleaning</a:t>
          </a:r>
          <a:endParaRPr lang="en-US" baseline="0" noProof="0" dirty="0">
            <a:solidFill>
              <a:schemeClr val="bg1"/>
            </a:solidFill>
            <a:effectLst>
              <a:glow rad="152400">
                <a:schemeClr val="bg1">
                  <a:alpha val="19000"/>
                </a:schemeClr>
              </a:glow>
            </a:effectLst>
          </a:endParaRPr>
        </a:p>
      </dgm:t>
    </dgm:pt>
    <dgm:pt modelId="{CF221EFF-354A-47A9-A498-1F0BBF01ECB8}" type="par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519C821-85FB-4CA3-BEB5-E4BFBC529B83}" type="sib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C75EDC4-9F86-4376-8C40-246EE793238B}">
      <dgm:prSet/>
      <dgm:spPr/>
      <dgm:t>
        <a:bodyPr/>
        <a:lstStyle/>
        <a:p>
          <a:r>
            <a:rPr lang="en-US" noProof="0" dirty="0" smtClean="0">
              <a:solidFill>
                <a:schemeClr val="bg1"/>
              </a:solidFill>
              <a:effectLst>
                <a:glow rad="152400">
                  <a:schemeClr val="bg1">
                    <a:alpha val="19000"/>
                  </a:schemeClr>
                </a:glow>
              </a:effectLst>
            </a:rPr>
            <a:t>Model Identification</a:t>
          </a:r>
          <a:endParaRPr lang="en-US" noProof="0" dirty="0">
            <a:solidFill>
              <a:schemeClr val="bg1"/>
            </a:solidFill>
            <a:effectLst>
              <a:glow rad="152400">
                <a:schemeClr val="bg1">
                  <a:alpha val="19000"/>
                </a:schemeClr>
              </a:glow>
            </a:effectLst>
          </a:endParaRPr>
        </a:p>
      </dgm:t>
    </dgm:pt>
    <dgm:pt modelId="{309C4E58-8ACA-4E80-A222-77E79CDDDFAD}" type="parTrans" cxnId="{C2F0B2BC-E646-4677-B194-849513D06755}">
      <dgm:prSet/>
      <dgm:spPr/>
      <dgm:t>
        <a:bodyPr/>
        <a:lstStyle/>
        <a:p>
          <a:endParaRPr lang="en-US"/>
        </a:p>
      </dgm:t>
    </dgm:pt>
    <dgm:pt modelId="{5DA9AF58-F092-491E-8D9B-49EF5E5A3AB0}" type="sibTrans" cxnId="{C2F0B2BC-E646-4677-B194-849513D06755}">
      <dgm:prSet/>
      <dgm:spPr/>
      <dgm:t>
        <a:bodyPr/>
        <a:lstStyle/>
        <a:p>
          <a:endParaRPr lang="en-US"/>
        </a:p>
      </dgm:t>
    </dgm:pt>
    <dgm:pt modelId="{92104FBD-15A2-4F30-8665-A6E7679AD8C2}">
      <dgm:prSet/>
      <dgm:spPr/>
      <dgm:t>
        <a:bodyPr/>
        <a:lstStyle/>
        <a:p>
          <a:r>
            <a:rPr lang="en-US" noProof="0" dirty="0" smtClean="0">
              <a:solidFill>
                <a:schemeClr val="bg1"/>
              </a:solidFill>
              <a:effectLst>
                <a:glow rad="152400">
                  <a:schemeClr val="bg1">
                    <a:alpha val="19000"/>
                  </a:schemeClr>
                </a:glow>
              </a:effectLst>
            </a:rPr>
            <a:t>Forecasting</a:t>
          </a:r>
        </a:p>
        <a:p>
          <a:endParaRPr lang="en-US" noProof="0" dirty="0">
            <a:effectLst>
              <a:glow rad="152400">
                <a:schemeClr val="bg1">
                  <a:alpha val="19000"/>
                </a:schemeClr>
              </a:glow>
            </a:effectLst>
          </a:endParaRPr>
        </a:p>
      </dgm:t>
    </dgm:pt>
    <dgm:pt modelId="{67C67C15-0B70-4AFC-95E2-24CB85DD8A09}" type="parTrans" cxnId="{6AA40F20-245B-4B21-96B3-E29667A14605}">
      <dgm:prSet/>
      <dgm:spPr/>
      <dgm:t>
        <a:bodyPr/>
        <a:lstStyle/>
        <a:p>
          <a:endParaRPr lang="en-US"/>
        </a:p>
      </dgm:t>
    </dgm:pt>
    <dgm:pt modelId="{F96D0321-B1F4-4193-81B0-D8106210C5EB}" type="sibTrans" cxnId="{6AA40F20-245B-4B21-96B3-E29667A14605}">
      <dgm:prSet/>
      <dgm:spPr/>
      <dgm:t>
        <a:bodyPr/>
        <a:lstStyle/>
        <a:p>
          <a:endParaRPr lang="en-US"/>
        </a:p>
      </dgm:t>
    </dgm:pt>
    <dgm:pt modelId="{A70ECA38-6EA6-48B3-94FE-95076AB66E8B}">
      <dgm:prSet/>
      <dgm:spPr/>
      <dgm:t>
        <a:bodyPr/>
        <a:lstStyle/>
        <a:p>
          <a:pPr>
            <a:lnSpc>
              <a:spcPct val="100000"/>
            </a:lnSpc>
          </a:pPr>
          <a:r>
            <a:rPr lang="en-US" baseline="0" noProof="0" dirty="0" smtClean="0">
              <a:solidFill>
                <a:schemeClr val="bg1"/>
              </a:solidFill>
              <a:effectLst>
                <a:glow rad="152400">
                  <a:schemeClr val="bg1">
                    <a:alpha val="19000"/>
                  </a:schemeClr>
                </a:glow>
              </a:effectLst>
            </a:rPr>
            <a:t>Data Preparation &amp; </a:t>
          </a:r>
          <a:r>
            <a:rPr lang="en-US" noProof="0" dirty="0" smtClean="0">
              <a:solidFill>
                <a:schemeClr val="bg1"/>
              </a:solidFill>
              <a:effectLst>
                <a:glow rad="152400">
                  <a:schemeClr val="bg1">
                    <a:alpha val="19000"/>
                  </a:schemeClr>
                </a:glow>
              </a:effectLst>
            </a:rPr>
            <a:t>Stationarity Checks</a:t>
          </a:r>
          <a:endParaRPr lang="en-US" baseline="0" noProof="0" dirty="0">
            <a:solidFill>
              <a:schemeClr val="bg1"/>
            </a:solidFill>
            <a:effectLst>
              <a:glow rad="152400">
                <a:schemeClr val="bg1">
                  <a:alpha val="19000"/>
                </a:schemeClr>
              </a:glow>
            </a:effectLst>
          </a:endParaRPr>
        </a:p>
      </dgm:t>
    </dgm:pt>
    <dgm:pt modelId="{B1794400-1182-4C76-A615-51D2ACE05381}" type="parTrans" cxnId="{AFEAA30C-909D-4840-AA14-BE220740A939}">
      <dgm:prSet/>
      <dgm:spPr/>
      <dgm:t>
        <a:bodyPr/>
        <a:lstStyle/>
        <a:p>
          <a:endParaRPr lang="en-US"/>
        </a:p>
      </dgm:t>
    </dgm:pt>
    <dgm:pt modelId="{ADC39FD5-4EB3-40D6-A259-E7C3308F7890}" type="sibTrans" cxnId="{AFEAA30C-909D-4840-AA14-BE220740A939}">
      <dgm:prSet/>
      <dgm:spPr/>
      <dgm:t>
        <a:bodyPr/>
        <a:lstStyle/>
        <a:p>
          <a:endParaRPr lang="en-US"/>
        </a:p>
      </dgm:t>
    </dgm:pt>
    <dgm:pt modelId="{9318C4CA-EA07-4C5D-B1E6-E6A5A072981C}" type="pres">
      <dgm:prSet presAssocID="{E1B432F4-5FDB-4518-9272-2F3934AC6AA2}" presName="Name0" presStyleCnt="0">
        <dgm:presLayoutVars>
          <dgm:chMax val="7"/>
          <dgm:chPref val="7"/>
          <dgm:dir/>
          <dgm:animLvl val="lvl"/>
        </dgm:presLayoutVars>
      </dgm:prSet>
      <dgm:spPr/>
      <dgm:t>
        <a:bodyPr/>
        <a:lstStyle/>
        <a:p>
          <a:endParaRPr lang="en-US"/>
        </a:p>
      </dgm:t>
    </dgm:pt>
    <dgm:pt modelId="{DE438CD7-066A-4C72-8AC1-6D0FCDC6DB28}" type="pres">
      <dgm:prSet presAssocID="{14BC708E-A0A1-4102-88E4-E75128B4E51E}" presName="Accent1" presStyleCnt="0"/>
      <dgm:spPr/>
      <dgm:t>
        <a:bodyPr/>
        <a:lstStyle/>
        <a:p>
          <a:endParaRPr lang="en-US"/>
        </a:p>
      </dgm:t>
    </dgm:pt>
    <dgm:pt modelId="{64B68B3D-8404-44B9-95C4-F7A776F304BE}" type="pres">
      <dgm:prSet presAssocID="{14BC708E-A0A1-4102-88E4-E75128B4E51E}" presName="Accent" presStyleLbl="node1" presStyleIdx="0" presStyleCnt="4"/>
      <dgm:spPr/>
      <dgm:t>
        <a:bodyPr/>
        <a:lstStyle/>
        <a:p>
          <a:endParaRPr lang="en-US"/>
        </a:p>
      </dgm:t>
    </dgm:pt>
    <dgm:pt modelId="{01B3A34F-D698-4EE5-9239-6886053B3EBA}" type="pres">
      <dgm:prSet presAssocID="{14BC708E-A0A1-4102-88E4-E75128B4E51E}" presName="Parent1" presStyleLbl="revTx" presStyleIdx="0" presStyleCnt="4">
        <dgm:presLayoutVars>
          <dgm:chMax val="1"/>
          <dgm:chPref val="1"/>
          <dgm:bulletEnabled val="1"/>
        </dgm:presLayoutVars>
      </dgm:prSet>
      <dgm:spPr/>
      <dgm:t>
        <a:bodyPr/>
        <a:lstStyle/>
        <a:p>
          <a:endParaRPr lang="en-US"/>
        </a:p>
      </dgm:t>
    </dgm:pt>
    <dgm:pt modelId="{A736FFA4-0523-495C-BD2F-DCD9B93380A3}" type="pres">
      <dgm:prSet presAssocID="{A70ECA38-6EA6-48B3-94FE-95076AB66E8B}" presName="Accent2" presStyleCnt="0"/>
      <dgm:spPr/>
    </dgm:pt>
    <dgm:pt modelId="{35A02852-2EE0-4D84-A782-C40B41CF0B39}" type="pres">
      <dgm:prSet presAssocID="{A70ECA38-6EA6-48B3-94FE-95076AB66E8B}" presName="Accent" presStyleLbl="node1" presStyleIdx="1" presStyleCnt="4"/>
      <dgm:spPr/>
    </dgm:pt>
    <dgm:pt modelId="{66D723A5-2B1D-4478-AC77-B6593A21FE31}" type="pres">
      <dgm:prSet presAssocID="{A70ECA38-6EA6-48B3-94FE-95076AB66E8B}" presName="Parent2" presStyleLbl="revTx" presStyleIdx="1" presStyleCnt="4">
        <dgm:presLayoutVars>
          <dgm:chMax val="1"/>
          <dgm:chPref val="1"/>
          <dgm:bulletEnabled val="1"/>
        </dgm:presLayoutVars>
      </dgm:prSet>
      <dgm:spPr/>
      <dgm:t>
        <a:bodyPr/>
        <a:lstStyle/>
        <a:p>
          <a:endParaRPr lang="en-US"/>
        </a:p>
      </dgm:t>
    </dgm:pt>
    <dgm:pt modelId="{23080398-F0DB-4424-8DAC-1D33624EC88D}" type="pres">
      <dgm:prSet presAssocID="{7C75EDC4-9F86-4376-8C40-246EE793238B}" presName="Accent3" presStyleCnt="0"/>
      <dgm:spPr/>
      <dgm:t>
        <a:bodyPr/>
        <a:lstStyle/>
        <a:p>
          <a:endParaRPr lang="en-US"/>
        </a:p>
      </dgm:t>
    </dgm:pt>
    <dgm:pt modelId="{70A3EF43-4F65-4DEF-B8E9-44F7FDBCF808}" type="pres">
      <dgm:prSet presAssocID="{7C75EDC4-9F86-4376-8C40-246EE793238B}" presName="Accent" presStyleLbl="node1" presStyleIdx="2" presStyleCnt="4"/>
      <dgm:spPr/>
      <dgm:t>
        <a:bodyPr/>
        <a:lstStyle/>
        <a:p>
          <a:endParaRPr lang="en-US"/>
        </a:p>
      </dgm:t>
    </dgm:pt>
    <dgm:pt modelId="{49503193-8EBF-4670-8D4F-76E860707B50}" type="pres">
      <dgm:prSet presAssocID="{7C75EDC4-9F86-4376-8C40-246EE793238B}" presName="Parent3" presStyleLbl="revTx" presStyleIdx="2" presStyleCnt="4">
        <dgm:presLayoutVars>
          <dgm:chMax val="1"/>
          <dgm:chPref val="1"/>
          <dgm:bulletEnabled val="1"/>
        </dgm:presLayoutVars>
      </dgm:prSet>
      <dgm:spPr/>
      <dgm:t>
        <a:bodyPr/>
        <a:lstStyle/>
        <a:p>
          <a:endParaRPr lang="en-US"/>
        </a:p>
      </dgm:t>
    </dgm:pt>
    <dgm:pt modelId="{60A60809-76F5-46AB-B8D3-EB8299D6DDE3}" type="pres">
      <dgm:prSet presAssocID="{92104FBD-15A2-4F30-8665-A6E7679AD8C2}" presName="Accent4" presStyleCnt="0"/>
      <dgm:spPr/>
      <dgm:t>
        <a:bodyPr/>
        <a:lstStyle/>
        <a:p>
          <a:endParaRPr lang="en-US"/>
        </a:p>
      </dgm:t>
    </dgm:pt>
    <dgm:pt modelId="{89D8EFA1-E464-4C65-A604-0709829E984E}" type="pres">
      <dgm:prSet presAssocID="{92104FBD-15A2-4F30-8665-A6E7679AD8C2}" presName="Accent" presStyleLbl="node1" presStyleIdx="3" presStyleCnt="4"/>
      <dgm:spPr/>
      <dgm:t>
        <a:bodyPr/>
        <a:lstStyle/>
        <a:p>
          <a:endParaRPr lang="en-US"/>
        </a:p>
      </dgm:t>
    </dgm:pt>
    <dgm:pt modelId="{43CDD4A2-A690-40B6-8384-DA4761E08DDD}" type="pres">
      <dgm:prSet presAssocID="{92104FBD-15A2-4F30-8665-A6E7679AD8C2}" presName="Parent4" presStyleLbl="revTx" presStyleIdx="3" presStyleCnt="4" custScaleY="70820">
        <dgm:presLayoutVars>
          <dgm:chMax val="1"/>
          <dgm:chPref val="1"/>
          <dgm:bulletEnabled val="1"/>
        </dgm:presLayoutVars>
      </dgm:prSet>
      <dgm:spPr/>
      <dgm:t>
        <a:bodyPr/>
        <a:lstStyle/>
        <a:p>
          <a:endParaRPr lang="en-US"/>
        </a:p>
      </dgm:t>
    </dgm:pt>
  </dgm:ptLst>
  <dgm:cxnLst>
    <dgm:cxn modelId="{4FA1AE15-92AF-48A5-9990-67B64F442E97}" type="presOf" srcId="{A70ECA38-6EA6-48B3-94FE-95076AB66E8B}" destId="{66D723A5-2B1D-4478-AC77-B6593A21FE31}" srcOrd="0" destOrd="0" presId="urn:microsoft.com/office/officeart/2009/layout/CircleArrowProcess"/>
    <dgm:cxn modelId="{6AA40F20-245B-4B21-96B3-E29667A14605}" srcId="{E1B432F4-5FDB-4518-9272-2F3934AC6AA2}" destId="{92104FBD-15A2-4F30-8665-A6E7679AD8C2}" srcOrd="3" destOrd="0" parTransId="{67C67C15-0B70-4AFC-95E2-24CB85DD8A09}" sibTransId="{F96D0321-B1F4-4193-81B0-D8106210C5EB}"/>
    <dgm:cxn modelId="{EB9839C5-F324-41C4-8950-5284E09FB71E}" srcId="{E1B432F4-5FDB-4518-9272-2F3934AC6AA2}" destId="{14BC708E-A0A1-4102-88E4-E75128B4E51E}" srcOrd="0" destOrd="0" parTransId="{CF221EFF-354A-47A9-A498-1F0BBF01ECB8}" sibTransId="{7519C821-85FB-4CA3-BEB5-E4BFBC529B83}"/>
    <dgm:cxn modelId="{D7D84D72-2763-4840-AAB0-C1DCA73F2648}" type="presOf" srcId="{7C75EDC4-9F86-4376-8C40-246EE793238B}" destId="{49503193-8EBF-4670-8D4F-76E860707B50}" srcOrd="0" destOrd="0" presId="urn:microsoft.com/office/officeart/2009/layout/CircleArrowProcess"/>
    <dgm:cxn modelId="{C2F0B2BC-E646-4677-B194-849513D06755}" srcId="{E1B432F4-5FDB-4518-9272-2F3934AC6AA2}" destId="{7C75EDC4-9F86-4376-8C40-246EE793238B}" srcOrd="2" destOrd="0" parTransId="{309C4E58-8ACA-4E80-A222-77E79CDDDFAD}" sibTransId="{5DA9AF58-F092-491E-8D9B-49EF5E5A3AB0}"/>
    <dgm:cxn modelId="{E365C03F-B571-4781-A7B5-43D2EA9069E3}" type="presOf" srcId="{92104FBD-15A2-4F30-8665-A6E7679AD8C2}" destId="{43CDD4A2-A690-40B6-8384-DA4761E08DDD}" srcOrd="0" destOrd="0" presId="urn:microsoft.com/office/officeart/2009/layout/CircleArrowProcess"/>
    <dgm:cxn modelId="{AFEAA30C-909D-4840-AA14-BE220740A939}" srcId="{E1B432F4-5FDB-4518-9272-2F3934AC6AA2}" destId="{A70ECA38-6EA6-48B3-94FE-95076AB66E8B}" srcOrd="1" destOrd="0" parTransId="{B1794400-1182-4C76-A615-51D2ACE05381}" sibTransId="{ADC39FD5-4EB3-40D6-A259-E7C3308F7890}"/>
    <dgm:cxn modelId="{7C05A906-AAA8-49D1-ABE1-A505B7E7570A}" type="presOf" srcId="{14BC708E-A0A1-4102-88E4-E75128B4E51E}" destId="{01B3A34F-D698-4EE5-9239-6886053B3EBA}" srcOrd="0" destOrd="0" presId="urn:microsoft.com/office/officeart/2009/layout/CircleArrowProcess"/>
    <dgm:cxn modelId="{5F66C086-984B-415F-8530-C762694191BB}" type="presOf" srcId="{E1B432F4-5FDB-4518-9272-2F3934AC6AA2}" destId="{9318C4CA-EA07-4C5D-B1E6-E6A5A072981C}" srcOrd="0" destOrd="0" presId="urn:microsoft.com/office/officeart/2009/layout/CircleArrowProcess"/>
    <dgm:cxn modelId="{670D2ED7-F694-471F-AD76-86FE3DD4B4DA}" type="presParOf" srcId="{9318C4CA-EA07-4C5D-B1E6-E6A5A072981C}" destId="{DE438CD7-066A-4C72-8AC1-6D0FCDC6DB28}" srcOrd="0" destOrd="0" presId="urn:microsoft.com/office/officeart/2009/layout/CircleArrowProcess"/>
    <dgm:cxn modelId="{4AA54A08-2DEB-4DD1-A1EF-6A28CB4A9C9C}" type="presParOf" srcId="{DE438CD7-066A-4C72-8AC1-6D0FCDC6DB28}" destId="{64B68B3D-8404-44B9-95C4-F7A776F304BE}" srcOrd="0" destOrd="0" presId="urn:microsoft.com/office/officeart/2009/layout/CircleArrowProcess"/>
    <dgm:cxn modelId="{0EC0273A-625B-446A-B7A8-0E5218C387D4}" type="presParOf" srcId="{9318C4CA-EA07-4C5D-B1E6-E6A5A072981C}" destId="{01B3A34F-D698-4EE5-9239-6886053B3EBA}" srcOrd="1" destOrd="0" presId="urn:microsoft.com/office/officeart/2009/layout/CircleArrowProcess"/>
    <dgm:cxn modelId="{C2A8886B-B9BC-40DC-A90A-F18F8B37604B}" type="presParOf" srcId="{9318C4CA-EA07-4C5D-B1E6-E6A5A072981C}" destId="{A736FFA4-0523-495C-BD2F-DCD9B93380A3}" srcOrd="2" destOrd="0" presId="urn:microsoft.com/office/officeart/2009/layout/CircleArrowProcess"/>
    <dgm:cxn modelId="{EEDE239C-BD19-44AF-8B89-87EC942D38F3}" type="presParOf" srcId="{A736FFA4-0523-495C-BD2F-DCD9B93380A3}" destId="{35A02852-2EE0-4D84-A782-C40B41CF0B39}" srcOrd="0" destOrd="0" presId="urn:microsoft.com/office/officeart/2009/layout/CircleArrowProcess"/>
    <dgm:cxn modelId="{5E3409E9-645E-4EFB-A2AB-8E0A01BA63A6}" type="presParOf" srcId="{9318C4CA-EA07-4C5D-B1E6-E6A5A072981C}" destId="{66D723A5-2B1D-4478-AC77-B6593A21FE31}" srcOrd="3" destOrd="0" presId="urn:microsoft.com/office/officeart/2009/layout/CircleArrowProcess"/>
    <dgm:cxn modelId="{08836732-535E-4EBC-80B7-88806AE10526}" type="presParOf" srcId="{9318C4CA-EA07-4C5D-B1E6-E6A5A072981C}" destId="{23080398-F0DB-4424-8DAC-1D33624EC88D}" srcOrd="4" destOrd="0" presId="urn:microsoft.com/office/officeart/2009/layout/CircleArrowProcess"/>
    <dgm:cxn modelId="{D6A65390-8C20-4080-A042-671723A7A590}" type="presParOf" srcId="{23080398-F0DB-4424-8DAC-1D33624EC88D}" destId="{70A3EF43-4F65-4DEF-B8E9-44F7FDBCF808}" srcOrd="0" destOrd="0" presId="urn:microsoft.com/office/officeart/2009/layout/CircleArrowProcess"/>
    <dgm:cxn modelId="{4A4D7EE6-B30B-441D-8DBE-21D07AB7992C}" type="presParOf" srcId="{9318C4CA-EA07-4C5D-B1E6-E6A5A072981C}" destId="{49503193-8EBF-4670-8D4F-76E860707B50}" srcOrd="5" destOrd="0" presId="urn:microsoft.com/office/officeart/2009/layout/CircleArrowProcess"/>
    <dgm:cxn modelId="{FFBBDB61-00DA-4E5A-8CF5-680D2122FE7E}" type="presParOf" srcId="{9318C4CA-EA07-4C5D-B1E6-E6A5A072981C}" destId="{60A60809-76F5-46AB-B8D3-EB8299D6DDE3}" srcOrd="6" destOrd="0" presId="urn:microsoft.com/office/officeart/2009/layout/CircleArrowProcess"/>
    <dgm:cxn modelId="{61316B7D-B849-4B13-AFAA-26B81105E4E0}" type="presParOf" srcId="{60A60809-76F5-46AB-B8D3-EB8299D6DDE3}" destId="{89D8EFA1-E464-4C65-A604-0709829E984E}" srcOrd="0" destOrd="0" presId="urn:microsoft.com/office/officeart/2009/layout/CircleArrowProcess"/>
    <dgm:cxn modelId="{D38E329A-2E00-47F8-AB11-EE1213AACAAB}" type="presParOf" srcId="{9318C4CA-EA07-4C5D-B1E6-E6A5A072981C}" destId="{43CDD4A2-A690-40B6-8384-DA4761E08DDD}" srcOrd="7"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B432F4-5FDB-4518-9272-2F3934AC6AA2}" type="doc">
      <dgm:prSet loTypeId="urn:microsoft.com/office/officeart/2005/8/layout/vList6" loCatId="process" qsTypeId="urn:microsoft.com/office/officeart/2005/8/quickstyle/simple1" qsCatId="simple" csTypeId="urn:microsoft.com/office/officeart/2005/8/colors/colorful1" csCatId="colorful" phldr="1"/>
      <dgm:spPr/>
      <dgm:t>
        <a:bodyPr/>
        <a:lstStyle/>
        <a:p>
          <a:endParaRPr lang="en-US"/>
        </a:p>
      </dgm:t>
    </dgm:pt>
    <dgm:pt modelId="{14BC708E-A0A1-4102-88E4-E75128B4E51E}">
      <dgm:prSet/>
      <dgm:spPr/>
      <dgm:t>
        <a:bodyPr/>
        <a:lstStyle/>
        <a:p>
          <a:pPr>
            <a:lnSpc>
              <a:spcPct val="100000"/>
            </a:lnSpc>
          </a:pPr>
          <a:r>
            <a:rPr lang="en-US" baseline="0" noProof="0" dirty="0" smtClean="0">
              <a:effectLst>
                <a:glow rad="152400">
                  <a:schemeClr val="bg1">
                    <a:alpha val="19000"/>
                  </a:schemeClr>
                </a:glow>
              </a:effectLst>
            </a:rPr>
            <a:t>Data Load</a:t>
          </a:r>
          <a:endParaRPr lang="en-US" baseline="0" noProof="0" dirty="0">
            <a:effectLst>
              <a:glow rad="152400">
                <a:schemeClr val="bg1">
                  <a:alpha val="19000"/>
                </a:schemeClr>
              </a:glow>
            </a:effectLst>
          </a:endParaRPr>
        </a:p>
      </dgm:t>
    </dgm:pt>
    <dgm:pt modelId="{CF221EFF-354A-47A9-A498-1F0BBF01ECB8}" type="par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519C821-85FB-4CA3-BEB5-E4BFBC529B83}" type="sib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AA31514B-CD35-4CDB-A05D-1E65678AD7F7}">
      <dgm:prSet/>
      <dgm:spPr/>
      <dgm:t>
        <a:bodyPr/>
        <a:lstStyle/>
        <a:p>
          <a:pPr>
            <a:lnSpc>
              <a:spcPct val="100000"/>
            </a:lnSpc>
          </a:pPr>
          <a:r>
            <a:rPr lang="en-US" noProof="0" smtClean="0">
              <a:effectLst>
                <a:glow rad="152400">
                  <a:schemeClr val="bg1">
                    <a:alpha val="19000"/>
                  </a:schemeClr>
                </a:glow>
              </a:effectLst>
            </a:rPr>
            <a:t>Filter Data for Model</a:t>
          </a:r>
          <a:endParaRPr lang="en-US" noProof="0" dirty="0">
            <a:effectLst>
              <a:glow rad="152400">
                <a:schemeClr val="bg1">
                  <a:alpha val="19000"/>
                </a:schemeClr>
              </a:glow>
            </a:effectLst>
          </a:endParaRPr>
        </a:p>
      </dgm:t>
    </dgm:pt>
    <dgm:pt modelId="{532DC7DC-E661-41F5-AFB6-D27AE60D4E51}" type="parTrans" cxnId="{F15DCD4D-62E6-42B0-B010-62857DB3CC22}">
      <dgm:prSet/>
      <dgm:spPr/>
      <dgm:t>
        <a:bodyPr/>
        <a:lstStyle/>
        <a:p>
          <a:endParaRPr lang="en-US"/>
        </a:p>
      </dgm:t>
    </dgm:pt>
    <dgm:pt modelId="{D7E2E353-1A5C-448E-9F5B-81963C560F35}" type="sibTrans" cxnId="{F15DCD4D-62E6-42B0-B010-62857DB3CC22}">
      <dgm:prSet/>
      <dgm:spPr/>
      <dgm:t>
        <a:bodyPr/>
        <a:lstStyle/>
        <a:p>
          <a:endParaRPr lang="en-US"/>
        </a:p>
      </dgm:t>
    </dgm:pt>
    <dgm:pt modelId="{C9BE96F2-EC7B-4F89-B031-45A2C4984165}">
      <dgm:prSet/>
      <dgm:spPr/>
      <dgm:t>
        <a:bodyPr/>
        <a:lstStyle/>
        <a:p>
          <a:r>
            <a:rPr lang="en-US" dirty="0" smtClean="0"/>
            <a:t>Download Data from </a:t>
          </a:r>
          <a:r>
            <a:rPr lang="en-US" dirty="0" err="1" smtClean="0"/>
            <a:t>Kaggle</a:t>
          </a:r>
          <a:endParaRPr lang="en-US" dirty="0"/>
        </a:p>
      </dgm:t>
    </dgm:pt>
    <dgm:pt modelId="{240005DE-1BF6-4FEB-8D2F-9998F9FACC19}" type="parTrans" cxnId="{AC33BDB0-D33D-464B-86A4-3AEBD9DBDFA9}">
      <dgm:prSet/>
      <dgm:spPr/>
      <dgm:t>
        <a:bodyPr/>
        <a:lstStyle/>
        <a:p>
          <a:endParaRPr lang="en-US"/>
        </a:p>
      </dgm:t>
    </dgm:pt>
    <dgm:pt modelId="{521B0BB9-35EB-4368-999D-6C2DF6CB6EDA}" type="sibTrans" cxnId="{AC33BDB0-D33D-464B-86A4-3AEBD9DBDFA9}">
      <dgm:prSet/>
      <dgm:spPr/>
      <dgm:t>
        <a:bodyPr/>
        <a:lstStyle/>
        <a:p>
          <a:endParaRPr lang="en-US"/>
        </a:p>
      </dgm:t>
    </dgm:pt>
    <dgm:pt modelId="{EC8D3D51-67C2-4520-8E67-0B4DFFA2476A}">
      <dgm:prSet/>
      <dgm:spPr/>
      <dgm:t>
        <a:bodyPr/>
        <a:lstStyle/>
        <a:p>
          <a:r>
            <a:rPr lang="en-US" dirty="0" smtClean="0"/>
            <a:t>Load Data into Pandas data frame</a:t>
          </a:r>
          <a:endParaRPr lang="en-US" dirty="0"/>
        </a:p>
      </dgm:t>
    </dgm:pt>
    <dgm:pt modelId="{F81BEA41-744C-417F-922B-0641ABA30E9A}" type="parTrans" cxnId="{048156DB-4822-4DB2-ADF3-07BB7E78431D}">
      <dgm:prSet/>
      <dgm:spPr/>
      <dgm:t>
        <a:bodyPr/>
        <a:lstStyle/>
        <a:p>
          <a:endParaRPr lang="en-US"/>
        </a:p>
      </dgm:t>
    </dgm:pt>
    <dgm:pt modelId="{7159371F-6609-4B7A-806C-A1F05E993597}" type="sibTrans" cxnId="{048156DB-4822-4DB2-ADF3-07BB7E78431D}">
      <dgm:prSet/>
      <dgm:spPr/>
      <dgm:t>
        <a:bodyPr/>
        <a:lstStyle/>
        <a:p>
          <a:endParaRPr lang="en-US"/>
        </a:p>
      </dgm:t>
    </dgm:pt>
    <dgm:pt modelId="{6D633D89-5B63-4F6F-90FE-30EFC12DCF91}">
      <dgm:prSet/>
      <dgm:spPr/>
      <dgm:t>
        <a:bodyPr/>
        <a:lstStyle/>
        <a:p>
          <a:r>
            <a:rPr lang="en-US" dirty="0" smtClean="0"/>
            <a:t>Explore Data</a:t>
          </a:r>
          <a:endParaRPr lang="en-US" dirty="0"/>
        </a:p>
      </dgm:t>
    </dgm:pt>
    <dgm:pt modelId="{40128A2A-63C8-40AE-957F-0D6D96393DD3}" type="parTrans" cxnId="{DE4C5395-4A71-459D-9828-494CE5E1EC99}">
      <dgm:prSet/>
      <dgm:spPr/>
      <dgm:t>
        <a:bodyPr/>
        <a:lstStyle/>
        <a:p>
          <a:endParaRPr lang="en-US"/>
        </a:p>
      </dgm:t>
    </dgm:pt>
    <dgm:pt modelId="{F905ED66-B050-4A04-9657-92B2BE1BEDB5}" type="sibTrans" cxnId="{DE4C5395-4A71-459D-9828-494CE5E1EC99}">
      <dgm:prSet/>
      <dgm:spPr/>
      <dgm:t>
        <a:bodyPr/>
        <a:lstStyle/>
        <a:p>
          <a:endParaRPr lang="en-US"/>
        </a:p>
      </dgm:t>
    </dgm:pt>
    <dgm:pt modelId="{AFBCE549-A923-475B-9AD0-1C7866149CF5}">
      <dgm:prSet/>
      <dgm:spPr/>
      <dgm:t>
        <a:bodyPr/>
        <a:lstStyle/>
        <a:p>
          <a:r>
            <a:rPr lang="en-US" dirty="0" smtClean="0"/>
            <a:t>Columns include Date, Close, High, Low, Open &amp; Volume</a:t>
          </a:r>
          <a:endParaRPr lang="en-US" dirty="0"/>
        </a:p>
      </dgm:t>
    </dgm:pt>
    <dgm:pt modelId="{46E67485-ED34-4BBB-9E72-8ED582EC5A7E}" type="parTrans" cxnId="{F97BBF22-3A01-4814-BCC8-D12AE5CD586A}">
      <dgm:prSet/>
      <dgm:spPr/>
      <dgm:t>
        <a:bodyPr/>
        <a:lstStyle/>
        <a:p>
          <a:endParaRPr lang="en-US"/>
        </a:p>
      </dgm:t>
    </dgm:pt>
    <dgm:pt modelId="{DBD97732-0782-4D2E-8970-758AEA9DAE54}" type="sibTrans" cxnId="{F97BBF22-3A01-4814-BCC8-D12AE5CD586A}">
      <dgm:prSet/>
      <dgm:spPr/>
      <dgm:t>
        <a:bodyPr/>
        <a:lstStyle/>
        <a:p>
          <a:endParaRPr lang="en-US"/>
        </a:p>
      </dgm:t>
    </dgm:pt>
    <dgm:pt modelId="{076629AA-E219-4586-A8B7-BE8EB2725319}">
      <dgm:prSet/>
      <dgm:spPr/>
      <dgm:t>
        <a:bodyPr/>
        <a:lstStyle/>
        <a:p>
          <a:r>
            <a:rPr lang="en-US" dirty="0" smtClean="0"/>
            <a:t>March 26</a:t>
          </a:r>
          <a:r>
            <a:rPr lang="en-US" baseline="30000" dirty="0" smtClean="0"/>
            <a:t>th</a:t>
          </a:r>
          <a:r>
            <a:rPr lang="en-US" dirty="0" smtClean="0"/>
            <a:t> 1986 to April 20</a:t>
          </a:r>
          <a:r>
            <a:rPr lang="en-US" baseline="30000" dirty="0" smtClean="0"/>
            <a:t>th</a:t>
          </a:r>
          <a:r>
            <a:rPr lang="en-US" dirty="0" smtClean="0"/>
            <a:t> 2026</a:t>
          </a:r>
          <a:endParaRPr lang="en-US" dirty="0"/>
        </a:p>
      </dgm:t>
    </dgm:pt>
    <dgm:pt modelId="{6D47213D-0FA2-4258-9D11-C7E467828AF9}" type="parTrans" cxnId="{DF0A1973-17C9-4D97-9F74-6777D78D143C}">
      <dgm:prSet/>
      <dgm:spPr/>
      <dgm:t>
        <a:bodyPr/>
        <a:lstStyle/>
        <a:p>
          <a:endParaRPr lang="en-US"/>
        </a:p>
      </dgm:t>
    </dgm:pt>
    <dgm:pt modelId="{BC1578BA-614A-415D-9BB8-317AF0DFB214}" type="sibTrans" cxnId="{DF0A1973-17C9-4D97-9F74-6777D78D143C}">
      <dgm:prSet/>
      <dgm:spPr/>
      <dgm:t>
        <a:bodyPr/>
        <a:lstStyle/>
        <a:p>
          <a:endParaRPr lang="en-US"/>
        </a:p>
      </dgm:t>
    </dgm:pt>
    <dgm:pt modelId="{7F66E49B-76A5-4E58-86C7-DF269FD240FE}">
      <dgm:prSet/>
      <dgm:spPr/>
      <dgm:t>
        <a:bodyPr/>
        <a:lstStyle/>
        <a:p>
          <a:r>
            <a:rPr lang="en-US" dirty="0" smtClean="0"/>
            <a:t>10,094 rows</a:t>
          </a:r>
          <a:endParaRPr lang="en-US" dirty="0"/>
        </a:p>
      </dgm:t>
    </dgm:pt>
    <dgm:pt modelId="{CE1DB387-29EB-41E2-9A69-D9266999D791}" type="parTrans" cxnId="{66B5A46F-D2EE-4563-B734-7E72FAE446B1}">
      <dgm:prSet/>
      <dgm:spPr/>
      <dgm:t>
        <a:bodyPr/>
        <a:lstStyle/>
        <a:p>
          <a:endParaRPr lang="en-US"/>
        </a:p>
      </dgm:t>
    </dgm:pt>
    <dgm:pt modelId="{1A9EB837-0FFA-40B1-9FD8-94B478A6E92C}" type="sibTrans" cxnId="{66B5A46F-D2EE-4563-B734-7E72FAE446B1}">
      <dgm:prSet/>
      <dgm:spPr/>
      <dgm:t>
        <a:bodyPr/>
        <a:lstStyle/>
        <a:p>
          <a:endParaRPr lang="en-US"/>
        </a:p>
      </dgm:t>
    </dgm:pt>
    <dgm:pt modelId="{D2618B82-D9DE-43EA-931F-4F6CEB49154C}">
      <dgm:prSet/>
      <dgm:spPr/>
      <dgm:t>
        <a:bodyPr/>
        <a:lstStyle/>
        <a:p>
          <a:r>
            <a:rPr lang="en-US" dirty="0" smtClean="0"/>
            <a:t>10 years of data(January 1</a:t>
          </a:r>
          <a:r>
            <a:rPr lang="en-US" baseline="30000" dirty="0" smtClean="0"/>
            <a:t>st</a:t>
          </a:r>
          <a:r>
            <a:rPr lang="en-US" dirty="0" smtClean="0"/>
            <a:t> 2016 to April 20</a:t>
          </a:r>
          <a:r>
            <a:rPr lang="en-US" baseline="30000" dirty="0" smtClean="0"/>
            <a:t>th</a:t>
          </a:r>
          <a:r>
            <a:rPr lang="en-US" dirty="0" smtClean="0"/>
            <a:t> 2026)</a:t>
          </a:r>
          <a:endParaRPr lang="en-US" dirty="0"/>
        </a:p>
      </dgm:t>
    </dgm:pt>
    <dgm:pt modelId="{3B263A22-AA91-4FF5-917C-756601236540}" type="parTrans" cxnId="{B2BA2FC7-6EED-4202-BCA7-DFD9959A93F6}">
      <dgm:prSet/>
      <dgm:spPr/>
      <dgm:t>
        <a:bodyPr/>
        <a:lstStyle/>
        <a:p>
          <a:endParaRPr lang="en-US"/>
        </a:p>
      </dgm:t>
    </dgm:pt>
    <dgm:pt modelId="{4855EE3D-45C4-4C6A-BE0B-4E0340E0B5A2}" type="sibTrans" cxnId="{B2BA2FC7-6EED-4202-BCA7-DFD9959A93F6}">
      <dgm:prSet/>
      <dgm:spPr/>
      <dgm:t>
        <a:bodyPr/>
        <a:lstStyle/>
        <a:p>
          <a:endParaRPr lang="en-US"/>
        </a:p>
      </dgm:t>
    </dgm:pt>
    <dgm:pt modelId="{2D0FECD0-BFE2-49A4-88C1-26A07EF938B1}">
      <dgm:prSet/>
      <dgm:spPr/>
      <dgm:t>
        <a:bodyPr/>
        <a:lstStyle/>
        <a:p>
          <a:r>
            <a:rPr lang="en-US" dirty="0" smtClean="0"/>
            <a:t>Date and Close columns</a:t>
          </a:r>
          <a:endParaRPr lang="en-US" dirty="0"/>
        </a:p>
      </dgm:t>
    </dgm:pt>
    <dgm:pt modelId="{7D860C4E-578A-46B3-824B-D50A749E0BAA}" type="parTrans" cxnId="{E6CBEE8C-F2C5-43FE-83B9-ACB42680A269}">
      <dgm:prSet/>
      <dgm:spPr/>
      <dgm:t>
        <a:bodyPr/>
        <a:lstStyle/>
        <a:p>
          <a:endParaRPr lang="en-US"/>
        </a:p>
      </dgm:t>
    </dgm:pt>
    <dgm:pt modelId="{62A4A052-E253-41E8-A979-451BE92A55D4}" type="sibTrans" cxnId="{E6CBEE8C-F2C5-43FE-83B9-ACB42680A269}">
      <dgm:prSet/>
      <dgm:spPr/>
      <dgm:t>
        <a:bodyPr/>
        <a:lstStyle/>
        <a:p>
          <a:endParaRPr lang="en-US"/>
        </a:p>
      </dgm:t>
    </dgm:pt>
    <dgm:pt modelId="{1788C980-B6C6-45AE-A98B-B8A40277763D}">
      <dgm:prSet/>
      <dgm:spPr/>
      <dgm:t>
        <a:bodyPr/>
        <a:lstStyle/>
        <a:p>
          <a:r>
            <a:rPr lang="en-US" dirty="0" smtClean="0"/>
            <a:t>Export new data frame</a:t>
          </a:r>
          <a:endParaRPr lang="en-US" dirty="0"/>
        </a:p>
      </dgm:t>
    </dgm:pt>
    <dgm:pt modelId="{D38E94F6-7D50-448F-BFA0-FBDA9B452900}" type="parTrans" cxnId="{EA6902D1-923E-4444-9438-95AB913DBDD4}">
      <dgm:prSet/>
      <dgm:spPr/>
      <dgm:t>
        <a:bodyPr/>
        <a:lstStyle/>
        <a:p>
          <a:endParaRPr lang="en-US"/>
        </a:p>
      </dgm:t>
    </dgm:pt>
    <dgm:pt modelId="{7A9ADD8F-796B-446B-98D9-BBDBB0FDD721}" type="sibTrans" cxnId="{EA6902D1-923E-4444-9438-95AB913DBDD4}">
      <dgm:prSet/>
      <dgm:spPr/>
      <dgm:t>
        <a:bodyPr/>
        <a:lstStyle/>
        <a:p>
          <a:endParaRPr lang="en-US"/>
        </a:p>
      </dgm:t>
    </dgm:pt>
    <dgm:pt modelId="{63A6D987-853D-4373-8687-75ED3BE54B87}" type="pres">
      <dgm:prSet presAssocID="{E1B432F4-5FDB-4518-9272-2F3934AC6AA2}" presName="Name0" presStyleCnt="0">
        <dgm:presLayoutVars>
          <dgm:dir/>
          <dgm:animLvl val="lvl"/>
          <dgm:resizeHandles/>
        </dgm:presLayoutVars>
      </dgm:prSet>
      <dgm:spPr/>
      <dgm:t>
        <a:bodyPr/>
        <a:lstStyle/>
        <a:p>
          <a:endParaRPr lang="en-US"/>
        </a:p>
      </dgm:t>
    </dgm:pt>
    <dgm:pt modelId="{E475570E-A09F-4850-AAE3-02F24EEC0E0B}" type="pres">
      <dgm:prSet presAssocID="{14BC708E-A0A1-4102-88E4-E75128B4E51E}" presName="linNode" presStyleCnt="0"/>
      <dgm:spPr/>
      <dgm:t>
        <a:bodyPr/>
        <a:lstStyle/>
        <a:p>
          <a:endParaRPr lang="en-US"/>
        </a:p>
      </dgm:t>
    </dgm:pt>
    <dgm:pt modelId="{1B587A05-1FEB-4B0F-A382-C13250B134E6}" type="pres">
      <dgm:prSet presAssocID="{14BC708E-A0A1-4102-88E4-E75128B4E51E}" presName="parentShp" presStyleLbl="node1" presStyleIdx="0" presStyleCnt="3">
        <dgm:presLayoutVars>
          <dgm:bulletEnabled val="1"/>
        </dgm:presLayoutVars>
      </dgm:prSet>
      <dgm:spPr/>
      <dgm:t>
        <a:bodyPr/>
        <a:lstStyle/>
        <a:p>
          <a:endParaRPr lang="en-US"/>
        </a:p>
      </dgm:t>
    </dgm:pt>
    <dgm:pt modelId="{1117DF5E-4B76-4F9E-8A49-E335E2D784AB}" type="pres">
      <dgm:prSet presAssocID="{14BC708E-A0A1-4102-88E4-E75128B4E51E}" presName="childShp" presStyleLbl="bgAccFollowNode1" presStyleIdx="0" presStyleCnt="3">
        <dgm:presLayoutVars>
          <dgm:bulletEnabled val="1"/>
        </dgm:presLayoutVars>
      </dgm:prSet>
      <dgm:spPr/>
      <dgm:t>
        <a:bodyPr/>
        <a:lstStyle/>
        <a:p>
          <a:endParaRPr lang="en-US"/>
        </a:p>
      </dgm:t>
    </dgm:pt>
    <dgm:pt modelId="{66358751-730A-4F89-BA33-91E2CB6EE59E}" type="pres">
      <dgm:prSet presAssocID="{7519C821-85FB-4CA3-BEB5-E4BFBC529B83}" presName="spacing" presStyleCnt="0"/>
      <dgm:spPr/>
      <dgm:t>
        <a:bodyPr/>
        <a:lstStyle/>
        <a:p>
          <a:endParaRPr lang="en-US"/>
        </a:p>
      </dgm:t>
    </dgm:pt>
    <dgm:pt modelId="{5FEA8736-A136-471B-9A2E-6AC92521C287}" type="pres">
      <dgm:prSet presAssocID="{6D633D89-5B63-4F6F-90FE-30EFC12DCF91}" presName="linNode" presStyleCnt="0"/>
      <dgm:spPr/>
      <dgm:t>
        <a:bodyPr/>
        <a:lstStyle/>
        <a:p>
          <a:endParaRPr lang="en-US"/>
        </a:p>
      </dgm:t>
    </dgm:pt>
    <dgm:pt modelId="{E61029D7-0814-40FF-BCED-1FD89806C3E3}" type="pres">
      <dgm:prSet presAssocID="{6D633D89-5B63-4F6F-90FE-30EFC12DCF91}" presName="parentShp" presStyleLbl="node1" presStyleIdx="1" presStyleCnt="3">
        <dgm:presLayoutVars>
          <dgm:bulletEnabled val="1"/>
        </dgm:presLayoutVars>
      </dgm:prSet>
      <dgm:spPr/>
      <dgm:t>
        <a:bodyPr/>
        <a:lstStyle/>
        <a:p>
          <a:endParaRPr lang="en-US"/>
        </a:p>
      </dgm:t>
    </dgm:pt>
    <dgm:pt modelId="{07ED2FC7-02EE-4370-B829-5B53C742BDE1}" type="pres">
      <dgm:prSet presAssocID="{6D633D89-5B63-4F6F-90FE-30EFC12DCF91}" presName="childShp" presStyleLbl="bgAccFollowNode1" presStyleIdx="1" presStyleCnt="3">
        <dgm:presLayoutVars>
          <dgm:bulletEnabled val="1"/>
        </dgm:presLayoutVars>
      </dgm:prSet>
      <dgm:spPr/>
      <dgm:t>
        <a:bodyPr/>
        <a:lstStyle/>
        <a:p>
          <a:endParaRPr lang="en-US"/>
        </a:p>
      </dgm:t>
    </dgm:pt>
    <dgm:pt modelId="{C8CA563A-2616-4241-BA47-294E4E17E0A2}" type="pres">
      <dgm:prSet presAssocID="{F905ED66-B050-4A04-9657-92B2BE1BEDB5}" presName="spacing" presStyleCnt="0"/>
      <dgm:spPr/>
      <dgm:t>
        <a:bodyPr/>
        <a:lstStyle/>
        <a:p>
          <a:endParaRPr lang="en-US"/>
        </a:p>
      </dgm:t>
    </dgm:pt>
    <dgm:pt modelId="{1991E07C-A166-4F31-890C-7A8C3491C9DE}" type="pres">
      <dgm:prSet presAssocID="{AA31514B-CD35-4CDB-A05D-1E65678AD7F7}" presName="linNode" presStyleCnt="0"/>
      <dgm:spPr/>
      <dgm:t>
        <a:bodyPr/>
        <a:lstStyle/>
        <a:p>
          <a:endParaRPr lang="en-US"/>
        </a:p>
      </dgm:t>
    </dgm:pt>
    <dgm:pt modelId="{B56F6FA1-4762-428C-91C2-291B1793313E}" type="pres">
      <dgm:prSet presAssocID="{AA31514B-CD35-4CDB-A05D-1E65678AD7F7}" presName="parentShp" presStyleLbl="node1" presStyleIdx="2" presStyleCnt="3">
        <dgm:presLayoutVars>
          <dgm:bulletEnabled val="1"/>
        </dgm:presLayoutVars>
      </dgm:prSet>
      <dgm:spPr/>
      <dgm:t>
        <a:bodyPr/>
        <a:lstStyle/>
        <a:p>
          <a:endParaRPr lang="en-US"/>
        </a:p>
      </dgm:t>
    </dgm:pt>
    <dgm:pt modelId="{512A6BFB-923A-43A1-819B-1679AB2EE5B7}" type="pres">
      <dgm:prSet presAssocID="{AA31514B-CD35-4CDB-A05D-1E65678AD7F7}" presName="childShp" presStyleLbl="bgAccFollowNode1" presStyleIdx="2" presStyleCnt="3">
        <dgm:presLayoutVars>
          <dgm:bulletEnabled val="1"/>
        </dgm:presLayoutVars>
      </dgm:prSet>
      <dgm:spPr/>
      <dgm:t>
        <a:bodyPr/>
        <a:lstStyle/>
        <a:p>
          <a:endParaRPr lang="en-US"/>
        </a:p>
      </dgm:t>
    </dgm:pt>
  </dgm:ptLst>
  <dgm:cxnLst>
    <dgm:cxn modelId="{7EC2EF05-4EEF-4304-8778-D2B0A74886BE}" type="presOf" srcId="{1788C980-B6C6-45AE-A98B-B8A40277763D}" destId="{512A6BFB-923A-43A1-819B-1679AB2EE5B7}" srcOrd="0" destOrd="2" presId="urn:microsoft.com/office/officeart/2005/8/layout/vList6"/>
    <dgm:cxn modelId="{E6CBEE8C-F2C5-43FE-83B9-ACB42680A269}" srcId="{AA31514B-CD35-4CDB-A05D-1E65678AD7F7}" destId="{2D0FECD0-BFE2-49A4-88C1-26A07EF938B1}" srcOrd="1" destOrd="0" parTransId="{7D860C4E-578A-46B3-824B-D50A749E0BAA}" sibTransId="{62A4A052-E253-41E8-A979-451BE92A55D4}"/>
    <dgm:cxn modelId="{CC988BA0-5DBC-4ED9-892A-C687D88DD592}" type="presOf" srcId="{E1B432F4-5FDB-4518-9272-2F3934AC6AA2}" destId="{63A6D987-853D-4373-8687-75ED3BE54B87}" srcOrd="0" destOrd="0" presId="urn:microsoft.com/office/officeart/2005/8/layout/vList6"/>
    <dgm:cxn modelId="{EB9839C5-F324-41C4-8950-5284E09FB71E}" srcId="{E1B432F4-5FDB-4518-9272-2F3934AC6AA2}" destId="{14BC708E-A0A1-4102-88E4-E75128B4E51E}" srcOrd="0" destOrd="0" parTransId="{CF221EFF-354A-47A9-A498-1F0BBF01ECB8}" sibTransId="{7519C821-85FB-4CA3-BEB5-E4BFBC529B83}"/>
    <dgm:cxn modelId="{F15DCD4D-62E6-42B0-B010-62857DB3CC22}" srcId="{E1B432F4-5FDB-4518-9272-2F3934AC6AA2}" destId="{AA31514B-CD35-4CDB-A05D-1E65678AD7F7}" srcOrd="2" destOrd="0" parTransId="{532DC7DC-E661-41F5-AFB6-D27AE60D4E51}" sibTransId="{D7E2E353-1A5C-448E-9F5B-81963C560F35}"/>
    <dgm:cxn modelId="{EA6902D1-923E-4444-9438-95AB913DBDD4}" srcId="{AA31514B-CD35-4CDB-A05D-1E65678AD7F7}" destId="{1788C980-B6C6-45AE-A98B-B8A40277763D}" srcOrd="2" destOrd="0" parTransId="{D38E94F6-7D50-448F-BFA0-FBDA9B452900}" sibTransId="{7A9ADD8F-796B-446B-98D9-BBDBB0FDD721}"/>
    <dgm:cxn modelId="{66B5A46F-D2EE-4563-B734-7E72FAE446B1}" srcId="{6D633D89-5B63-4F6F-90FE-30EFC12DCF91}" destId="{7F66E49B-76A5-4E58-86C7-DF269FD240FE}" srcOrd="2" destOrd="0" parTransId="{CE1DB387-29EB-41E2-9A69-D9266999D791}" sibTransId="{1A9EB837-0FFA-40B1-9FD8-94B478A6E92C}"/>
    <dgm:cxn modelId="{96D5938F-2966-423D-B8F3-7E5479CD67F6}" type="presOf" srcId="{6D633D89-5B63-4F6F-90FE-30EFC12DCF91}" destId="{E61029D7-0814-40FF-BCED-1FD89806C3E3}" srcOrd="0" destOrd="0" presId="urn:microsoft.com/office/officeart/2005/8/layout/vList6"/>
    <dgm:cxn modelId="{AC33BDB0-D33D-464B-86A4-3AEBD9DBDFA9}" srcId="{14BC708E-A0A1-4102-88E4-E75128B4E51E}" destId="{C9BE96F2-EC7B-4F89-B031-45A2C4984165}" srcOrd="0" destOrd="0" parTransId="{240005DE-1BF6-4FEB-8D2F-9998F9FACC19}" sibTransId="{521B0BB9-35EB-4368-999D-6C2DF6CB6EDA}"/>
    <dgm:cxn modelId="{048156DB-4822-4DB2-ADF3-07BB7E78431D}" srcId="{14BC708E-A0A1-4102-88E4-E75128B4E51E}" destId="{EC8D3D51-67C2-4520-8E67-0B4DFFA2476A}" srcOrd="1" destOrd="0" parTransId="{F81BEA41-744C-417F-922B-0641ABA30E9A}" sibTransId="{7159371F-6609-4B7A-806C-A1F05E993597}"/>
    <dgm:cxn modelId="{436B50D5-D12D-445F-8C7E-92661ECF5A20}" type="presOf" srcId="{D2618B82-D9DE-43EA-931F-4F6CEB49154C}" destId="{512A6BFB-923A-43A1-819B-1679AB2EE5B7}" srcOrd="0" destOrd="0" presId="urn:microsoft.com/office/officeart/2005/8/layout/vList6"/>
    <dgm:cxn modelId="{A579D441-F984-4CB1-A6EE-2C795BBC0572}" type="presOf" srcId="{7F66E49B-76A5-4E58-86C7-DF269FD240FE}" destId="{07ED2FC7-02EE-4370-B829-5B53C742BDE1}" srcOrd="0" destOrd="2" presId="urn:microsoft.com/office/officeart/2005/8/layout/vList6"/>
    <dgm:cxn modelId="{F97BBF22-3A01-4814-BCC8-D12AE5CD586A}" srcId="{6D633D89-5B63-4F6F-90FE-30EFC12DCF91}" destId="{AFBCE549-A923-475B-9AD0-1C7866149CF5}" srcOrd="0" destOrd="0" parTransId="{46E67485-ED34-4BBB-9E72-8ED582EC5A7E}" sibTransId="{DBD97732-0782-4D2E-8970-758AEA9DAE54}"/>
    <dgm:cxn modelId="{550400AE-988D-4FD0-B4F7-7077EF924FE8}" type="presOf" srcId="{2D0FECD0-BFE2-49A4-88C1-26A07EF938B1}" destId="{512A6BFB-923A-43A1-819B-1679AB2EE5B7}" srcOrd="0" destOrd="1" presId="urn:microsoft.com/office/officeart/2005/8/layout/vList6"/>
    <dgm:cxn modelId="{0DAC5C67-473E-490F-B6B4-8744B5925736}" type="presOf" srcId="{AA31514B-CD35-4CDB-A05D-1E65678AD7F7}" destId="{B56F6FA1-4762-428C-91C2-291B1793313E}" srcOrd="0" destOrd="0" presId="urn:microsoft.com/office/officeart/2005/8/layout/vList6"/>
    <dgm:cxn modelId="{6DD1EFD6-36A1-49BF-BEE7-63BAA09F59ED}" type="presOf" srcId="{C9BE96F2-EC7B-4F89-B031-45A2C4984165}" destId="{1117DF5E-4B76-4F9E-8A49-E335E2D784AB}" srcOrd="0" destOrd="0" presId="urn:microsoft.com/office/officeart/2005/8/layout/vList6"/>
    <dgm:cxn modelId="{A94BA44E-2EC7-4D11-BF89-F9327EA91B38}" type="presOf" srcId="{14BC708E-A0A1-4102-88E4-E75128B4E51E}" destId="{1B587A05-1FEB-4B0F-A382-C13250B134E6}" srcOrd="0" destOrd="0" presId="urn:microsoft.com/office/officeart/2005/8/layout/vList6"/>
    <dgm:cxn modelId="{45E1887E-D325-4A16-B76A-6C62320AF84F}" type="presOf" srcId="{EC8D3D51-67C2-4520-8E67-0B4DFFA2476A}" destId="{1117DF5E-4B76-4F9E-8A49-E335E2D784AB}" srcOrd="0" destOrd="1" presId="urn:microsoft.com/office/officeart/2005/8/layout/vList6"/>
    <dgm:cxn modelId="{DE4C5395-4A71-459D-9828-494CE5E1EC99}" srcId="{E1B432F4-5FDB-4518-9272-2F3934AC6AA2}" destId="{6D633D89-5B63-4F6F-90FE-30EFC12DCF91}" srcOrd="1" destOrd="0" parTransId="{40128A2A-63C8-40AE-957F-0D6D96393DD3}" sibTransId="{F905ED66-B050-4A04-9657-92B2BE1BEDB5}"/>
    <dgm:cxn modelId="{DF0A1973-17C9-4D97-9F74-6777D78D143C}" srcId="{6D633D89-5B63-4F6F-90FE-30EFC12DCF91}" destId="{076629AA-E219-4586-A8B7-BE8EB2725319}" srcOrd="1" destOrd="0" parTransId="{6D47213D-0FA2-4258-9D11-C7E467828AF9}" sibTransId="{BC1578BA-614A-415D-9BB8-317AF0DFB214}"/>
    <dgm:cxn modelId="{90CCF80D-C15C-4D34-8DF8-81D7040D8755}" type="presOf" srcId="{AFBCE549-A923-475B-9AD0-1C7866149CF5}" destId="{07ED2FC7-02EE-4370-B829-5B53C742BDE1}" srcOrd="0" destOrd="0" presId="urn:microsoft.com/office/officeart/2005/8/layout/vList6"/>
    <dgm:cxn modelId="{4B17599D-60E3-404D-9021-02002B4EA5E7}" type="presOf" srcId="{076629AA-E219-4586-A8B7-BE8EB2725319}" destId="{07ED2FC7-02EE-4370-B829-5B53C742BDE1}" srcOrd="0" destOrd="1" presId="urn:microsoft.com/office/officeart/2005/8/layout/vList6"/>
    <dgm:cxn modelId="{B2BA2FC7-6EED-4202-BCA7-DFD9959A93F6}" srcId="{AA31514B-CD35-4CDB-A05D-1E65678AD7F7}" destId="{D2618B82-D9DE-43EA-931F-4F6CEB49154C}" srcOrd="0" destOrd="0" parTransId="{3B263A22-AA91-4FF5-917C-756601236540}" sibTransId="{4855EE3D-45C4-4C6A-BE0B-4E0340E0B5A2}"/>
    <dgm:cxn modelId="{3EE7F8E4-FEEC-4E63-A919-1B8EF3CC9687}" type="presParOf" srcId="{63A6D987-853D-4373-8687-75ED3BE54B87}" destId="{E475570E-A09F-4850-AAE3-02F24EEC0E0B}" srcOrd="0" destOrd="0" presId="urn:microsoft.com/office/officeart/2005/8/layout/vList6"/>
    <dgm:cxn modelId="{01AF794B-CE9B-47D0-BAFA-91313C6A2E24}" type="presParOf" srcId="{E475570E-A09F-4850-AAE3-02F24EEC0E0B}" destId="{1B587A05-1FEB-4B0F-A382-C13250B134E6}" srcOrd="0" destOrd="0" presId="urn:microsoft.com/office/officeart/2005/8/layout/vList6"/>
    <dgm:cxn modelId="{491AA6C4-113B-4F13-96AF-147236370C72}" type="presParOf" srcId="{E475570E-A09F-4850-AAE3-02F24EEC0E0B}" destId="{1117DF5E-4B76-4F9E-8A49-E335E2D784AB}" srcOrd="1" destOrd="0" presId="urn:microsoft.com/office/officeart/2005/8/layout/vList6"/>
    <dgm:cxn modelId="{3752C2A3-0ADA-4AB4-A2E4-FEA4A7BD4FCF}" type="presParOf" srcId="{63A6D987-853D-4373-8687-75ED3BE54B87}" destId="{66358751-730A-4F89-BA33-91E2CB6EE59E}" srcOrd="1" destOrd="0" presId="urn:microsoft.com/office/officeart/2005/8/layout/vList6"/>
    <dgm:cxn modelId="{E2409C27-6084-43B1-9241-9A247F4D3D61}" type="presParOf" srcId="{63A6D987-853D-4373-8687-75ED3BE54B87}" destId="{5FEA8736-A136-471B-9A2E-6AC92521C287}" srcOrd="2" destOrd="0" presId="urn:microsoft.com/office/officeart/2005/8/layout/vList6"/>
    <dgm:cxn modelId="{591E7429-C9A4-41A8-A15D-EE4CABBD20DA}" type="presParOf" srcId="{5FEA8736-A136-471B-9A2E-6AC92521C287}" destId="{E61029D7-0814-40FF-BCED-1FD89806C3E3}" srcOrd="0" destOrd="0" presId="urn:microsoft.com/office/officeart/2005/8/layout/vList6"/>
    <dgm:cxn modelId="{2239AD90-C77F-4EE7-B32C-5AC17C1DB871}" type="presParOf" srcId="{5FEA8736-A136-471B-9A2E-6AC92521C287}" destId="{07ED2FC7-02EE-4370-B829-5B53C742BDE1}" srcOrd="1" destOrd="0" presId="urn:microsoft.com/office/officeart/2005/8/layout/vList6"/>
    <dgm:cxn modelId="{D0B9EA89-EA77-4229-9D51-8841C9C03523}" type="presParOf" srcId="{63A6D987-853D-4373-8687-75ED3BE54B87}" destId="{C8CA563A-2616-4241-BA47-294E4E17E0A2}" srcOrd="3" destOrd="0" presId="urn:microsoft.com/office/officeart/2005/8/layout/vList6"/>
    <dgm:cxn modelId="{9238B94D-8270-48AF-980D-259C70445983}" type="presParOf" srcId="{63A6D987-853D-4373-8687-75ED3BE54B87}" destId="{1991E07C-A166-4F31-890C-7A8C3491C9DE}" srcOrd="4" destOrd="0" presId="urn:microsoft.com/office/officeart/2005/8/layout/vList6"/>
    <dgm:cxn modelId="{97B96862-DA9E-408B-81F0-18203A4373F6}" type="presParOf" srcId="{1991E07C-A166-4F31-890C-7A8C3491C9DE}" destId="{B56F6FA1-4762-428C-91C2-291B1793313E}" srcOrd="0" destOrd="0" presId="urn:microsoft.com/office/officeart/2005/8/layout/vList6"/>
    <dgm:cxn modelId="{10AC416F-4F27-4D76-B08A-960775E0CB51}" type="presParOf" srcId="{1991E07C-A166-4F31-890C-7A8C3491C9DE}" destId="{512A6BFB-923A-43A1-819B-1679AB2EE5B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B432F4-5FDB-4518-9272-2F3934AC6AA2}" type="doc">
      <dgm:prSet loTypeId="urn:microsoft.com/office/officeart/2005/8/layout/hList3" loCatId="list" qsTypeId="urn:microsoft.com/office/officeart/2005/8/quickstyle/simple1" qsCatId="simple" csTypeId="urn:microsoft.com/office/officeart/2005/8/colors/colorful3" csCatId="colorful" phldr="1"/>
      <dgm:spPr/>
      <dgm:t>
        <a:bodyPr/>
        <a:lstStyle/>
        <a:p>
          <a:endParaRPr lang="en-US"/>
        </a:p>
      </dgm:t>
    </dgm:pt>
    <dgm:pt modelId="{14BC708E-A0A1-4102-88E4-E75128B4E51E}">
      <dgm:prSet/>
      <dgm:spPr>
        <a:noFill/>
      </dgm:spPr>
      <dgm:t>
        <a:bodyPr/>
        <a:lstStyle/>
        <a:p>
          <a:pPr>
            <a:lnSpc>
              <a:spcPct val="100000"/>
            </a:lnSpc>
          </a:pPr>
          <a:r>
            <a:rPr lang="en-US" baseline="0" noProof="0" dirty="0" smtClean="0">
              <a:effectLst>
                <a:glow rad="152400">
                  <a:schemeClr val="bg1">
                    <a:alpha val="19000"/>
                  </a:schemeClr>
                </a:glow>
              </a:effectLst>
            </a:rPr>
            <a:t>Data Preparation &amp; Stationarity Check</a:t>
          </a:r>
          <a:endParaRPr lang="en-US" baseline="0" noProof="0" dirty="0">
            <a:effectLst>
              <a:glow rad="152400">
                <a:schemeClr val="bg1">
                  <a:alpha val="19000"/>
                </a:schemeClr>
              </a:glow>
            </a:effectLst>
          </a:endParaRPr>
        </a:p>
      </dgm:t>
    </dgm:pt>
    <dgm:pt modelId="{CF221EFF-354A-47A9-A498-1F0BBF01ECB8}" type="par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519C821-85FB-4CA3-BEB5-E4BFBC529B83}" type="sib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C6D21269-399B-4BA2-8621-C7B9DA1E1B8F}">
      <dgm:prSet/>
      <dgm:spPr/>
    </dgm:pt>
    <dgm:pt modelId="{AA3929B3-1058-4240-AD5D-9518D4976567}" type="par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C79B0F2C-DDB4-44EB-89F7-717146B88B10}" type="sib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7C75EDC4-9F86-4376-8C40-246EE793238B}">
      <dgm:prSet/>
      <dgm:spPr/>
    </dgm:pt>
    <dgm:pt modelId="{309C4E58-8ACA-4E80-A222-77E79CDDDFAD}" type="parTrans" cxnId="{C2F0B2BC-E646-4677-B194-849513D06755}">
      <dgm:prSet/>
      <dgm:spPr/>
      <dgm:t>
        <a:bodyPr/>
        <a:lstStyle/>
        <a:p>
          <a:endParaRPr lang="en-US"/>
        </a:p>
      </dgm:t>
    </dgm:pt>
    <dgm:pt modelId="{5DA9AF58-F092-491E-8D9B-49EF5E5A3AB0}" type="sibTrans" cxnId="{C2F0B2BC-E646-4677-B194-849513D06755}">
      <dgm:prSet/>
      <dgm:spPr/>
      <dgm:t>
        <a:bodyPr/>
        <a:lstStyle/>
        <a:p>
          <a:endParaRPr lang="en-US"/>
        </a:p>
      </dgm:t>
    </dgm:pt>
    <dgm:pt modelId="{92104FBD-15A2-4F30-8665-A6E7679AD8C2}">
      <dgm:prSet/>
      <dgm:spPr/>
    </dgm:pt>
    <dgm:pt modelId="{67C67C15-0B70-4AFC-95E2-24CB85DD8A09}" type="parTrans" cxnId="{6AA40F20-245B-4B21-96B3-E29667A14605}">
      <dgm:prSet/>
      <dgm:spPr/>
      <dgm:t>
        <a:bodyPr/>
        <a:lstStyle/>
        <a:p>
          <a:endParaRPr lang="en-US"/>
        </a:p>
      </dgm:t>
    </dgm:pt>
    <dgm:pt modelId="{F96D0321-B1F4-4193-81B0-D8106210C5EB}" type="sibTrans" cxnId="{6AA40F20-245B-4B21-96B3-E29667A14605}">
      <dgm:prSet/>
      <dgm:spPr/>
      <dgm:t>
        <a:bodyPr/>
        <a:lstStyle/>
        <a:p>
          <a:endParaRPr lang="en-US"/>
        </a:p>
      </dgm:t>
    </dgm:pt>
    <dgm:pt modelId="{AA31514B-CD35-4CDB-A05D-1E65678AD7F7}">
      <dgm:prSet/>
      <dgm:spPr/>
      <dgm:t>
        <a:bodyPr/>
        <a:lstStyle/>
        <a:p>
          <a:pPr>
            <a:lnSpc>
              <a:spcPct val="100000"/>
            </a:lnSpc>
          </a:pPr>
          <a:endParaRPr lang="en-US" noProof="0" dirty="0">
            <a:solidFill>
              <a:schemeClr val="bg1"/>
            </a:solidFill>
            <a:effectLst>
              <a:glow rad="152400">
                <a:schemeClr val="bg1">
                  <a:alpha val="19000"/>
                </a:schemeClr>
              </a:glow>
            </a:effectLst>
          </a:endParaRPr>
        </a:p>
      </dgm:t>
    </dgm:pt>
    <dgm:pt modelId="{532DC7DC-E661-41F5-AFB6-D27AE60D4E51}" type="parTrans" cxnId="{F15DCD4D-62E6-42B0-B010-62857DB3CC22}">
      <dgm:prSet/>
      <dgm:spPr/>
      <dgm:t>
        <a:bodyPr/>
        <a:lstStyle/>
        <a:p>
          <a:endParaRPr lang="en-US"/>
        </a:p>
      </dgm:t>
    </dgm:pt>
    <dgm:pt modelId="{D7E2E353-1A5C-448E-9F5B-81963C560F35}" type="sibTrans" cxnId="{F15DCD4D-62E6-42B0-B010-62857DB3CC22}">
      <dgm:prSet/>
      <dgm:spPr/>
      <dgm:t>
        <a:bodyPr/>
        <a:lstStyle/>
        <a:p>
          <a:endParaRPr lang="en-US"/>
        </a:p>
      </dgm:t>
    </dgm:pt>
    <dgm:pt modelId="{3BD244A4-D9F3-411A-980E-0C7022C7A95B}">
      <dgm:prSet/>
      <dgm:spPr/>
      <dgm:t>
        <a:bodyPr/>
        <a:lstStyle/>
        <a:p>
          <a:r>
            <a:rPr lang="en-US" dirty="0" smtClean="0"/>
            <a:t>Stationarity Checks</a:t>
          </a:r>
          <a:endParaRPr lang="en-US" dirty="0"/>
        </a:p>
      </dgm:t>
    </dgm:pt>
    <dgm:pt modelId="{0CA77814-19D9-414E-81BB-10721A64FA40}" type="parTrans" cxnId="{DC19DC0B-0092-4CE1-BE42-958A0BB5C20A}">
      <dgm:prSet/>
      <dgm:spPr/>
      <dgm:t>
        <a:bodyPr/>
        <a:lstStyle/>
        <a:p>
          <a:endParaRPr lang="en-US"/>
        </a:p>
      </dgm:t>
    </dgm:pt>
    <dgm:pt modelId="{B277C3DE-3920-4EF2-AACC-3FB70CC8867E}" type="sibTrans" cxnId="{DC19DC0B-0092-4CE1-BE42-958A0BB5C20A}">
      <dgm:prSet/>
      <dgm:spPr/>
      <dgm:t>
        <a:bodyPr/>
        <a:lstStyle/>
        <a:p>
          <a:endParaRPr lang="en-US"/>
        </a:p>
      </dgm:t>
    </dgm:pt>
    <dgm:pt modelId="{B903A5F9-A35F-4363-A694-6D3C6AE7AECA}">
      <dgm:prSet/>
      <dgm:spPr/>
      <dgm:t>
        <a:bodyPr/>
        <a:lstStyle/>
        <a:p>
          <a:r>
            <a:rPr lang="en-US" dirty="0" smtClean="0"/>
            <a:t>70/30 Split</a:t>
          </a:r>
          <a:endParaRPr lang="en-US" dirty="0"/>
        </a:p>
      </dgm:t>
    </dgm:pt>
    <dgm:pt modelId="{A942D4A8-2E8E-4FB0-94C1-8F1722A3FBAF}" type="parTrans" cxnId="{2EF50983-B695-46EE-9507-B01D77D9B535}">
      <dgm:prSet/>
      <dgm:spPr/>
      <dgm:t>
        <a:bodyPr/>
        <a:lstStyle/>
        <a:p>
          <a:endParaRPr lang="en-US"/>
        </a:p>
      </dgm:t>
    </dgm:pt>
    <dgm:pt modelId="{D029C42A-BF20-4CBA-8C1F-04255724507E}" type="sibTrans" cxnId="{2EF50983-B695-46EE-9507-B01D77D9B535}">
      <dgm:prSet/>
      <dgm:spPr/>
      <dgm:t>
        <a:bodyPr/>
        <a:lstStyle/>
        <a:p>
          <a:endParaRPr lang="en-US"/>
        </a:p>
      </dgm:t>
    </dgm:pt>
    <dgm:pt modelId="{98EBA24B-8CF0-4E8B-AEDC-3BAC636B6DB1}" type="pres">
      <dgm:prSet presAssocID="{E1B432F4-5FDB-4518-9272-2F3934AC6AA2}" presName="composite" presStyleCnt="0">
        <dgm:presLayoutVars>
          <dgm:chMax val="1"/>
          <dgm:dir/>
          <dgm:resizeHandles val="exact"/>
        </dgm:presLayoutVars>
      </dgm:prSet>
      <dgm:spPr/>
      <dgm:t>
        <a:bodyPr/>
        <a:lstStyle/>
        <a:p>
          <a:endParaRPr lang="en-US"/>
        </a:p>
      </dgm:t>
    </dgm:pt>
    <dgm:pt modelId="{E5EC8A52-7B8F-4B29-9880-8A54CDE3D586}" type="pres">
      <dgm:prSet presAssocID="{14BC708E-A0A1-4102-88E4-E75128B4E51E}" presName="roof" presStyleLbl="dkBgShp" presStyleIdx="0" presStyleCnt="2"/>
      <dgm:spPr/>
      <dgm:t>
        <a:bodyPr/>
        <a:lstStyle/>
        <a:p>
          <a:endParaRPr lang="en-US"/>
        </a:p>
      </dgm:t>
    </dgm:pt>
    <dgm:pt modelId="{225DD5E4-E2FB-4F18-B319-5C01B3BBF5C9}" type="pres">
      <dgm:prSet presAssocID="{14BC708E-A0A1-4102-88E4-E75128B4E51E}" presName="pillars" presStyleCnt="0"/>
      <dgm:spPr/>
      <dgm:t>
        <a:bodyPr/>
        <a:lstStyle/>
        <a:p>
          <a:endParaRPr lang="en-US"/>
        </a:p>
      </dgm:t>
    </dgm:pt>
    <dgm:pt modelId="{80A34043-9A27-4227-80FB-29368BC5F7FD}" type="pres">
      <dgm:prSet presAssocID="{14BC708E-A0A1-4102-88E4-E75128B4E51E}" presName="pillar1" presStyleLbl="node1" presStyleIdx="0" presStyleCnt="2">
        <dgm:presLayoutVars>
          <dgm:bulletEnabled val="1"/>
        </dgm:presLayoutVars>
      </dgm:prSet>
      <dgm:spPr/>
      <dgm:t>
        <a:bodyPr/>
        <a:lstStyle/>
        <a:p>
          <a:endParaRPr lang="en-US"/>
        </a:p>
      </dgm:t>
    </dgm:pt>
    <dgm:pt modelId="{902EFDFC-94AA-46BF-8664-7415F0E13965}" type="pres">
      <dgm:prSet presAssocID="{B903A5F9-A35F-4363-A694-6D3C6AE7AECA}" presName="pillarX" presStyleLbl="node1" presStyleIdx="1" presStyleCnt="2">
        <dgm:presLayoutVars>
          <dgm:bulletEnabled val="1"/>
        </dgm:presLayoutVars>
      </dgm:prSet>
      <dgm:spPr/>
      <dgm:t>
        <a:bodyPr/>
        <a:lstStyle/>
        <a:p>
          <a:endParaRPr lang="en-US"/>
        </a:p>
      </dgm:t>
    </dgm:pt>
    <dgm:pt modelId="{6940197E-82FB-4C13-ADBD-22701A0DE830}" type="pres">
      <dgm:prSet presAssocID="{14BC708E-A0A1-4102-88E4-E75128B4E51E}" presName="base" presStyleLbl="dkBgShp" presStyleIdx="1" presStyleCnt="2"/>
      <dgm:spPr/>
      <dgm:t>
        <a:bodyPr/>
        <a:lstStyle/>
        <a:p>
          <a:endParaRPr lang="en-US"/>
        </a:p>
      </dgm:t>
    </dgm:pt>
  </dgm:ptLst>
  <dgm:cxnLst>
    <dgm:cxn modelId="{6AA40F20-245B-4B21-96B3-E29667A14605}" srcId="{E1B432F4-5FDB-4518-9272-2F3934AC6AA2}" destId="{92104FBD-15A2-4F30-8665-A6E7679AD8C2}" srcOrd="4" destOrd="0" parTransId="{67C67C15-0B70-4AFC-95E2-24CB85DD8A09}" sibTransId="{F96D0321-B1F4-4193-81B0-D8106210C5EB}"/>
    <dgm:cxn modelId="{E4AD895B-72A4-4A6B-A7F4-C77A53EC51BC}" srcId="{E1B432F4-5FDB-4518-9272-2F3934AC6AA2}" destId="{C6D21269-399B-4BA2-8621-C7B9DA1E1B8F}" srcOrd="1" destOrd="0" parTransId="{AA3929B3-1058-4240-AD5D-9518D4976567}" sibTransId="{C79B0F2C-DDB4-44EB-89F7-717146B88B10}"/>
    <dgm:cxn modelId="{DC19DC0B-0092-4CE1-BE42-958A0BB5C20A}" srcId="{14BC708E-A0A1-4102-88E4-E75128B4E51E}" destId="{3BD244A4-D9F3-411A-980E-0C7022C7A95B}" srcOrd="0" destOrd="0" parTransId="{0CA77814-19D9-414E-81BB-10721A64FA40}" sibTransId="{B277C3DE-3920-4EF2-AACC-3FB70CC8867E}"/>
    <dgm:cxn modelId="{F15DCD4D-62E6-42B0-B010-62857DB3CC22}" srcId="{E1B432F4-5FDB-4518-9272-2F3934AC6AA2}" destId="{AA31514B-CD35-4CDB-A05D-1E65678AD7F7}" srcOrd="2" destOrd="0" parTransId="{532DC7DC-E661-41F5-AFB6-D27AE60D4E51}" sibTransId="{D7E2E353-1A5C-448E-9F5B-81963C560F35}"/>
    <dgm:cxn modelId="{F0AEA586-24F2-498D-A10E-1564C12E5342}" type="presOf" srcId="{E1B432F4-5FDB-4518-9272-2F3934AC6AA2}" destId="{98EBA24B-8CF0-4E8B-AEDC-3BAC636B6DB1}" srcOrd="0" destOrd="0" presId="urn:microsoft.com/office/officeart/2005/8/layout/hList3"/>
    <dgm:cxn modelId="{04EDD358-3F1D-4DF7-90DE-F511B9203EC9}" type="presOf" srcId="{3BD244A4-D9F3-411A-980E-0C7022C7A95B}" destId="{80A34043-9A27-4227-80FB-29368BC5F7FD}" srcOrd="0" destOrd="0" presId="urn:microsoft.com/office/officeart/2005/8/layout/hList3"/>
    <dgm:cxn modelId="{2CAAFBDE-0EA4-4897-947B-76B7F4D3828D}" type="presOf" srcId="{14BC708E-A0A1-4102-88E4-E75128B4E51E}" destId="{E5EC8A52-7B8F-4B29-9880-8A54CDE3D586}" srcOrd="0" destOrd="0" presId="urn:microsoft.com/office/officeart/2005/8/layout/hList3"/>
    <dgm:cxn modelId="{2EF50983-B695-46EE-9507-B01D77D9B535}" srcId="{14BC708E-A0A1-4102-88E4-E75128B4E51E}" destId="{B903A5F9-A35F-4363-A694-6D3C6AE7AECA}" srcOrd="1" destOrd="0" parTransId="{A942D4A8-2E8E-4FB0-94C1-8F1722A3FBAF}" sibTransId="{D029C42A-BF20-4CBA-8C1F-04255724507E}"/>
    <dgm:cxn modelId="{C2F0B2BC-E646-4677-B194-849513D06755}" srcId="{E1B432F4-5FDB-4518-9272-2F3934AC6AA2}" destId="{7C75EDC4-9F86-4376-8C40-246EE793238B}" srcOrd="3" destOrd="0" parTransId="{309C4E58-8ACA-4E80-A222-77E79CDDDFAD}" sibTransId="{5DA9AF58-F092-491E-8D9B-49EF5E5A3AB0}"/>
    <dgm:cxn modelId="{C001615F-F962-4B52-9BD3-801A54F8DB22}" type="presOf" srcId="{B903A5F9-A35F-4363-A694-6D3C6AE7AECA}" destId="{902EFDFC-94AA-46BF-8664-7415F0E13965}" srcOrd="0" destOrd="0" presId="urn:microsoft.com/office/officeart/2005/8/layout/hList3"/>
    <dgm:cxn modelId="{EB9839C5-F324-41C4-8950-5284E09FB71E}" srcId="{E1B432F4-5FDB-4518-9272-2F3934AC6AA2}" destId="{14BC708E-A0A1-4102-88E4-E75128B4E51E}" srcOrd="0" destOrd="0" parTransId="{CF221EFF-354A-47A9-A498-1F0BBF01ECB8}" sibTransId="{7519C821-85FB-4CA3-BEB5-E4BFBC529B83}"/>
    <dgm:cxn modelId="{E0D9E9F5-C608-432E-A7A3-F8DB353CE7C8}" type="presParOf" srcId="{98EBA24B-8CF0-4E8B-AEDC-3BAC636B6DB1}" destId="{E5EC8A52-7B8F-4B29-9880-8A54CDE3D586}" srcOrd="0" destOrd="0" presId="urn:microsoft.com/office/officeart/2005/8/layout/hList3"/>
    <dgm:cxn modelId="{65BE1425-4646-46B5-8F52-F40FFC49D521}" type="presParOf" srcId="{98EBA24B-8CF0-4E8B-AEDC-3BAC636B6DB1}" destId="{225DD5E4-E2FB-4F18-B319-5C01B3BBF5C9}" srcOrd="1" destOrd="0" presId="urn:microsoft.com/office/officeart/2005/8/layout/hList3"/>
    <dgm:cxn modelId="{A4D713E4-8D4D-4CF7-B6AE-7BC30CB324DB}" type="presParOf" srcId="{225DD5E4-E2FB-4F18-B319-5C01B3BBF5C9}" destId="{80A34043-9A27-4227-80FB-29368BC5F7FD}" srcOrd="0" destOrd="0" presId="urn:microsoft.com/office/officeart/2005/8/layout/hList3"/>
    <dgm:cxn modelId="{E57685A1-AFBA-43F5-916D-5E3AF5DC0F60}" type="presParOf" srcId="{225DD5E4-E2FB-4F18-B319-5C01B3BBF5C9}" destId="{902EFDFC-94AA-46BF-8664-7415F0E13965}" srcOrd="1" destOrd="0" presId="urn:microsoft.com/office/officeart/2005/8/layout/hList3"/>
    <dgm:cxn modelId="{50257193-15D9-4304-9F52-B00A7D107472}" type="presParOf" srcId="{98EBA24B-8CF0-4E8B-AEDC-3BAC636B6DB1}" destId="{6940197E-82FB-4C13-ADBD-22701A0DE830}" srcOrd="2" destOrd="0" presId="urn:microsoft.com/office/officeart/2005/8/layout/h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B432F4-5FDB-4518-9272-2F3934AC6AA2}" type="doc">
      <dgm:prSet loTypeId="urn:microsoft.com/office/officeart/2009/3/layout/FramedTextPicture" loCatId="picture" qsTypeId="urn:microsoft.com/office/officeart/2005/8/quickstyle/simple1" qsCatId="simple" csTypeId="urn:microsoft.com/office/officeart/2018/5/colors/Iconchunking_neutralbg_colorful1" csCatId="colorful" phldr="1"/>
      <dgm:spPr/>
      <dgm:t>
        <a:bodyPr/>
        <a:lstStyle/>
        <a:p>
          <a:endParaRPr lang="en-US"/>
        </a:p>
      </dgm:t>
    </dgm:pt>
    <dgm:pt modelId="{14BC708E-A0A1-4102-88E4-E75128B4E51E}">
      <dgm:prSet/>
      <dgm:spPr>
        <a:noFill/>
      </dgm:spPr>
      <dgm:t>
        <a:bodyPr/>
        <a:lstStyle/>
        <a:p>
          <a:pPr>
            <a:lnSpc>
              <a:spcPct val="100000"/>
            </a:lnSpc>
          </a:pPr>
          <a:r>
            <a:rPr lang="en-US" baseline="0" noProof="0" dirty="0" smtClean="0">
              <a:solidFill>
                <a:schemeClr val="bg1"/>
              </a:solidFill>
              <a:effectLst>
                <a:glow rad="152400">
                  <a:schemeClr val="bg1">
                    <a:alpha val="19000"/>
                  </a:schemeClr>
                </a:glow>
              </a:effectLst>
            </a:rPr>
            <a:t>Model Identification</a:t>
          </a:r>
          <a:endParaRPr lang="en-US" baseline="0" noProof="0" dirty="0">
            <a:solidFill>
              <a:schemeClr val="bg1"/>
            </a:solidFill>
            <a:effectLst>
              <a:glow rad="152400">
                <a:schemeClr val="bg1">
                  <a:alpha val="19000"/>
                </a:schemeClr>
              </a:glow>
            </a:effectLst>
          </a:endParaRPr>
        </a:p>
      </dgm:t>
    </dgm:pt>
    <dgm:pt modelId="{CF221EFF-354A-47A9-A498-1F0BBF01ECB8}" type="par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519C821-85FB-4CA3-BEB5-E4BFBC529B83}" type="sib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B903A5F9-A35F-4363-A694-6D3C6AE7AECA}">
      <dgm:prSet/>
      <dgm:spPr/>
      <dgm:t>
        <a:bodyPr/>
        <a:lstStyle/>
        <a:p>
          <a:r>
            <a:rPr lang="en-US" dirty="0" smtClean="0">
              <a:solidFill>
                <a:schemeClr val="bg1"/>
              </a:solidFill>
            </a:rPr>
            <a:t>Auto_arima function</a:t>
          </a:r>
          <a:endParaRPr lang="en-US" dirty="0">
            <a:solidFill>
              <a:schemeClr val="bg1"/>
            </a:solidFill>
          </a:endParaRPr>
        </a:p>
      </dgm:t>
    </dgm:pt>
    <dgm:pt modelId="{A942D4A8-2E8E-4FB0-94C1-8F1722A3FBAF}" type="parTrans" cxnId="{2EF50983-B695-46EE-9507-B01D77D9B535}">
      <dgm:prSet/>
      <dgm:spPr/>
      <dgm:t>
        <a:bodyPr/>
        <a:lstStyle/>
        <a:p>
          <a:endParaRPr lang="en-US"/>
        </a:p>
      </dgm:t>
    </dgm:pt>
    <dgm:pt modelId="{D029C42A-BF20-4CBA-8C1F-04255724507E}" type="sibTrans" cxnId="{2EF50983-B695-46EE-9507-B01D77D9B535}">
      <dgm:prSet/>
      <dgm:spPr/>
      <dgm:t>
        <a:bodyPr/>
        <a:lstStyle/>
        <a:p>
          <a:endParaRPr lang="en-US"/>
        </a:p>
      </dgm:t>
    </dgm:pt>
    <dgm:pt modelId="{73F72A92-0417-4053-B6F6-ED99D6CA758B}" type="pres">
      <dgm:prSet presAssocID="{E1B432F4-5FDB-4518-9272-2F3934AC6AA2}" presName="Name0" presStyleCnt="0">
        <dgm:presLayoutVars>
          <dgm:chMax/>
          <dgm:chPref/>
          <dgm:dir/>
        </dgm:presLayoutVars>
      </dgm:prSet>
      <dgm:spPr/>
      <dgm:t>
        <a:bodyPr/>
        <a:lstStyle/>
        <a:p>
          <a:endParaRPr lang="en-US"/>
        </a:p>
      </dgm:t>
    </dgm:pt>
    <dgm:pt modelId="{AA8A474F-B240-40AE-B940-3D83C9BF2B0F}" type="pres">
      <dgm:prSet presAssocID="{14BC708E-A0A1-4102-88E4-E75128B4E51E}" presName="composite" presStyleCnt="0">
        <dgm:presLayoutVars>
          <dgm:chMax/>
          <dgm:chPref/>
        </dgm:presLayoutVars>
      </dgm:prSet>
      <dgm:spPr/>
    </dgm:pt>
    <dgm:pt modelId="{D87B1D75-136E-47B2-B318-7B7ED267493C}" type="pres">
      <dgm:prSet presAssocID="{14BC708E-A0A1-4102-88E4-E75128B4E51E}" presName="Image" presStyleLbl="bgImgPlace1" presStyleIdx="0" presStyleCnt="1" custScaleX="166100" custScaleY="256484" custLinFactNeighborX="-31308" custLinFactNeighborY="1607"/>
      <dgm:spPr>
        <a:blipFill rotWithShape="1">
          <a:blip xmlns:r="http://schemas.openxmlformats.org/officeDocument/2006/relationships" r:embed="rId1"/>
          <a:stretch>
            <a:fillRect/>
          </a:stretch>
        </a:blipFill>
      </dgm:spPr>
      <dgm:t>
        <a:bodyPr/>
        <a:lstStyle/>
        <a:p>
          <a:endParaRPr lang="en-US"/>
        </a:p>
      </dgm:t>
      <dgm:extLst>
        <a:ext uri="{E40237B7-FDA0-4F09-8148-C483321AD2D9}">
          <dgm14:cNvPr xmlns:dgm14="http://schemas.microsoft.com/office/drawing/2010/diagram" id="0" name="" descr="Handshake"/>
        </a:ext>
      </dgm:extLst>
    </dgm:pt>
    <dgm:pt modelId="{02D06009-E39B-403B-BF5C-11F9FF8853C6}" type="pres">
      <dgm:prSet presAssocID="{14BC708E-A0A1-4102-88E4-E75128B4E51E}" presName="ParentText" presStyleLbl="revTx" presStyleIdx="0" presStyleCnt="1">
        <dgm:presLayoutVars>
          <dgm:chMax val="0"/>
          <dgm:chPref val="0"/>
          <dgm:bulletEnabled val="1"/>
        </dgm:presLayoutVars>
      </dgm:prSet>
      <dgm:spPr/>
      <dgm:t>
        <a:bodyPr/>
        <a:lstStyle/>
        <a:p>
          <a:endParaRPr lang="en-US"/>
        </a:p>
      </dgm:t>
    </dgm:pt>
    <dgm:pt modelId="{E8FD5EE0-8DA8-45EA-BB57-882DC645BEE2}" type="pres">
      <dgm:prSet presAssocID="{14BC708E-A0A1-4102-88E4-E75128B4E51E}" presName="tlFrame" presStyleLbl="node1" presStyleIdx="0" presStyleCnt="4"/>
      <dgm:spPr/>
    </dgm:pt>
    <dgm:pt modelId="{78EEBC32-46FB-494A-A9B0-6BD5BE4568D7}" type="pres">
      <dgm:prSet presAssocID="{14BC708E-A0A1-4102-88E4-E75128B4E51E}" presName="trFrame" presStyleLbl="node1" presStyleIdx="1" presStyleCnt="4"/>
      <dgm:spPr/>
    </dgm:pt>
    <dgm:pt modelId="{997E631D-681A-482E-8EEA-7F82B0AE885E}" type="pres">
      <dgm:prSet presAssocID="{14BC708E-A0A1-4102-88E4-E75128B4E51E}" presName="blFrame" presStyleLbl="node1" presStyleIdx="2" presStyleCnt="4"/>
      <dgm:spPr/>
    </dgm:pt>
    <dgm:pt modelId="{FDE5FFFF-1DE2-4096-BB37-FB8172432404}" type="pres">
      <dgm:prSet presAssocID="{14BC708E-A0A1-4102-88E4-E75128B4E51E}" presName="brFrame" presStyleLbl="node1" presStyleIdx="3" presStyleCnt="4"/>
      <dgm:spPr/>
    </dgm:pt>
  </dgm:ptLst>
  <dgm:cxnLst>
    <dgm:cxn modelId="{50A3CB41-10D3-4EB2-9516-3D51179DCF9C}" type="presOf" srcId="{B903A5F9-A35F-4363-A694-6D3C6AE7AECA}" destId="{02D06009-E39B-403B-BF5C-11F9FF8853C6}" srcOrd="0" destOrd="1" presId="urn:microsoft.com/office/officeart/2009/3/layout/FramedTextPicture"/>
    <dgm:cxn modelId="{41533E43-C592-44A9-B55F-F8F007322D14}" type="presOf" srcId="{14BC708E-A0A1-4102-88E4-E75128B4E51E}" destId="{02D06009-E39B-403B-BF5C-11F9FF8853C6}" srcOrd="0" destOrd="0" presId="urn:microsoft.com/office/officeart/2009/3/layout/FramedTextPicture"/>
    <dgm:cxn modelId="{EB9839C5-F324-41C4-8950-5284E09FB71E}" srcId="{E1B432F4-5FDB-4518-9272-2F3934AC6AA2}" destId="{14BC708E-A0A1-4102-88E4-E75128B4E51E}" srcOrd="0" destOrd="0" parTransId="{CF221EFF-354A-47A9-A498-1F0BBF01ECB8}" sibTransId="{7519C821-85FB-4CA3-BEB5-E4BFBC529B83}"/>
    <dgm:cxn modelId="{2EF50983-B695-46EE-9507-B01D77D9B535}" srcId="{14BC708E-A0A1-4102-88E4-E75128B4E51E}" destId="{B903A5F9-A35F-4363-A694-6D3C6AE7AECA}" srcOrd="0" destOrd="0" parTransId="{A942D4A8-2E8E-4FB0-94C1-8F1722A3FBAF}" sibTransId="{D029C42A-BF20-4CBA-8C1F-04255724507E}"/>
    <dgm:cxn modelId="{FB1035FE-D17D-4255-B65B-B528542AB8C5}" type="presOf" srcId="{E1B432F4-5FDB-4518-9272-2F3934AC6AA2}" destId="{73F72A92-0417-4053-B6F6-ED99D6CA758B}" srcOrd="0" destOrd="0" presId="urn:microsoft.com/office/officeart/2009/3/layout/FramedTextPicture"/>
    <dgm:cxn modelId="{2A6C5850-B463-4861-B6CE-C5498EA63FFF}" type="presParOf" srcId="{73F72A92-0417-4053-B6F6-ED99D6CA758B}" destId="{AA8A474F-B240-40AE-B940-3D83C9BF2B0F}" srcOrd="0" destOrd="0" presId="urn:microsoft.com/office/officeart/2009/3/layout/FramedTextPicture"/>
    <dgm:cxn modelId="{88DF81C2-CFD8-43B2-B704-40CE476170E4}" type="presParOf" srcId="{AA8A474F-B240-40AE-B940-3D83C9BF2B0F}" destId="{D87B1D75-136E-47B2-B318-7B7ED267493C}" srcOrd="0" destOrd="0" presId="urn:microsoft.com/office/officeart/2009/3/layout/FramedTextPicture"/>
    <dgm:cxn modelId="{4FA131D5-DD8D-4230-B8B1-B8AEF9BE2FAE}" type="presParOf" srcId="{AA8A474F-B240-40AE-B940-3D83C9BF2B0F}" destId="{02D06009-E39B-403B-BF5C-11F9FF8853C6}" srcOrd="1" destOrd="0" presId="urn:microsoft.com/office/officeart/2009/3/layout/FramedTextPicture"/>
    <dgm:cxn modelId="{3D23D4F3-AB74-473E-BEAF-AE2C62F79266}" type="presParOf" srcId="{AA8A474F-B240-40AE-B940-3D83C9BF2B0F}" destId="{E8FD5EE0-8DA8-45EA-BB57-882DC645BEE2}" srcOrd="2" destOrd="0" presId="urn:microsoft.com/office/officeart/2009/3/layout/FramedTextPicture"/>
    <dgm:cxn modelId="{8105B52D-2536-410C-83BE-1528A8420A00}" type="presParOf" srcId="{AA8A474F-B240-40AE-B940-3D83C9BF2B0F}" destId="{78EEBC32-46FB-494A-A9B0-6BD5BE4568D7}" srcOrd="3" destOrd="0" presId="urn:microsoft.com/office/officeart/2009/3/layout/FramedTextPicture"/>
    <dgm:cxn modelId="{843F8DF1-0C63-40B4-A547-3FAD8CE91339}" type="presParOf" srcId="{AA8A474F-B240-40AE-B940-3D83C9BF2B0F}" destId="{997E631D-681A-482E-8EEA-7F82B0AE885E}" srcOrd="4" destOrd="0" presId="urn:microsoft.com/office/officeart/2009/3/layout/FramedTextPicture"/>
    <dgm:cxn modelId="{EC153BF9-7EE3-435E-91BC-053342B42371}" type="presParOf" srcId="{AA8A474F-B240-40AE-B940-3D83C9BF2B0F}" destId="{FDE5FFFF-1DE2-4096-BB37-FB8172432404}" srcOrd="5" destOrd="0" presId="urn:microsoft.com/office/officeart/2009/3/layout/FramedTextPicture"/>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B432F4-5FDB-4518-9272-2F3934AC6AA2}" type="doc">
      <dgm:prSet loTypeId="urn:microsoft.com/office/officeart/2008/layout/BendingPictureCaptionList" loCatId="picture" qsTypeId="urn:microsoft.com/office/officeart/2005/8/quickstyle/simple1" qsCatId="simple" csTypeId="urn:microsoft.com/office/officeart/2018/5/colors/Iconchunking_neutralbg_colorful1" csCatId="colorful" phldr="1"/>
      <dgm:spPr/>
      <dgm:t>
        <a:bodyPr/>
        <a:lstStyle/>
        <a:p>
          <a:endParaRPr lang="en-US"/>
        </a:p>
      </dgm:t>
    </dgm:pt>
    <dgm:pt modelId="{14BC708E-A0A1-4102-88E4-E75128B4E51E}">
      <dgm:prSet/>
      <dgm:spPr>
        <a:noFill/>
      </dgm:spPr>
      <dgm:t>
        <a:bodyPr/>
        <a:lstStyle/>
        <a:p>
          <a:pPr>
            <a:lnSpc>
              <a:spcPct val="100000"/>
            </a:lnSpc>
          </a:pPr>
          <a:endParaRPr lang="en-US" baseline="0" noProof="0" dirty="0" smtClean="0">
            <a:solidFill>
              <a:schemeClr val="bg1"/>
            </a:solidFill>
            <a:effectLst>
              <a:glow rad="152400">
                <a:schemeClr val="bg1">
                  <a:alpha val="19000"/>
                </a:schemeClr>
              </a:glow>
            </a:effectLst>
          </a:endParaRPr>
        </a:p>
        <a:p>
          <a:pPr>
            <a:lnSpc>
              <a:spcPct val="100000"/>
            </a:lnSpc>
          </a:pPr>
          <a:r>
            <a:rPr lang="en-US" baseline="0" noProof="0" dirty="0" smtClean="0">
              <a:solidFill>
                <a:schemeClr val="bg1"/>
              </a:solidFill>
              <a:effectLst>
                <a:glow rad="152400">
                  <a:schemeClr val="bg1">
                    <a:alpha val="19000"/>
                  </a:schemeClr>
                </a:glow>
              </a:effectLst>
            </a:rPr>
            <a:t>Forecast compared to Test Data</a:t>
          </a:r>
          <a:endParaRPr lang="en-US" baseline="0" noProof="0" dirty="0">
            <a:solidFill>
              <a:schemeClr val="bg1"/>
            </a:solidFill>
            <a:effectLst>
              <a:glow rad="152400">
                <a:schemeClr val="bg1">
                  <a:alpha val="19000"/>
                </a:schemeClr>
              </a:glow>
            </a:effectLst>
          </a:endParaRPr>
        </a:p>
      </dgm:t>
    </dgm:pt>
    <dgm:pt modelId="{CF221EFF-354A-47A9-A498-1F0BBF01ECB8}" type="par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519C821-85FB-4CA3-BEB5-E4BFBC529B83}" type="sib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1C04050E-AFE5-4385-A44F-F60D5D3A552E}">
      <dgm:prSet/>
      <dgm:spPr>
        <a:noFill/>
      </dgm:spPr>
      <dgm:t>
        <a:bodyPr/>
        <a:lstStyle/>
        <a:p>
          <a:pPr>
            <a:lnSpc>
              <a:spcPct val="100000"/>
            </a:lnSpc>
          </a:pPr>
          <a:endParaRPr lang="en-US" baseline="0" noProof="0" dirty="0" smtClean="0">
            <a:solidFill>
              <a:schemeClr val="bg1"/>
            </a:solidFill>
            <a:effectLst>
              <a:glow rad="152400">
                <a:schemeClr val="bg1">
                  <a:alpha val="19000"/>
                </a:schemeClr>
              </a:glow>
            </a:effectLst>
          </a:endParaRPr>
        </a:p>
        <a:p>
          <a:pPr>
            <a:lnSpc>
              <a:spcPct val="100000"/>
            </a:lnSpc>
          </a:pPr>
          <a:r>
            <a:rPr lang="en-US" baseline="0" noProof="0" dirty="0" smtClean="0">
              <a:solidFill>
                <a:schemeClr val="bg1"/>
              </a:solidFill>
              <a:effectLst>
                <a:glow rad="152400">
                  <a:schemeClr val="bg1">
                    <a:alpha val="19000"/>
                  </a:schemeClr>
                </a:glow>
              </a:effectLst>
            </a:rPr>
            <a:t>Close Price with Forecasted Projections</a:t>
          </a:r>
          <a:endParaRPr lang="en-US" baseline="0" noProof="0" dirty="0">
            <a:solidFill>
              <a:schemeClr val="bg1"/>
            </a:solidFill>
            <a:effectLst>
              <a:glow rad="152400">
                <a:schemeClr val="bg1">
                  <a:alpha val="19000"/>
                </a:schemeClr>
              </a:glow>
            </a:effectLst>
          </a:endParaRPr>
        </a:p>
      </dgm:t>
    </dgm:pt>
    <dgm:pt modelId="{E7B5D996-1B31-4995-881E-61807BD85693}" type="parTrans" cxnId="{C482F346-1F44-49A1-835E-2D71BCC99857}">
      <dgm:prSet/>
      <dgm:spPr/>
      <dgm:t>
        <a:bodyPr/>
        <a:lstStyle/>
        <a:p>
          <a:endParaRPr lang="en-US"/>
        </a:p>
      </dgm:t>
    </dgm:pt>
    <dgm:pt modelId="{AB02C719-38DA-42A1-A0B4-65BBA480DB38}" type="sibTrans" cxnId="{C482F346-1F44-49A1-835E-2D71BCC99857}">
      <dgm:prSet/>
      <dgm:spPr/>
      <dgm:t>
        <a:bodyPr/>
        <a:lstStyle/>
        <a:p>
          <a:endParaRPr lang="en-US"/>
        </a:p>
      </dgm:t>
    </dgm:pt>
    <dgm:pt modelId="{039E8A05-62C7-4967-84A4-6A4AE033C53A}" type="pres">
      <dgm:prSet presAssocID="{E1B432F4-5FDB-4518-9272-2F3934AC6AA2}" presName="Name0" presStyleCnt="0">
        <dgm:presLayoutVars>
          <dgm:dir/>
          <dgm:resizeHandles val="exact"/>
        </dgm:presLayoutVars>
      </dgm:prSet>
      <dgm:spPr/>
      <dgm:t>
        <a:bodyPr/>
        <a:lstStyle/>
        <a:p>
          <a:endParaRPr lang="en-US"/>
        </a:p>
      </dgm:t>
    </dgm:pt>
    <dgm:pt modelId="{85D769E3-6DAD-47E4-B6F7-A048CCDE8E9C}" type="pres">
      <dgm:prSet presAssocID="{14BC708E-A0A1-4102-88E4-E75128B4E51E}" presName="composite" presStyleCnt="0"/>
      <dgm:spPr/>
    </dgm:pt>
    <dgm:pt modelId="{B3D12362-0BDB-49E9-B941-0039C7BEEE94}" type="pres">
      <dgm:prSet presAssocID="{14BC708E-A0A1-4102-88E4-E75128B4E51E}" presName="rect1" presStyleLbl="bgImgPlace1" presStyleIdx="0" presStyleCnt="2"/>
      <dgm:spPr>
        <a:blipFill rotWithShape="1">
          <a:blip xmlns:r="http://schemas.openxmlformats.org/officeDocument/2006/relationships" r:embed="rId1"/>
          <a:stretch>
            <a:fillRect/>
          </a:stretch>
        </a:blipFill>
      </dgm:spPr>
      <dgm:t>
        <a:bodyPr/>
        <a:lstStyle/>
        <a:p>
          <a:endParaRPr lang="en-US"/>
        </a:p>
      </dgm:t>
    </dgm:pt>
    <dgm:pt modelId="{5B33F78E-17BC-4881-B894-89B5E75C62A6}" type="pres">
      <dgm:prSet presAssocID="{14BC708E-A0A1-4102-88E4-E75128B4E51E}" presName="wedgeRectCallout1" presStyleLbl="node1" presStyleIdx="0" presStyleCnt="2">
        <dgm:presLayoutVars>
          <dgm:bulletEnabled val="1"/>
        </dgm:presLayoutVars>
      </dgm:prSet>
      <dgm:spPr/>
      <dgm:t>
        <a:bodyPr/>
        <a:lstStyle/>
        <a:p>
          <a:endParaRPr lang="en-US"/>
        </a:p>
      </dgm:t>
    </dgm:pt>
    <dgm:pt modelId="{256931B3-AFE2-4701-89C6-5B8F53D55C5B}" type="pres">
      <dgm:prSet presAssocID="{7519C821-85FB-4CA3-BEB5-E4BFBC529B83}" presName="sibTrans" presStyleCnt="0"/>
      <dgm:spPr/>
    </dgm:pt>
    <dgm:pt modelId="{AB083F9C-D30D-4D1F-89B0-46B74F9715EC}" type="pres">
      <dgm:prSet presAssocID="{1C04050E-AFE5-4385-A44F-F60D5D3A552E}" presName="composite" presStyleCnt="0"/>
      <dgm:spPr/>
    </dgm:pt>
    <dgm:pt modelId="{B1572288-1943-429E-B348-20DD2E302961}" type="pres">
      <dgm:prSet presAssocID="{1C04050E-AFE5-4385-A44F-F60D5D3A552E}" presName="rect1" presStyleLbl="bgImgPlace1" presStyleIdx="1" presStyleCnt="2"/>
      <dgm:spPr>
        <a:blipFill rotWithShape="1">
          <a:blip xmlns:r="http://schemas.openxmlformats.org/officeDocument/2006/relationships" r:embed="rId2"/>
          <a:stretch>
            <a:fillRect/>
          </a:stretch>
        </a:blipFill>
      </dgm:spPr>
      <dgm:t>
        <a:bodyPr/>
        <a:lstStyle/>
        <a:p>
          <a:endParaRPr lang="en-US"/>
        </a:p>
      </dgm:t>
    </dgm:pt>
    <dgm:pt modelId="{EB0EF884-4CB0-463A-95FC-F28C99CE7AA2}" type="pres">
      <dgm:prSet presAssocID="{1C04050E-AFE5-4385-A44F-F60D5D3A552E}" presName="wedgeRectCallout1" presStyleLbl="node1" presStyleIdx="1" presStyleCnt="2">
        <dgm:presLayoutVars>
          <dgm:bulletEnabled val="1"/>
        </dgm:presLayoutVars>
      </dgm:prSet>
      <dgm:spPr/>
      <dgm:t>
        <a:bodyPr/>
        <a:lstStyle/>
        <a:p>
          <a:endParaRPr lang="en-US"/>
        </a:p>
      </dgm:t>
    </dgm:pt>
  </dgm:ptLst>
  <dgm:cxnLst>
    <dgm:cxn modelId="{1F070A38-5E5E-4DA4-BB32-ADD60459B987}" type="presOf" srcId="{1C04050E-AFE5-4385-A44F-F60D5D3A552E}" destId="{EB0EF884-4CB0-463A-95FC-F28C99CE7AA2}" srcOrd="0" destOrd="0" presId="urn:microsoft.com/office/officeart/2008/layout/BendingPictureCaptionList"/>
    <dgm:cxn modelId="{2FAF10BC-91BB-4B10-9EA8-BF97550958BE}" type="presOf" srcId="{14BC708E-A0A1-4102-88E4-E75128B4E51E}" destId="{5B33F78E-17BC-4881-B894-89B5E75C62A6}" srcOrd="0" destOrd="0" presId="urn:microsoft.com/office/officeart/2008/layout/BendingPictureCaptionList"/>
    <dgm:cxn modelId="{31ACD47A-C7E9-4872-8B63-62D5612EAC5E}" type="presOf" srcId="{E1B432F4-5FDB-4518-9272-2F3934AC6AA2}" destId="{039E8A05-62C7-4967-84A4-6A4AE033C53A}" srcOrd="0" destOrd="0" presId="urn:microsoft.com/office/officeart/2008/layout/BendingPictureCaptionList"/>
    <dgm:cxn modelId="{C482F346-1F44-49A1-835E-2D71BCC99857}" srcId="{E1B432F4-5FDB-4518-9272-2F3934AC6AA2}" destId="{1C04050E-AFE5-4385-A44F-F60D5D3A552E}" srcOrd="1" destOrd="0" parTransId="{E7B5D996-1B31-4995-881E-61807BD85693}" sibTransId="{AB02C719-38DA-42A1-A0B4-65BBA480DB38}"/>
    <dgm:cxn modelId="{EB9839C5-F324-41C4-8950-5284E09FB71E}" srcId="{E1B432F4-5FDB-4518-9272-2F3934AC6AA2}" destId="{14BC708E-A0A1-4102-88E4-E75128B4E51E}" srcOrd="0" destOrd="0" parTransId="{CF221EFF-354A-47A9-A498-1F0BBF01ECB8}" sibTransId="{7519C821-85FB-4CA3-BEB5-E4BFBC529B83}"/>
    <dgm:cxn modelId="{6818E88F-FDFE-484D-80B1-AE33FE049A02}" type="presParOf" srcId="{039E8A05-62C7-4967-84A4-6A4AE033C53A}" destId="{85D769E3-6DAD-47E4-B6F7-A048CCDE8E9C}" srcOrd="0" destOrd="0" presId="urn:microsoft.com/office/officeart/2008/layout/BendingPictureCaptionList"/>
    <dgm:cxn modelId="{7E24AD06-6AD3-4D4D-8F48-585820DE4536}" type="presParOf" srcId="{85D769E3-6DAD-47E4-B6F7-A048CCDE8E9C}" destId="{B3D12362-0BDB-49E9-B941-0039C7BEEE94}" srcOrd="0" destOrd="0" presId="urn:microsoft.com/office/officeart/2008/layout/BendingPictureCaptionList"/>
    <dgm:cxn modelId="{AB7AD82D-24CB-47BF-8C67-DB2506332BFA}" type="presParOf" srcId="{85D769E3-6DAD-47E4-B6F7-A048CCDE8E9C}" destId="{5B33F78E-17BC-4881-B894-89B5E75C62A6}" srcOrd="1" destOrd="0" presId="urn:microsoft.com/office/officeart/2008/layout/BendingPictureCaptionList"/>
    <dgm:cxn modelId="{95CE7614-A279-4273-9D0C-B3CDF9794C3A}" type="presParOf" srcId="{039E8A05-62C7-4967-84A4-6A4AE033C53A}" destId="{256931B3-AFE2-4701-89C6-5B8F53D55C5B}" srcOrd="1" destOrd="0" presId="urn:microsoft.com/office/officeart/2008/layout/BendingPictureCaptionList"/>
    <dgm:cxn modelId="{0BFE1D1F-127A-475A-BC07-97CC0627240B}" type="presParOf" srcId="{039E8A05-62C7-4967-84A4-6A4AE033C53A}" destId="{AB083F9C-D30D-4D1F-89B0-46B74F9715EC}" srcOrd="2" destOrd="0" presId="urn:microsoft.com/office/officeart/2008/layout/BendingPictureCaptionList"/>
    <dgm:cxn modelId="{B8C6C59C-0590-4499-BA8D-46D066D2CDCB}" type="presParOf" srcId="{AB083F9C-D30D-4D1F-89B0-46B74F9715EC}" destId="{B1572288-1943-429E-B348-20DD2E302961}" srcOrd="0" destOrd="0" presId="urn:microsoft.com/office/officeart/2008/layout/BendingPictureCaptionList"/>
    <dgm:cxn modelId="{66B37E01-8F76-4030-BD9F-6917930A1E51}" type="presParOf" srcId="{AB083F9C-D30D-4D1F-89B0-46B74F9715EC}" destId="{EB0EF884-4CB0-463A-95FC-F28C99CE7AA2}" srcOrd="1" destOrd="0" presId="urn:microsoft.com/office/officeart/2008/layout/BendingPictureCa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1B432F4-5FDB-4518-9272-2F3934AC6AA2}" type="doc">
      <dgm:prSet loTypeId="urn:microsoft.com/office/officeart/2005/8/layout/default" loCatId="list" qsTypeId="urn:microsoft.com/office/officeart/2005/8/quickstyle/3d5" qsCatId="3D" csTypeId="urn:microsoft.com/office/officeart/2005/8/colors/colorful1" csCatId="colorful" phldr="1"/>
      <dgm:spPr/>
      <dgm:t>
        <a:bodyPr/>
        <a:lstStyle/>
        <a:p>
          <a:endParaRPr lang="en-US"/>
        </a:p>
      </dgm:t>
    </dgm:pt>
    <dgm:pt modelId="{14BC708E-A0A1-4102-88E4-E75128B4E51E}">
      <dgm:prSet/>
      <dgm:spPr/>
      <dgm:t>
        <a:bodyPr/>
        <a:lstStyle/>
        <a:p>
          <a:pPr>
            <a:lnSpc>
              <a:spcPct val="100000"/>
            </a:lnSpc>
          </a:pPr>
          <a:r>
            <a:rPr lang="en-US" baseline="0" noProof="0" dirty="0" smtClean="0">
              <a:effectLst>
                <a:glow rad="152400">
                  <a:schemeClr val="bg1">
                    <a:alpha val="19000"/>
                  </a:schemeClr>
                </a:glow>
              </a:effectLst>
            </a:rPr>
            <a:t>Data</a:t>
          </a:r>
          <a:endParaRPr lang="en-US" baseline="0" noProof="0" dirty="0">
            <a:effectLst>
              <a:glow rad="152400">
                <a:schemeClr val="bg1">
                  <a:alpha val="19000"/>
                </a:schemeClr>
              </a:glow>
            </a:effectLst>
          </a:endParaRPr>
        </a:p>
      </dgm:t>
    </dgm:pt>
    <dgm:pt modelId="{CF221EFF-354A-47A9-A498-1F0BBF01ECB8}" type="par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519C821-85FB-4CA3-BEB5-E4BFBC529B83}" type="sib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C6D21269-399B-4BA2-8621-C7B9DA1E1B8F}">
      <dgm:prSet/>
      <dgm:spPr/>
      <dgm:t>
        <a:bodyPr/>
        <a:lstStyle/>
        <a:p>
          <a:pPr>
            <a:lnSpc>
              <a:spcPct val="100000"/>
            </a:lnSpc>
          </a:pPr>
          <a:r>
            <a:rPr lang="en-US" noProof="0" dirty="0" smtClean="0">
              <a:effectLst>
                <a:glow rad="152400">
                  <a:schemeClr val="bg1">
                    <a:alpha val="19000"/>
                  </a:schemeClr>
                </a:glow>
              </a:effectLst>
            </a:rPr>
            <a:t>Tools</a:t>
          </a:r>
          <a:endParaRPr lang="en-US" noProof="0" dirty="0">
            <a:effectLst>
              <a:glow rad="152400">
                <a:schemeClr val="bg1">
                  <a:alpha val="19000"/>
                </a:schemeClr>
              </a:glow>
            </a:effectLst>
          </a:endParaRPr>
        </a:p>
      </dgm:t>
    </dgm:pt>
    <dgm:pt modelId="{AA3929B3-1058-4240-AD5D-9518D4976567}" type="par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C79B0F2C-DDB4-44EB-89F7-717146B88B10}" type="sib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AA31514B-CD35-4CDB-A05D-1E65678AD7F7}">
      <dgm:prSet/>
      <dgm:spPr/>
      <dgm:t>
        <a:bodyPr/>
        <a:lstStyle/>
        <a:p>
          <a:r>
            <a:rPr lang="en-US" noProof="0" dirty="0" smtClean="0">
              <a:solidFill>
                <a:schemeClr val="bg1"/>
              </a:solidFill>
              <a:effectLst>
                <a:glow rad="152400">
                  <a:schemeClr val="bg1">
                    <a:alpha val="19000"/>
                  </a:schemeClr>
                </a:glow>
              </a:effectLst>
            </a:rPr>
            <a:t>Techniques</a:t>
          </a:r>
          <a:endParaRPr lang="en-US" noProof="0" dirty="0">
            <a:solidFill>
              <a:schemeClr val="bg1"/>
            </a:solidFill>
            <a:effectLst>
              <a:glow rad="152400">
                <a:schemeClr val="bg1">
                  <a:alpha val="19000"/>
                </a:schemeClr>
              </a:glow>
            </a:effectLst>
          </a:endParaRPr>
        </a:p>
      </dgm:t>
    </dgm:pt>
    <dgm:pt modelId="{532DC7DC-E661-41F5-AFB6-D27AE60D4E51}" type="parTrans" cxnId="{F15DCD4D-62E6-42B0-B010-62857DB3CC22}">
      <dgm:prSet/>
      <dgm:spPr/>
      <dgm:t>
        <a:bodyPr/>
        <a:lstStyle/>
        <a:p>
          <a:endParaRPr lang="en-US"/>
        </a:p>
      </dgm:t>
    </dgm:pt>
    <dgm:pt modelId="{D7E2E353-1A5C-448E-9F5B-81963C560F35}" type="sibTrans" cxnId="{F15DCD4D-62E6-42B0-B010-62857DB3CC22}">
      <dgm:prSet/>
      <dgm:spPr/>
      <dgm:t>
        <a:bodyPr/>
        <a:lstStyle/>
        <a:p>
          <a:endParaRPr lang="en-US"/>
        </a:p>
      </dgm:t>
    </dgm:pt>
    <dgm:pt modelId="{3D115864-4018-4A4B-BD03-A1CBA1991522}">
      <dgm:prSet/>
      <dgm:spPr/>
      <dgm:t>
        <a:bodyPr/>
        <a:lstStyle/>
        <a:p>
          <a:pPr>
            <a:lnSpc>
              <a:spcPct val="100000"/>
            </a:lnSpc>
          </a:pPr>
          <a:r>
            <a:rPr lang="en-US" baseline="0" noProof="0" dirty="0" smtClean="0">
              <a:effectLst>
                <a:glow rad="152400">
                  <a:schemeClr val="bg1">
                    <a:alpha val="19000"/>
                  </a:schemeClr>
                </a:glow>
              </a:effectLst>
            </a:rPr>
            <a:t>Accuracy and completeness of publically available data</a:t>
          </a:r>
          <a:endParaRPr lang="en-US" baseline="0" noProof="0" dirty="0">
            <a:effectLst>
              <a:glow rad="152400">
                <a:schemeClr val="bg1">
                  <a:alpha val="19000"/>
                </a:schemeClr>
              </a:glow>
            </a:effectLst>
          </a:endParaRPr>
        </a:p>
      </dgm:t>
    </dgm:pt>
    <dgm:pt modelId="{DD8E7D07-D47B-4E8F-97E6-DA3484B703B3}" type="parTrans" cxnId="{4DAFBE8A-329C-4253-A952-42FA97935D86}">
      <dgm:prSet/>
      <dgm:spPr/>
      <dgm:t>
        <a:bodyPr/>
        <a:lstStyle/>
        <a:p>
          <a:endParaRPr lang="en-US"/>
        </a:p>
      </dgm:t>
    </dgm:pt>
    <dgm:pt modelId="{5E517AA9-D22B-4B63-8222-A1D0932F3B02}" type="sibTrans" cxnId="{4DAFBE8A-329C-4253-A952-42FA97935D86}">
      <dgm:prSet/>
      <dgm:spPr/>
      <dgm:t>
        <a:bodyPr/>
        <a:lstStyle/>
        <a:p>
          <a:endParaRPr lang="en-US"/>
        </a:p>
      </dgm:t>
    </dgm:pt>
    <dgm:pt modelId="{97D1DAC7-422C-49B4-8810-9248E0DED08D}">
      <dgm:prSet/>
      <dgm:spPr/>
      <dgm:t>
        <a:bodyPr/>
        <a:lstStyle/>
        <a:p>
          <a:r>
            <a:rPr lang="en-US" noProof="0" dirty="0" smtClean="0">
              <a:effectLst>
                <a:glow rad="152400">
                  <a:schemeClr val="bg1">
                    <a:alpha val="19000"/>
                  </a:schemeClr>
                </a:glow>
              </a:effectLst>
            </a:rPr>
            <a:t>ARIMA</a:t>
          </a:r>
          <a:endParaRPr lang="en-US" noProof="0" dirty="0">
            <a:solidFill>
              <a:schemeClr val="bg1"/>
            </a:solidFill>
            <a:effectLst>
              <a:glow rad="152400">
                <a:schemeClr val="bg1">
                  <a:alpha val="19000"/>
                </a:schemeClr>
              </a:glow>
            </a:effectLst>
          </a:endParaRPr>
        </a:p>
      </dgm:t>
    </dgm:pt>
    <dgm:pt modelId="{D18CE9FD-03D6-4B70-8EE9-7833077D58B6}" type="parTrans" cxnId="{E76006C9-4C70-436D-A8E3-A8A95F7F183F}">
      <dgm:prSet/>
      <dgm:spPr/>
      <dgm:t>
        <a:bodyPr/>
        <a:lstStyle/>
        <a:p>
          <a:endParaRPr lang="en-US"/>
        </a:p>
      </dgm:t>
    </dgm:pt>
    <dgm:pt modelId="{4308FCE1-21B1-4659-AD16-C9F64F5468BE}" type="sibTrans" cxnId="{E76006C9-4C70-436D-A8E3-A8A95F7F183F}">
      <dgm:prSet/>
      <dgm:spPr/>
      <dgm:t>
        <a:bodyPr/>
        <a:lstStyle/>
        <a:p>
          <a:endParaRPr lang="en-US"/>
        </a:p>
      </dgm:t>
    </dgm:pt>
    <dgm:pt modelId="{DA9A7F04-50A2-4B2E-82C1-73F73BEB1C7B}">
      <dgm:prSet/>
      <dgm:spPr/>
      <dgm:t>
        <a:bodyPr/>
        <a:lstStyle/>
        <a:p>
          <a:pPr>
            <a:lnSpc>
              <a:spcPct val="100000"/>
            </a:lnSpc>
          </a:pPr>
          <a:r>
            <a:rPr lang="en-US" noProof="0" dirty="0" smtClean="0">
              <a:effectLst>
                <a:glow rad="152400">
                  <a:schemeClr val="bg1">
                    <a:alpha val="19000"/>
                  </a:schemeClr>
                </a:glow>
              </a:effectLst>
            </a:rPr>
            <a:t>Jupyter Notebook</a:t>
          </a:r>
          <a:endParaRPr lang="en-US" noProof="0" dirty="0">
            <a:effectLst>
              <a:glow rad="152400">
                <a:schemeClr val="bg1">
                  <a:alpha val="19000"/>
                </a:schemeClr>
              </a:glow>
            </a:effectLst>
          </a:endParaRPr>
        </a:p>
      </dgm:t>
    </dgm:pt>
    <dgm:pt modelId="{CEDB21FB-17DF-41D7-AB4A-25A66A9957B1}" type="parTrans" cxnId="{F4CB7D6B-17F6-4924-8D3F-99D0458D6E5D}">
      <dgm:prSet/>
      <dgm:spPr/>
      <dgm:t>
        <a:bodyPr/>
        <a:lstStyle/>
        <a:p>
          <a:endParaRPr lang="en-US"/>
        </a:p>
      </dgm:t>
    </dgm:pt>
    <dgm:pt modelId="{17C8E1E6-FAD1-4FA3-A0A0-906FC1D74744}" type="sibTrans" cxnId="{F4CB7D6B-17F6-4924-8D3F-99D0458D6E5D}">
      <dgm:prSet/>
      <dgm:spPr/>
      <dgm:t>
        <a:bodyPr/>
        <a:lstStyle/>
        <a:p>
          <a:endParaRPr lang="en-US"/>
        </a:p>
      </dgm:t>
    </dgm:pt>
    <dgm:pt modelId="{C21ADAC6-0DB2-4053-9A56-E77B95FC955C}">
      <dgm:prSet/>
      <dgm:spPr/>
      <dgm:t>
        <a:bodyPr/>
        <a:lstStyle/>
        <a:p>
          <a:pPr>
            <a:lnSpc>
              <a:spcPct val="100000"/>
            </a:lnSpc>
          </a:pPr>
          <a:r>
            <a:rPr lang="en-US" noProof="0" dirty="0" smtClean="0">
              <a:effectLst>
                <a:glow rad="152400">
                  <a:schemeClr val="bg1">
                    <a:alpha val="19000"/>
                  </a:schemeClr>
                </a:glow>
              </a:effectLst>
            </a:rPr>
            <a:t>Base Environment not starting </a:t>
          </a:r>
          <a:r>
            <a:rPr lang="en-US" dirty="0" smtClean="0"/>
            <a:t>(Minhas, 2025)</a:t>
          </a:r>
          <a:endParaRPr lang="en-US" noProof="0" dirty="0">
            <a:effectLst>
              <a:glow rad="152400">
                <a:schemeClr val="bg1">
                  <a:alpha val="19000"/>
                </a:schemeClr>
              </a:glow>
            </a:effectLst>
          </a:endParaRPr>
        </a:p>
      </dgm:t>
    </dgm:pt>
    <dgm:pt modelId="{477A55F7-8630-47FB-983E-2ACB8F50B2BF}" type="parTrans" cxnId="{7FA48ADE-8B44-482F-AB63-7F5BFB076FCA}">
      <dgm:prSet/>
      <dgm:spPr/>
      <dgm:t>
        <a:bodyPr/>
        <a:lstStyle/>
        <a:p>
          <a:endParaRPr lang="en-US"/>
        </a:p>
      </dgm:t>
    </dgm:pt>
    <dgm:pt modelId="{D61E059D-07CC-40D1-A8F7-309A22C8BAB2}" type="sibTrans" cxnId="{7FA48ADE-8B44-482F-AB63-7F5BFB076FCA}">
      <dgm:prSet/>
      <dgm:spPr/>
      <dgm:t>
        <a:bodyPr/>
        <a:lstStyle/>
        <a:p>
          <a:endParaRPr lang="en-US"/>
        </a:p>
      </dgm:t>
    </dgm:pt>
    <dgm:pt modelId="{750B1BCC-B4EE-41D2-862A-BC14B6496822}">
      <dgm:prSet/>
      <dgm:spPr/>
      <dgm:t>
        <a:bodyPr/>
        <a:lstStyle/>
        <a:p>
          <a:pPr>
            <a:lnSpc>
              <a:spcPct val="100000"/>
            </a:lnSpc>
          </a:pPr>
          <a:r>
            <a:rPr lang="en-US" noProof="0" dirty="0" smtClean="0">
              <a:effectLst>
                <a:glow rad="152400">
                  <a:schemeClr val="bg1">
                    <a:alpha val="19000"/>
                  </a:schemeClr>
                </a:glow>
              </a:effectLst>
            </a:rPr>
            <a:t>Matplotlib</a:t>
          </a:r>
          <a:endParaRPr lang="en-US" noProof="0" dirty="0">
            <a:effectLst>
              <a:glow rad="152400">
                <a:schemeClr val="bg1">
                  <a:alpha val="19000"/>
                </a:schemeClr>
              </a:glow>
            </a:effectLst>
          </a:endParaRPr>
        </a:p>
      </dgm:t>
    </dgm:pt>
    <dgm:pt modelId="{09432CE2-A424-49C1-9D6A-F64567C8B417}" type="parTrans" cxnId="{E7B43CD4-09F7-41E0-8518-BF510A75FB52}">
      <dgm:prSet/>
      <dgm:spPr/>
      <dgm:t>
        <a:bodyPr/>
        <a:lstStyle/>
        <a:p>
          <a:endParaRPr lang="en-US"/>
        </a:p>
      </dgm:t>
    </dgm:pt>
    <dgm:pt modelId="{6D5F542F-E4B7-45F9-93FD-8B18A7211730}" type="sibTrans" cxnId="{E7B43CD4-09F7-41E0-8518-BF510A75FB52}">
      <dgm:prSet/>
      <dgm:spPr/>
      <dgm:t>
        <a:bodyPr/>
        <a:lstStyle/>
        <a:p>
          <a:endParaRPr lang="en-US"/>
        </a:p>
      </dgm:t>
    </dgm:pt>
    <dgm:pt modelId="{445EF889-FA98-47B7-8EA0-47C3C95D0C52}">
      <dgm:prSet/>
      <dgm:spPr/>
      <dgm:t>
        <a:bodyPr/>
        <a:lstStyle/>
        <a:p>
          <a:pPr>
            <a:lnSpc>
              <a:spcPct val="100000"/>
            </a:lnSpc>
          </a:pPr>
          <a:r>
            <a:rPr lang="en-US" noProof="0" dirty="0" smtClean="0">
              <a:effectLst>
                <a:glow rad="152400">
                  <a:schemeClr val="bg1">
                    <a:alpha val="19000"/>
                  </a:schemeClr>
                </a:glow>
              </a:effectLst>
            </a:rPr>
            <a:t>Visualizations are static</a:t>
          </a:r>
          <a:endParaRPr lang="en-US" noProof="0" dirty="0">
            <a:effectLst>
              <a:glow rad="152400">
                <a:schemeClr val="bg1">
                  <a:alpha val="19000"/>
                </a:schemeClr>
              </a:glow>
            </a:effectLst>
          </a:endParaRPr>
        </a:p>
      </dgm:t>
    </dgm:pt>
    <dgm:pt modelId="{917A4110-725C-4B57-82A1-1DAED1C44BA7}" type="parTrans" cxnId="{D2716F6A-ACC9-4A63-A3E6-00FB8AF17CFA}">
      <dgm:prSet/>
      <dgm:spPr/>
      <dgm:t>
        <a:bodyPr/>
        <a:lstStyle/>
        <a:p>
          <a:endParaRPr lang="en-US"/>
        </a:p>
      </dgm:t>
    </dgm:pt>
    <dgm:pt modelId="{BD754BFB-941C-4C5B-BC02-104FC9DFABFC}" type="sibTrans" cxnId="{D2716F6A-ACC9-4A63-A3E6-00FB8AF17CFA}">
      <dgm:prSet/>
      <dgm:spPr/>
      <dgm:t>
        <a:bodyPr/>
        <a:lstStyle/>
        <a:p>
          <a:endParaRPr lang="en-US"/>
        </a:p>
      </dgm:t>
    </dgm:pt>
    <dgm:pt modelId="{DFEF21FD-A104-4E2F-B9C3-D058B043F55A}">
      <dgm:prSet/>
      <dgm:spPr/>
      <dgm:t>
        <a:bodyPr/>
        <a:lstStyle/>
        <a:p>
          <a:r>
            <a:rPr lang="en-US" noProof="0" dirty="0" smtClean="0">
              <a:effectLst>
                <a:glow rad="152400">
                  <a:schemeClr val="bg1">
                    <a:alpha val="19000"/>
                  </a:schemeClr>
                </a:glow>
              </a:effectLst>
            </a:rPr>
            <a:t>Not for long term forecasting </a:t>
          </a:r>
          <a:r>
            <a:rPr lang="en-US" dirty="0" smtClean="0"/>
            <a:t>(Hayes, 2026)</a:t>
          </a:r>
          <a:endParaRPr lang="en-US" noProof="0" dirty="0">
            <a:solidFill>
              <a:schemeClr val="bg1"/>
            </a:solidFill>
            <a:effectLst>
              <a:glow rad="152400">
                <a:schemeClr val="bg1">
                  <a:alpha val="19000"/>
                </a:schemeClr>
              </a:glow>
            </a:effectLst>
          </a:endParaRPr>
        </a:p>
      </dgm:t>
    </dgm:pt>
    <dgm:pt modelId="{2EDBF3C2-3EE2-4A2D-B838-AC1BB163B8B5}" type="parTrans" cxnId="{35A1742A-5E84-47DB-BAB1-2ADEA38C90CF}">
      <dgm:prSet/>
      <dgm:spPr/>
      <dgm:t>
        <a:bodyPr/>
        <a:lstStyle/>
        <a:p>
          <a:endParaRPr lang="en-US"/>
        </a:p>
      </dgm:t>
    </dgm:pt>
    <dgm:pt modelId="{E49EED13-47D6-403D-855E-C1E715B2BE48}" type="sibTrans" cxnId="{35A1742A-5E84-47DB-BAB1-2ADEA38C90CF}">
      <dgm:prSet/>
      <dgm:spPr/>
      <dgm:t>
        <a:bodyPr/>
        <a:lstStyle/>
        <a:p>
          <a:endParaRPr lang="en-US"/>
        </a:p>
      </dgm:t>
    </dgm:pt>
    <dgm:pt modelId="{3981C2D8-08C8-4BE8-A87D-7D3681A3173A}">
      <dgm:prSet/>
      <dgm:spPr/>
      <dgm:t>
        <a:bodyPr/>
        <a:lstStyle/>
        <a:p>
          <a:r>
            <a:rPr lang="en-US" noProof="0" dirty="0" smtClean="0">
              <a:effectLst>
                <a:glow rad="152400">
                  <a:schemeClr val="bg1">
                    <a:alpha val="19000"/>
                  </a:schemeClr>
                </a:glow>
              </a:effectLst>
            </a:rPr>
            <a:t>Only uses historical data</a:t>
          </a:r>
          <a:endParaRPr lang="en-US" noProof="0" dirty="0">
            <a:solidFill>
              <a:schemeClr val="bg1"/>
            </a:solidFill>
            <a:effectLst>
              <a:glow rad="152400">
                <a:schemeClr val="bg1">
                  <a:alpha val="19000"/>
                </a:schemeClr>
              </a:glow>
            </a:effectLst>
          </a:endParaRPr>
        </a:p>
      </dgm:t>
    </dgm:pt>
    <dgm:pt modelId="{2D8B530E-5F96-447A-AD20-6BC50538A8D5}" type="parTrans" cxnId="{044DC385-992C-45DC-8660-382948FD65A7}">
      <dgm:prSet/>
      <dgm:spPr/>
      <dgm:t>
        <a:bodyPr/>
        <a:lstStyle/>
        <a:p>
          <a:endParaRPr lang="en-US"/>
        </a:p>
      </dgm:t>
    </dgm:pt>
    <dgm:pt modelId="{8BE15BB3-BAB2-4EC7-8B30-7F77001AA439}" type="sibTrans" cxnId="{044DC385-992C-45DC-8660-382948FD65A7}">
      <dgm:prSet/>
      <dgm:spPr/>
      <dgm:t>
        <a:bodyPr/>
        <a:lstStyle/>
        <a:p>
          <a:endParaRPr lang="en-US"/>
        </a:p>
      </dgm:t>
    </dgm:pt>
    <dgm:pt modelId="{AC59F9CA-2111-4F2E-8415-C4E31B7A9459}">
      <dgm:prSet/>
      <dgm:spPr/>
      <dgm:t>
        <a:bodyPr/>
        <a:lstStyle/>
        <a:p>
          <a:r>
            <a:rPr lang="en-US" noProof="0" dirty="0" smtClean="0">
              <a:effectLst>
                <a:glow rad="152400">
                  <a:schemeClr val="bg1">
                    <a:alpha val="19000"/>
                  </a:schemeClr>
                </a:glow>
              </a:effectLst>
            </a:rPr>
            <a:t>Auto_arima</a:t>
          </a:r>
          <a:endParaRPr lang="en-US" noProof="0" dirty="0">
            <a:solidFill>
              <a:schemeClr val="bg1"/>
            </a:solidFill>
            <a:effectLst>
              <a:glow rad="152400">
                <a:schemeClr val="bg1">
                  <a:alpha val="19000"/>
                </a:schemeClr>
              </a:glow>
            </a:effectLst>
          </a:endParaRPr>
        </a:p>
      </dgm:t>
    </dgm:pt>
    <dgm:pt modelId="{415AC622-D8E0-49C2-A97D-416DFD3A1263}" type="parTrans" cxnId="{78BF8BA7-4734-4930-A51D-5B9F8C825FB3}">
      <dgm:prSet/>
      <dgm:spPr/>
      <dgm:t>
        <a:bodyPr/>
        <a:lstStyle/>
        <a:p>
          <a:endParaRPr lang="en-US"/>
        </a:p>
      </dgm:t>
    </dgm:pt>
    <dgm:pt modelId="{2F260405-D9C3-4D87-95F7-3A888F816957}" type="sibTrans" cxnId="{78BF8BA7-4734-4930-A51D-5B9F8C825FB3}">
      <dgm:prSet/>
      <dgm:spPr/>
      <dgm:t>
        <a:bodyPr/>
        <a:lstStyle/>
        <a:p>
          <a:endParaRPr lang="en-US"/>
        </a:p>
      </dgm:t>
    </dgm:pt>
    <dgm:pt modelId="{C536C06F-37CB-4AA1-8884-96E07DB24D42}">
      <dgm:prSet/>
      <dgm:spPr/>
      <dgm:t>
        <a:bodyPr/>
        <a:lstStyle/>
        <a:p>
          <a:r>
            <a:rPr lang="en-US" noProof="0" dirty="0" smtClean="0">
              <a:effectLst>
                <a:glow rad="152400">
                  <a:schemeClr val="bg1">
                    <a:alpha val="19000"/>
                  </a:schemeClr>
                </a:glow>
              </a:effectLst>
            </a:rPr>
            <a:t>Don’t get to see how well other models perform</a:t>
          </a:r>
        </a:p>
        <a:p>
          <a:pPr>
            <a:lnSpc>
              <a:spcPct val="100000"/>
            </a:lnSpc>
          </a:pPr>
          <a:endParaRPr lang="en-US" noProof="0" dirty="0">
            <a:solidFill>
              <a:schemeClr val="bg1"/>
            </a:solidFill>
            <a:effectLst>
              <a:glow rad="152400">
                <a:schemeClr val="bg1">
                  <a:alpha val="19000"/>
                </a:schemeClr>
              </a:glow>
            </a:effectLst>
          </a:endParaRPr>
        </a:p>
      </dgm:t>
    </dgm:pt>
    <dgm:pt modelId="{135264BE-64F3-44A8-BE59-171687F8187D}" type="parTrans" cxnId="{B5239D73-06DB-4F33-ABB8-B30B16647369}">
      <dgm:prSet/>
      <dgm:spPr/>
      <dgm:t>
        <a:bodyPr/>
        <a:lstStyle/>
        <a:p>
          <a:endParaRPr lang="en-US"/>
        </a:p>
      </dgm:t>
    </dgm:pt>
    <dgm:pt modelId="{95B859A2-2494-4506-864E-A79E86CAA366}" type="sibTrans" cxnId="{B5239D73-06DB-4F33-ABB8-B30B16647369}">
      <dgm:prSet/>
      <dgm:spPr/>
      <dgm:t>
        <a:bodyPr/>
        <a:lstStyle/>
        <a:p>
          <a:endParaRPr lang="en-US"/>
        </a:p>
      </dgm:t>
    </dgm:pt>
    <dgm:pt modelId="{9624D79E-AA57-4580-8325-CD7818EED751}" type="pres">
      <dgm:prSet presAssocID="{E1B432F4-5FDB-4518-9272-2F3934AC6AA2}" presName="diagram" presStyleCnt="0">
        <dgm:presLayoutVars>
          <dgm:dir/>
          <dgm:resizeHandles val="exact"/>
        </dgm:presLayoutVars>
      </dgm:prSet>
      <dgm:spPr/>
      <dgm:t>
        <a:bodyPr/>
        <a:lstStyle/>
        <a:p>
          <a:endParaRPr lang="en-US"/>
        </a:p>
      </dgm:t>
    </dgm:pt>
    <dgm:pt modelId="{8B5DE511-231A-42FC-BF48-F87FDCB331F7}" type="pres">
      <dgm:prSet presAssocID="{14BC708E-A0A1-4102-88E4-E75128B4E51E}" presName="node" presStyleLbl="node1" presStyleIdx="0" presStyleCnt="3">
        <dgm:presLayoutVars>
          <dgm:bulletEnabled val="1"/>
        </dgm:presLayoutVars>
      </dgm:prSet>
      <dgm:spPr/>
      <dgm:t>
        <a:bodyPr/>
        <a:lstStyle/>
        <a:p>
          <a:endParaRPr lang="en-US"/>
        </a:p>
      </dgm:t>
    </dgm:pt>
    <dgm:pt modelId="{00E5C84E-A613-4A87-B46E-8263DAB18F00}" type="pres">
      <dgm:prSet presAssocID="{7519C821-85FB-4CA3-BEB5-E4BFBC529B83}" presName="sibTrans" presStyleCnt="0"/>
      <dgm:spPr/>
      <dgm:t>
        <a:bodyPr/>
        <a:lstStyle/>
        <a:p>
          <a:endParaRPr lang="en-US"/>
        </a:p>
      </dgm:t>
    </dgm:pt>
    <dgm:pt modelId="{2C2F33D4-FF6D-4BFD-A952-3EE29B0925EA}" type="pres">
      <dgm:prSet presAssocID="{C6D21269-399B-4BA2-8621-C7B9DA1E1B8F}" presName="node" presStyleLbl="node1" presStyleIdx="1" presStyleCnt="3">
        <dgm:presLayoutVars>
          <dgm:bulletEnabled val="1"/>
        </dgm:presLayoutVars>
      </dgm:prSet>
      <dgm:spPr/>
      <dgm:t>
        <a:bodyPr/>
        <a:lstStyle/>
        <a:p>
          <a:endParaRPr lang="en-US"/>
        </a:p>
      </dgm:t>
    </dgm:pt>
    <dgm:pt modelId="{54A3A561-6344-4037-B256-45DCDA964A95}" type="pres">
      <dgm:prSet presAssocID="{C79B0F2C-DDB4-44EB-89F7-717146B88B10}" presName="sibTrans" presStyleCnt="0"/>
      <dgm:spPr/>
      <dgm:t>
        <a:bodyPr/>
        <a:lstStyle/>
        <a:p>
          <a:endParaRPr lang="en-US"/>
        </a:p>
      </dgm:t>
    </dgm:pt>
    <dgm:pt modelId="{384A10FE-84FD-49AD-94CA-BEBCE28F8FDC}" type="pres">
      <dgm:prSet presAssocID="{AA31514B-CD35-4CDB-A05D-1E65678AD7F7}" presName="node" presStyleLbl="node1" presStyleIdx="2" presStyleCnt="3">
        <dgm:presLayoutVars>
          <dgm:bulletEnabled val="1"/>
        </dgm:presLayoutVars>
      </dgm:prSet>
      <dgm:spPr/>
      <dgm:t>
        <a:bodyPr/>
        <a:lstStyle/>
        <a:p>
          <a:endParaRPr lang="en-US"/>
        </a:p>
      </dgm:t>
    </dgm:pt>
  </dgm:ptLst>
  <dgm:cxnLst>
    <dgm:cxn modelId="{35A1742A-5E84-47DB-BAB1-2ADEA38C90CF}" srcId="{97D1DAC7-422C-49B4-8810-9248E0DED08D}" destId="{DFEF21FD-A104-4E2F-B9C3-D058B043F55A}" srcOrd="0" destOrd="0" parTransId="{2EDBF3C2-3EE2-4A2D-B838-AC1BB163B8B5}" sibTransId="{E49EED13-47D6-403D-855E-C1E715B2BE48}"/>
    <dgm:cxn modelId="{78BF8BA7-4734-4930-A51D-5B9F8C825FB3}" srcId="{AA31514B-CD35-4CDB-A05D-1E65678AD7F7}" destId="{AC59F9CA-2111-4F2E-8415-C4E31B7A9459}" srcOrd="1" destOrd="0" parTransId="{415AC622-D8E0-49C2-A97D-416DFD3A1263}" sibTransId="{2F260405-D9C3-4D87-95F7-3A888F816957}"/>
    <dgm:cxn modelId="{76C263BF-7C24-45E2-BA42-CD8EB648B35D}" type="presOf" srcId="{C6D21269-399B-4BA2-8621-C7B9DA1E1B8F}" destId="{2C2F33D4-FF6D-4BFD-A952-3EE29B0925EA}" srcOrd="0" destOrd="0" presId="urn:microsoft.com/office/officeart/2005/8/layout/default"/>
    <dgm:cxn modelId="{1B6D6709-9204-46AC-9466-C3C6AA3D8D74}" type="presOf" srcId="{3981C2D8-08C8-4BE8-A87D-7D3681A3173A}" destId="{384A10FE-84FD-49AD-94CA-BEBCE28F8FDC}" srcOrd="0" destOrd="3" presId="urn:microsoft.com/office/officeart/2005/8/layout/default"/>
    <dgm:cxn modelId="{325EE432-0574-47E2-97B2-0F81C4C8321F}" type="presOf" srcId="{DFEF21FD-A104-4E2F-B9C3-D058B043F55A}" destId="{384A10FE-84FD-49AD-94CA-BEBCE28F8FDC}" srcOrd="0" destOrd="2" presId="urn:microsoft.com/office/officeart/2005/8/layout/default"/>
    <dgm:cxn modelId="{12F85AD1-8D08-4FAF-A156-D2D750718D6F}" type="presOf" srcId="{3D115864-4018-4A4B-BD03-A1CBA1991522}" destId="{8B5DE511-231A-42FC-BF48-F87FDCB331F7}" srcOrd="0" destOrd="1" presId="urn:microsoft.com/office/officeart/2005/8/layout/default"/>
    <dgm:cxn modelId="{D2716F6A-ACC9-4A63-A3E6-00FB8AF17CFA}" srcId="{750B1BCC-B4EE-41D2-862A-BC14B6496822}" destId="{445EF889-FA98-47B7-8EA0-47C3C95D0C52}" srcOrd="0" destOrd="0" parTransId="{917A4110-725C-4B57-82A1-1DAED1C44BA7}" sibTransId="{BD754BFB-941C-4C5B-BC02-104FC9DFABFC}"/>
    <dgm:cxn modelId="{E4AD895B-72A4-4A6B-A7F4-C77A53EC51BC}" srcId="{E1B432F4-5FDB-4518-9272-2F3934AC6AA2}" destId="{C6D21269-399B-4BA2-8621-C7B9DA1E1B8F}" srcOrd="1" destOrd="0" parTransId="{AA3929B3-1058-4240-AD5D-9518D4976567}" sibTransId="{C79B0F2C-DDB4-44EB-89F7-717146B88B10}"/>
    <dgm:cxn modelId="{6F0C55BA-6647-4C37-B6AC-340BA77CE60A}" type="presOf" srcId="{C536C06F-37CB-4AA1-8884-96E07DB24D42}" destId="{384A10FE-84FD-49AD-94CA-BEBCE28F8FDC}" srcOrd="0" destOrd="5" presId="urn:microsoft.com/office/officeart/2005/8/layout/default"/>
    <dgm:cxn modelId="{F4CB7D6B-17F6-4924-8D3F-99D0458D6E5D}" srcId="{C6D21269-399B-4BA2-8621-C7B9DA1E1B8F}" destId="{DA9A7F04-50A2-4B2E-82C1-73F73BEB1C7B}" srcOrd="0" destOrd="0" parTransId="{CEDB21FB-17DF-41D7-AB4A-25A66A9957B1}" sibTransId="{17C8E1E6-FAD1-4FA3-A0A0-906FC1D74744}"/>
    <dgm:cxn modelId="{0BFD82C6-BF91-4FF8-A2CF-C13206F146DC}" type="presOf" srcId="{AA31514B-CD35-4CDB-A05D-1E65678AD7F7}" destId="{384A10FE-84FD-49AD-94CA-BEBCE28F8FDC}" srcOrd="0" destOrd="0" presId="urn:microsoft.com/office/officeart/2005/8/layout/default"/>
    <dgm:cxn modelId="{F15DCD4D-62E6-42B0-B010-62857DB3CC22}" srcId="{E1B432F4-5FDB-4518-9272-2F3934AC6AA2}" destId="{AA31514B-CD35-4CDB-A05D-1E65678AD7F7}" srcOrd="2" destOrd="0" parTransId="{532DC7DC-E661-41F5-AFB6-D27AE60D4E51}" sibTransId="{D7E2E353-1A5C-448E-9F5B-81963C560F35}"/>
    <dgm:cxn modelId="{E7B43CD4-09F7-41E0-8518-BF510A75FB52}" srcId="{C6D21269-399B-4BA2-8621-C7B9DA1E1B8F}" destId="{750B1BCC-B4EE-41D2-862A-BC14B6496822}" srcOrd="1" destOrd="0" parTransId="{09432CE2-A424-49C1-9D6A-F64567C8B417}" sibTransId="{6D5F542F-E4B7-45F9-93FD-8B18A7211730}"/>
    <dgm:cxn modelId="{E76006C9-4C70-436D-A8E3-A8A95F7F183F}" srcId="{AA31514B-CD35-4CDB-A05D-1E65678AD7F7}" destId="{97D1DAC7-422C-49B4-8810-9248E0DED08D}" srcOrd="0" destOrd="0" parTransId="{D18CE9FD-03D6-4B70-8EE9-7833077D58B6}" sibTransId="{4308FCE1-21B1-4659-AD16-C9F64F5468BE}"/>
    <dgm:cxn modelId="{E10D6087-1A0B-4B3F-A0BC-EF3BC2B2C6E8}" type="presOf" srcId="{97D1DAC7-422C-49B4-8810-9248E0DED08D}" destId="{384A10FE-84FD-49AD-94CA-BEBCE28F8FDC}" srcOrd="0" destOrd="1" presId="urn:microsoft.com/office/officeart/2005/8/layout/default"/>
    <dgm:cxn modelId="{5B8E6DA6-59BF-4B38-A823-75352EB4A45C}" type="presOf" srcId="{750B1BCC-B4EE-41D2-862A-BC14B6496822}" destId="{2C2F33D4-FF6D-4BFD-A952-3EE29B0925EA}" srcOrd="0" destOrd="3" presId="urn:microsoft.com/office/officeart/2005/8/layout/default"/>
    <dgm:cxn modelId="{EB9839C5-F324-41C4-8950-5284E09FB71E}" srcId="{E1B432F4-5FDB-4518-9272-2F3934AC6AA2}" destId="{14BC708E-A0A1-4102-88E4-E75128B4E51E}" srcOrd="0" destOrd="0" parTransId="{CF221EFF-354A-47A9-A498-1F0BBF01ECB8}" sibTransId="{7519C821-85FB-4CA3-BEB5-E4BFBC529B83}"/>
    <dgm:cxn modelId="{651AC910-AB12-4797-8AC8-BC42368825EC}" type="presOf" srcId="{DA9A7F04-50A2-4B2E-82C1-73F73BEB1C7B}" destId="{2C2F33D4-FF6D-4BFD-A952-3EE29B0925EA}" srcOrd="0" destOrd="1" presId="urn:microsoft.com/office/officeart/2005/8/layout/default"/>
    <dgm:cxn modelId="{3FDF3080-88B7-41D0-8B30-296F13D9F792}" type="presOf" srcId="{445EF889-FA98-47B7-8EA0-47C3C95D0C52}" destId="{2C2F33D4-FF6D-4BFD-A952-3EE29B0925EA}" srcOrd="0" destOrd="4" presId="urn:microsoft.com/office/officeart/2005/8/layout/default"/>
    <dgm:cxn modelId="{9CE66A34-C696-4C12-94B8-51D626BDD5A0}" type="presOf" srcId="{C21ADAC6-0DB2-4053-9A56-E77B95FC955C}" destId="{2C2F33D4-FF6D-4BFD-A952-3EE29B0925EA}" srcOrd="0" destOrd="2" presId="urn:microsoft.com/office/officeart/2005/8/layout/default"/>
    <dgm:cxn modelId="{7FA48ADE-8B44-482F-AB63-7F5BFB076FCA}" srcId="{DA9A7F04-50A2-4B2E-82C1-73F73BEB1C7B}" destId="{C21ADAC6-0DB2-4053-9A56-E77B95FC955C}" srcOrd="0" destOrd="0" parTransId="{477A55F7-8630-47FB-983E-2ACB8F50B2BF}" sibTransId="{D61E059D-07CC-40D1-A8F7-309A22C8BAB2}"/>
    <dgm:cxn modelId="{044DC385-992C-45DC-8660-382948FD65A7}" srcId="{97D1DAC7-422C-49B4-8810-9248E0DED08D}" destId="{3981C2D8-08C8-4BE8-A87D-7D3681A3173A}" srcOrd="1" destOrd="0" parTransId="{2D8B530E-5F96-447A-AD20-6BC50538A8D5}" sibTransId="{8BE15BB3-BAB2-4EC7-8B30-7F77001AA439}"/>
    <dgm:cxn modelId="{09B0A5C3-C2A3-42FB-9AD6-74CBD6EBEF38}" type="presOf" srcId="{E1B432F4-5FDB-4518-9272-2F3934AC6AA2}" destId="{9624D79E-AA57-4580-8325-CD7818EED751}" srcOrd="0" destOrd="0" presId="urn:microsoft.com/office/officeart/2005/8/layout/default"/>
    <dgm:cxn modelId="{A619EA1F-CFE7-4329-8555-F8A31D3127CE}" type="presOf" srcId="{AC59F9CA-2111-4F2E-8415-C4E31B7A9459}" destId="{384A10FE-84FD-49AD-94CA-BEBCE28F8FDC}" srcOrd="0" destOrd="4" presId="urn:microsoft.com/office/officeart/2005/8/layout/default"/>
    <dgm:cxn modelId="{B5239D73-06DB-4F33-ABB8-B30B16647369}" srcId="{AC59F9CA-2111-4F2E-8415-C4E31B7A9459}" destId="{C536C06F-37CB-4AA1-8884-96E07DB24D42}" srcOrd="0" destOrd="0" parTransId="{135264BE-64F3-44A8-BE59-171687F8187D}" sibTransId="{95B859A2-2494-4506-864E-A79E86CAA366}"/>
    <dgm:cxn modelId="{4DAFBE8A-329C-4253-A952-42FA97935D86}" srcId="{14BC708E-A0A1-4102-88E4-E75128B4E51E}" destId="{3D115864-4018-4A4B-BD03-A1CBA1991522}" srcOrd="0" destOrd="0" parTransId="{DD8E7D07-D47B-4E8F-97E6-DA3484B703B3}" sibTransId="{5E517AA9-D22B-4B63-8222-A1D0932F3B02}"/>
    <dgm:cxn modelId="{025FE363-91AE-44EB-9474-92DF1E56F72F}" type="presOf" srcId="{14BC708E-A0A1-4102-88E4-E75128B4E51E}" destId="{8B5DE511-231A-42FC-BF48-F87FDCB331F7}" srcOrd="0" destOrd="0" presId="urn:microsoft.com/office/officeart/2005/8/layout/default"/>
    <dgm:cxn modelId="{546FBEA9-B13E-4E40-82C9-4827E49A1579}" type="presParOf" srcId="{9624D79E-AA57-4580-8325-CD7818EED751}" destId="{8B5DE511-231A-42FC-BF48-F87FDCB331F7}" srcOrd="0" destOrd="0" presId="urn:microsoft.com/office/officeart/2005/8/layout/default"/>
    <dgm:cxn modelId="{FC01A272-829B-4F15-A38E-9096942D8E01}" type="presParOf" srcId="{9624D79E-AA57-4580-8325-CD7818EED751}" destId="{00E5C84E-A613-4A87-B46E-8263DAB18F00}" srcOrd="1" destOrd="0" presId="urn:microsoft.com/office/officeart/2005/8/layout/default"/>
    <dgm:cxn modelId="{6E9EA989-C2AE-4F56-9F99-C570A8CDCC7E}" type="presParOf" srcId="{9624D79E-AA57-4580-8325-CD7818EED751}" destId="{2C2F33D4-FF6D-4BFD-A952-3EE29B0925EA}" srcOrd="2" destOrd="0" presId="urn:microsoft.com/office/officeart/2005/8/layout/default"/>
    <dgm:cxn modelId="{007BED8A-9AF3-4258-AE54-898A9B75F32F}" type="presParOf" srcId="{9624D79E-AA57-4580-8325-CD7818EED751}" destId="{54A3A561-6344-4037-B256-45DCDA964A95}" srcOrd="3" destOrd="0" presId="urn:microsoft.com/office/officeart/2005/8/layout/default"/>
    <dgm:cxn modelId="{5366E5C7-341B-40CF-BC93-6B7E982A465E}" type="presParOf" srcId="{9624D79E-AA57-4580-8325-CD7818EED751}" destId="{384A10FE-84FD-49AD-94CA-BEBCE28F8FDC}"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1B432F4-5FDB-4518-9272-2F3934AC6AA2}" type="doc">
      <dgm:prSet loTypeId="urn:microsoft.com/office/officeart/2005/8/layout/target3" loCatId="list" qsTypeId="urn:microsoft.com/office/officeart/2005/8/quickstyle/3d3" qsCatId="3D" csTypeId="urn:microsoft.com/office/officeart/2005/8/colors/colorful1" csCatId="colorful" phldr="1"/>
      <dgm:spPr/>
      <dgm:t>
        <a:bodyPr/>
        <a:lstStyle/>
        <a:p>
          <a:endParaRPr lang="en-US"/>
        </a:p>
      </dgm:t>
    </dgm:pt>
    <dgm:pt modelId="{14BC708E-A0A1-4102-88E4-E75128B4E51E}">
      <dgm:prSet/>
      <dgm:spPr/>
      <dgm:t>
        <a:bodyPr/>
        <a:lstStyle/>
        <a:p>
          <a:pPr>
            <a:lnSpc>
              <a:spcPct val="100000"/>
            </a:lnSpc>
          </a:pPr>
          <a:r>
            <a:rPr lang="en-US" baseline="0" noProof="0" dirty="0" smtClean="0">
              <a:effectLst>
                <a:glow rad="152400">
                  <a:schemeClr val="bg1">
                    <a:alpha val="19000"/>
                  </a:schemeClr>
                </a:glow>
              </a:effectLst>
            </a:rPr>
            <a:t>Model Improvement</a:t>
          </a:r>
          <a:endParaRPr lang="en-US" baseline="0" noProof="0" dirty="0">
            <a:effectLst>
              <a:glow rad="152400">
                <a:schemeClr val="bg1">
                  <a:alpha val="19000"/>
                </a:schemeClr>
              </a:glow>
            </a:effectLst>
          </a:endParaRPr>
        </a:p>
      </dgm:t>
    </dgm:pt>
    <dgm:pt modelId="{CF221EFF-354A-47A9-A498-1F0BBF01ECB8}" type="par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519C821-85FB-4CA3-BEB5-E4BFBC529B83}" type="sib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C6D21269-399B-4BA2-8621-C7B9DA1E1B8F}">
      <dgm:prSet/>
      <dgm:spPr/>
      <dgm:t>
        <a:bodyPr/>
        <a:lstStyle/>
        <a:p>
          <a:pPr>
            <a:lnSpc>
              <a:spcPct val="100000"/>
            </a:lnSpc>
          </a:pPr>
          <a:r>
            <a:rPr lang="en-US" noProof="0" dirty="0" smtClean="0">
              <a:effectLst>
                <a:glow rad="152400">
                  <a:schemeClr val="bg1">
                    <a:alpha val="19000"/>
                  </a:schemeClr>
                </a:glow>
              </a:effectLst>
            </a:rPr>
            <a:t>Alternative Models</a:t>
          </a:r>
          <a:endParaRPr lang="en-US" noProof="0" dirty="0">
            <a:effectLst>
              <a:glow rad="152400">
                <a:schemeClr val="bg1">
                  <a:alpha val="19000"/>
                </a:schemeClr>
              </a:glow>
            </a:effectLst>
          </a:endParaRPr>
        </a:p>
      </dgm:t>
    </dgm:pt>
    <dgm:pt modelId="{AA3929B3-1058-4240-AD5D-9518D4976567}" type="par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C79B0F2C-DDB4-44EB-89F7-717146B88B10}" type="sib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3D115864-4018-4A4B-BD03-A1CBA1991522}">
      <dgm:prSet/>
      <dgm:spPr/>
      <dgm:t>
        <a:bodyPr/>
        <a:lstStyle/>
        <a:p>
          <a:pPr>
            <a:lnSpc>
              <a:spcPct val="100000"/>
            </a:lnSpc>
          </a:pPr>
          <a:r>
            <a:rPr lang="en-US" baseline="0" noProof="0" dirty="0" smtClean="0">
              <a:effectLst>
                <a:glow rad="152400">
                  <a:schemeClr val="bg1">
                    <a:alpha val="19000"/>
                  </a:schemeClr>
                </a:glow>
              </a:effectLst>
            </a:rPr>
            <a:t>Parameter Changes</a:t>
          </a:r>
          <a:endParaRPr lang="en-US" baseline="0" noProof="0" dirty="0">
            <a:effectLst>
              <a:glow rad="152400">
                <a:schemeClr val="bg1">
                  <a:alpha val="19000"/>
                </a:schemeClr>
              </a:glow>
            </a:effectLst>
          </a:endParaRPr>
        </a:p>
      </dgm:t>
    </dgm:pt>
    <dgm:pt modelId="{DD8E7D07-D47B-4E8F-97E6-DA3484B703B3}" type="parTrans" cxnId="{4DAFBE8A-329C-4253-A952-42FA97935D86}">
      <dgm:prSet/>
      <dgm:spPr/>
      <dgm:t>
        <a:bodyPr/>
        <a:lstStyle/>
        <a:p>
          <a:endParaRPr lang="en-US"/>
        </a:p>
      </dgm:t>
    </dgm:pt>
    <dgm:pt modelId="{5E517AA9-D22B-4B63-8222-A1D0932F3B02}" type="sibTrans" cxnId="{4DAFBE8A-329C-4253-A952-42FA97935D86}">
      <dgm:prSet/>
      <dgm:spPr/>
      <dgm:t>
        <a:bodyPr/>
        <a:lstStyle/>
        <a:p>
          <a:endParaRPr lang="en-US"/>
        </a:p>
      </dgm:t>
    </dgm:pt>
    <dgm:pt modelId="{678B8506-D490-4620-B104-5BF8955222D3}">
      <dgm:prSet/>
      <dgm:spPr/>
      <dgm:t>
        <a:bodyPr/>
        <a:lstStyle/>
        <a:p>
          <a:pPr>
            <a:lnSpc>
              <a:spcPct val="100000"/>
            </a:lnSpc>
          </a:pPr>
          <a:r>
            <a:rPr lang="en-US" baseline="0" noProof="0" dirty="0" smtClean="0">
              <a:effectLst>
                <a:glow rad="152400">
                  <a:schemeClr val="bg1">
                    <a:alpha val="19000"/>
                  </a:schemeClr>
                </a:glow>
              </a:effectLst>
            </a:rPr>
            <a:t>Change Split</a:t>
          </a:r>
          <a:endParaRPr lang="en-US" baseline="0" noProof="0" dirty="0">
            <a:effectLst>
              <a:glow rad="152400">
                <a:schemeClr val="bg1">
                  <a:alpha val="19000"/>
                </a:schemeClr>
              </a:glow>
            </a:effectLst>
          </a:endParaRPr>
        </a:p>
      </dgm:t>
    </dgm:pt>
    <dgm:pt modelId="{521F31A2-3F5D-4584-B429-1D298B123FE0}" type="parTrans" cxnId="{571EEF1A-98FE-4287-BF2E-EA9B72B30E51}">
      <dgm:prSet/>
      <dgm:spPr/>
      <dgm:t>
        <a:bodyPr/>
        <a:lstStyle/>
        <a:p>
          <a:endParaRPr lang="en-US"/>
        </a:p>
      </dgm:t>
    </dgm:pt>
    <dgm:pt modelId="{D683F1A2-4013-4388-9070-6A0015EC8358}" type="sibTrans" cxnId="{571EEF1A-98FE-4287-BF2E-EA9B72B30E51}">
      <dgm:prSet/>
      <dgm:spPr/>
      <dgm:t>
        <a:bodyPr/>
        <a:lstStyle/>
        <a:p>
          <a:endParaRPr lang="en-US"/>
        </a:p>
      </dgm:t>
    </dgm:pt>
    <dgm:pt modelId="{DA9A7F04-50A2-4B2E-82C1-73F73BEB1C7B}">
      <dgm:prSet/>
      <dgm:spPr/>
      <dgm:t>
        <a:bodyPr/>
        <a:lstStyle/>
        <a:p>
          <a:pPr>
            <a:lnSpc>
              <a:spcPct val="100000"/>
            </a:lnSpc>
          </a:pPr>
          <a:r>
            <a:rPr lang="en-US" noProof="0" dirty="0" smtClean="0">
              <a:effectLst>
                <a:glow rad="152400">
                  <a:schemeClr val="bg1">
                    <a:alpha val="19000"/>
                  </a:schemeClr>
                </a:glow>
              </a:effectLst>
            </a:rPr>
            <a:t>LSTM</a:t>
          </a:r>
          <a:endParaRPr lang="en-US" noProof="0" dirty="0">
            <a:effectLst>
              <a:glow rad="152400">
                <a:schemeClr val="bg1">
                  <a:alpha val="19000"/>
                </a:schemeClr>
              </a:glow>
            </a:effectLst>
          </a:endParaRPr>
        </a:p>
      </dgm:t>
    </dgm:pt>
    <dgm:pt modelId="{CEDB21FB-17DF-41D7-AB4A-25A66A9957B1}" type="parTrans" cxnId="{F4CB7D6B-17F6-4924-8D3F-99D0458D6E5D}">
      <dgm:prSet/>
      <dgm:spPr/>
      <dgm:t>
        <a:bodyPr/>
        <a:lstStyle/>
        <a:p>
          <a:endParaRPr lang="en-US"/>
        </a:p>
      </dgm:t>
    </dgm:pt>
    <dgm:pt modelId="{17C8E1E6-FAD1-4FA3-A0A0-906FC1D74744}" type="sibTrans" cxnId="{F4CB7D6B-17F6-4924-8D3F-99D0458D6E5D}">
      <dgm:prSet/>
      <dgm:spPr/>
      <dgm:t>
        <a:bodyPr/>
        <a:lstStyle/>
        <a:p>
          <a:endParaRPr lang="en-US"/>
        </a:p>
      </dgm:t>
    </dgm:pt>
    <dgm:pt modelId="{C21ADAC6-0DB2-4053-9A56-E77B95FC955C}">
      <dgm:prSet/>
      <dgm:spPr/>
      <dgm:t>
        <a:bodyPr/>
        <a:lstStyle/>
        <a:p>
          <a:pPr>
            <a:lnSpc>
              <a:spcPct val="100000"/>
            </a:lnSpc>
          </a:pPr>
          <a:r>
            <a:rPr lang="en-US" noProof="0" dirty="0" smtClean="0">
              <a:effectLst>
                <a:glow rad="152400">
                  <a:schemeClr val="bg1">
                    <a:alpha val="19000"/>
                  </a:schemeClr>
                </a:glow>
              </a:effectLst>
            </a:rPr>
            <a:t>Capture complex patterns of market data </a:t>
          </a:r>
          <a:r>
            <a:rPr lang="en-US" dirty="0" smtClean="0"/>
            <a:t>(B, 2025)</a:t>
          </a:r>
          <a:endParaRPr lang="en-US" noProof="0" dirty="0">
            <a:effectLst>
              <a:glow rad="152400">
                <a:schemeClr val="bg1">
                  <a:alpha val="19000"/>
                </a:schemeClr>
              </a:glow>
            </a:effectLst>
          </a:endParaRPr>
        </a:p>
      </dgm:t>
    </dgm:pt>
    <dgm:pt modelId="{477A55F7-8630-47FB-983E-2ACB8F50B2BF}" type="parTrans" cxnId="{7FA48ADE-8B44-482F-AB63-7F5BFB076FCA}">
      <dgm:prSet/>
      <dgm:spPr/>
      <dgm:t>
        <a:bodyPr/>
        <a:lstStyle/>
        <a:p>
          <a:endParaRPr lang="en-US"/>
        </a:p>
      </dgm:t>
    </dgm:pt>
    <dgm:pt modelId="{D61E059D-07CC-40D1-A8F7-309A22C8BAB2}" type="sibTrans" cxnId="{7FA48ADE-8B44-482F-AB63-7F5BFB076FCA}">
      <dgm:prSet/>
      <dgm:spPr/>
      <dgm:t>
        <a:bodyPr/>
        <a:lstStyle/>
        <a:p>
          <a:endParaRPr lang="en-US"/>
        </a:p>
      </dgm:t>
    </dgm:pt>
    <dgm:pt modelId="{4571A857-61C1-4DC2-A934-A531BC09E68F}" type="pres">
      <dgm:prSet presAssocID="{E1B432F4-5FDB-4518-9272-2F3934AC6AA2}" presName="Name0" presStyleCnt="0">
        <dgm:presLayoutVars>
          <dgm:chMax val="7"/>
          <dgm:dir/>
          <dgm:animLvl val="lvl"/>
          <dgm:resizeHandles val="exact"/>
        </dgm:presLayoutVars>
      </dgm:prSet>
      <dgm:spPr/>
      <dgm:t>
        <a:bodyPr/>
        <a:lstStyle/>
        <a:p>
          <a:endParaRPr lang="en-US"/>
        </a:p>
      </dgm:t>
    </dgm:pt>
    <dgm:pt modelId="{4FD2EBE9-A6E0-4FAC-8D22-7CC820B35249}" type="pres">
      <dgm:prSet presAssocID="{14BC708E-A0A1-4102-88E4-E75128B4E51E}" presName="circle1" presStyleLbl="node1" presStyleIdx="0" presStyleCnt="2"/>
      <dgm:spPr/>
      <dgm:t>
        <a:bodyPr/>
        <a:lstStyle/>
        <a:p>
          <a:endParaRPr lang="en-US"/>
        </a:p>
      </dgm:t>
    </dgm:pt>
    <dgm:pt modelId="{FC667EF8-7E7E-4A92-A16A-E350A0AD863C}" type="pres">
      <dgm:prSet presAssocID="{14BC708E-A0A1-4102-88E4-E75128B4E51E}" presName="space" presStyleCnt="0"/>
      <dgm:spPr/>
      <dgm:t>
        <a:bodyPr/>
        <a:lstStyle/>
        <a:p>
          <a:endParaRPr lang="en-US"/>
        </a:p>
      </dgm:t>
    </dgm:pt>
    <dgm:pt modelId="{0D52F5BF-645E-4045-B45A-A4937E1028BE}" type="pres">
      <dgm:prSet presAssocID="{14BC708E-A0A1-4102-88E4-E75128B4E51E}" presName="rect1" presStyleLbl="alignAcc1" presStyleIdx="0" presStyleCnt="2"/>
      <dgm:spPr/>
      <dgm:t>
        <a:bodyPr/>
        <a:lstStyle/>
        <a:p>
          <a:endParaRPr lang="en-US"/>
        </a:p>
      </dgm:t>
    </dgm:pt>
    <dgm:pt modelId="{09FBF8A4-4A03-4337-93BB-A587649D7C25}" type="pres">
      <dgm:prSet presAssocID="{C6D21269-399B-4BA2-8621-C7B9DA1E1B8F}" presName="vertSpace2" presStyleLbl="node1" presStyleIdx="0" presStyleCnt="2"/>
      <dgm:spPr/>
      <dgm:t>
        <a:bodyPr/>
        <a:lstStyle/>
        <a:p>
          <a:endParaRPr lang="en-US"/>
        </a:p>
      </dgm:t>
    </dgm:pt>
    <dgm:pt modelId="{BADEC680-6B79-488B-A764-71D6DB8CF1CB}" type="pres">
      <dgm:prSet presAssocID="{C6D21269-399B-4BA2-8621-C7B9DA1E1B8F}" presName="circle2" presStyleLbl="node1" presStyleIdx="1" presStyleCnt="2"/>
      <dgm:spPr/>
      <dgm:t>
        <a:bodyPr/>
        <a:lstStyle/>
        <a:p>
          <a:endParaRPr lang="en-US"/>
        </a:p>
      </dgm:t>
    </dgm:pt>
    <dgm:pt modelId="{8E78DED7-62A2-479A-8684-BDB80067D024}" type="pres">
      <dgm:prSet presAssocID="{C6D21269-399B-4BA2-8621-C7B9DA1E1B8F}" presName="rect2" presStyleLbl="alignAcc1" presStyleIdx="1" presStyleCnt="2"/>
      <dgm:spPr/>
      <dgm:t>
        <a:bodyPr/>
        <a:lstStyle/>
        <a:p>
          <a:endParaRPr lang="en-US"/>
        </a:p>
      </dgm:t>
    </dgm:pt>
    <dgm:pt modelId="{BC12432A-1206-4FA4-92E9-209AA442F376}" type="pres">
      <dgm:prSet presAssocID="{14BC708E-A0A1-4102-88E4-E75128B4E51E}" presName="rect1ParTx" presStyleLbl="alignAcc1" presStyleIdx="1" presStyleCnt="2">
        <dgm:presLayoutVars>
          <dgm:chMax val="1"/>
          <dgm:bulletEnabled val="1"/>
        </dgm:presLayoutVars>
      </dgm:prSet>
      <dgm:spPr/>
      <dgm:t>
        <a:bodyPr/>
        <a:lstStyle/>
        <a:p>
          <a:endParaRPr lang="en-US"/>
        </a:p>
      </dgm:t>
    </dgm:pt>
    <dgm:pt modelId="{DF0E06BF-D084-44D2-93AB-AB6588D4E6C5}" type="pres">
      <dgm:prSet presAssocID="{14BC708E-A0A1-4102-88E4-E75128B4E51E}" presName="rect1ChTx" presStyleLbl="alignAcc1" presStyleIdx="1" presStyleCnt="2">
        <dgm:presLayoutVars>
          <dgm:bulletEnabled val="1"/>
        </dgm:presLayoutVars>
      </dgm:prSet>
      <dgm:spPr/>
      <dgm:t>
        <a:bodyPr/>
        <a:lstStyle/>
        <a:p>
          <a:endParaRPr lang="en-US"/>
        </a:p>
      </dgm:t>
    </dgm:pt>
    <dgm:pt modelId="{E435711A-78A8-4A1D-8B65-64302D7E1F7C}" type="pres">
      <dgm:prSet presAssocID="{C6D21269-399B-4BA2-8621-C7B9DA1E1B8F}" presName="rect2ParTx" presStyleLbl="alignAcc1" presStyleIdx="1" presStyleCnt="2">
        <dgm:presLayoutVars>
          <dgm:chMax val="1"/>
          <dgm:bulletEnabled val="1"/>
        </dgm:presLayoutVars>
      </dgm:prSet>
      <dgm:spPr/>
      <dgm:t>
        <a:bodyPr/>
        <a:lstStyle/>
        <a:p>
          <a:endParaRPr lang="en-US"/>
        </a:p>
      </dgm:t>
    </dgm:pt>
    <dgm:pt modelId="{05679E53-A526-4D04-9A73-9337CA67F5D3}" type="pres">
      <dgm:prSet presAssocID="{C6D21269-399B-4BA2-8621-C7B9DA1E1B8F}" presName="rect2ChTx" presStyleLbl="alignAcc1" presStyleIdx="1" presStyleCnt="2">
        <dgm:presLayoutVars>
          <dgm:bulletEnabled val="1"/>
        </dgm:presLayoutVars>
      </dgm:prSet>
      <dgm:spPr/>
      <dgm:t>
        <a:bodyPr/>
        <a:lstStyle/>
        <a:p>
          <a:endParaRPr lang="en-US"/>
        </a:p>
      </dgm:t>
    </dgm:pt>
  </dgm:ptLst>
  <dgm:cxnLst>
    <dgm:cxn modelId="{7FA48ADE-8B44-482F-AB63-7F5BFB076FCA}" srcId="{DA9A7F04-50A2-4B2E-82C1-73F73BEB1C7B}" destId="{C21ADAC6-0DB2-4053-9A56-E77B95FC955C}" srcOrd="0" destOrd="0" parTransId="{477A55F7-8630-47FB-983E-2ACB8F50B2BF}" sibTransId="{D61E059D-07CC-40D1-A8F7-309A22C8BAB2}"/>
    <dgm:cxn modelId="{E4AD895B-72A4-4A6B-A7F4-C77A53EC51BC}" srcId="{E1B432F4-5FDB-4518-9272-2F3934AC6AA2}" destId="{C6D21269-399B-4BA2-8621-C7B9DA1E1B8F}" srcOrd="1" destOrd="0" parTransId="{AA3929B3-1058-4240-AD5D-9518D4976567}" sibTransId="{C79B0F2C-DDB4-44EB-89F7-717146B88B10}"/>
    <dgm:cxn modelId="{F4CB7D6B-17F6-4924-8D3F-99D0458D6E5D}" srcId="{C6D21269-399B-4BA2-8621-C7B9DA1E1B8F}" destId="{DA9A7F04-50A2-4B2E-82C1-73F73BEB1C7B}" srcOrd="0" destOrd="0" parTransId="{CEDB21FB-17DF-41D7-AB4A-25A66A9957B1}" sibTransId="{17C8E1E6-FAD1-4FA3-A0A0-906FC1D74744}"/>
    <dgm:cxn modelId="{F9C8E1A2-2BB7-43A0-855E-D1559E14C754}" type="presOf" srcId="{DA9A7F04-50A2-4B2E-82C1-73F73BEB1C7B}" destId="{05679E53-A526-4D04-9A73-9337CA67F5D3}" srcOrd="0" destOrd="0" presId="urn:microsoft.com/office/officeart/2005/8/layout/target3"/>
    <dgm:cxn modelId="{19E03A5E-214C-4DCB-99DC-5D69CCA71F1F}" type="presOf" srcId="{C6D21269-399B-4BA2-8621-C7B9DA1E1B8F}" destId="{8E78DED7-62A2-479A-8684-BDB80067D024}" srcOrd="0" destOrd="0" presId="urn:microsoft.com/office/officeart/2005/8/layout/target3"/>
    <dgm:cxn modelId="{EE441420-1BE3-479F-9913-B864708FB33B}" type="presOf" srcId="{3D115864-4018-4A4B-BD03-A1CBA1991522}" destId="{DF0E06BF-D084-44D2-93AB-AB6588D4E6C5}" srcOrd="0" destOrd="0" presId="urn:microsoft.com/office/officeart/2005/8/layout/target3"/>
    <dgm:cxn modelId="{571EEF1A-98FE-4287-BF2E-EA9B72B30E51}" srcId="{14BC708E-A0A1-4102-88E4-E75128B4E51E}" destId="{678B8506-D490-4620-B104-5BF8955222D3}" srcOrd="1" destOrd="0" parTransId="{521F31A2-3F5D-4584-B429-1D298B123FE0}" sibTransId="{D683F1A2-4013-4388-9070-6A0015EC8358}"/>
    <dgm:cxn modelId="{EB9839C5-F324-41C4-8950-5284E09FB71E}" srcId="{E1B432F4-5FDB-4518-9272-2F3934AC6AA2}" destId="{14BC708E-A0A1-4102-88E4-E75128B4E51E}" srcOrd="0" destOrd="0" parTransId="{CF221EFF-354A-47A9-A498-1F0BBF01ECB8}" sibTransId="{7519C821-85FB-4CA3-BEB5-E4BFBC529B83}"/>
    <dgm:cxn modelId="{4D56374A-C375-4E96-942D-6235E6C6F48B}" type="presOf" srcId="{C6D21269-399B-4BA2-8621-C7B9DA1E1B8F}" destId="{E435711A-78A8-4A1D-8B65-64302D7E1F7C}" srcOrd="1" destOrd="0" presId="urn:microsoft.com/office/officeart/2005/8/layout/target3"/>
    <dgm:cxn modelId="{62E3BD93-071D-4B4C-91AB-47453F47AD55}" type="presOf" srcId="{14BC708E-A0A1-4102-88E4-E75128B4E51E}" destId="{0D52F5BF-645E-4045-B45A-A4937E1028BE}" srcOrd="0" destOrd="0" presId="urn:microsoft.com/office/officeart/2005/8/layout/target3"/>
    <dgm:cxn modelId="{63483717-E744-4EA9-A5F4-EE70F6947DC2}" type="presOf" srcId="{C21ADAC6-0DB2-4053-9A56-E77B95FC955C}" destId="{05679E53-A526-4D04-9A73-9337CA67F5D3}" srcOrd="0" destOrd="1" presId="urn:microsoft.com/office/officeart/2005/8/layout/target3"/>
    <dgm:cxn modelId="{54961628-86FA-4D2C-961E-F20555CC4E73}" type="presOf" srcId="{E1B432F4-5FDB-4518-9272-2F3934AC6AA2}" destId="{4571A857-61C1-4DC2-A934-A531BC09E68F}" srcOrd="0" destOrd="0" presId="urn:microsoft.com/office/officeart/2005/8/layout/target3"/>
    <dgm:cxn modelId="{C8B59DC5-3B1B-4D9F-9EE2-D679AAF64E8D}" type="presOf" srcId="{678B8506-D490-4620-B104-5BF8955222D3}" destId="{DF0E06BF-D084-44D2-93AB-AB6588D4E6C5}" srcOrd="0" destOrd="1" presId="urn:microsoft.com/office/officeart/2005/8/layout/target3"/>
    <dgm:cxn modelId="{4DAFBE8A-329C-4253-A952-42FA97935D86}" srcId="{14BC708E-A0A1-4102-88E4-E75128B4E51E}" destId="{3D115864-4018-4A4B-BD03-A1CBA1991522}" srcOrd="0" destOrd="0" parTransId="{DD8E7D07-D47B-4E8F-97E6-DA3484B703B3}" sibTransId="{5E517AA9-D22B-4B63-8222-A1D0932F3B02}"/>
    <dgm:cxn modelId="{2845CE93-04FC-43BA-BA15-175057C42E35}" type="presOf" srcId="{14BC708E-A0A1-4102-88E4-E75128B4E51E}" destId="{BC12432A-1206-4FA4-92E9-209AA442F376}" srcOrd="1" destOrd="0" presId="urn:microsoft.com/office/officeart/2005/8/layout/target3"/>
    <dgm:cxn modelId="{90C37C33-C904-41F5-8461-F31C5F174980}" type="presParOf" srcId="{4571A857-61C1-4DC2-A934-A531BC09E68F}" destId="{4FD2EBE9-A6E0-4FAC-8D22-7CC820B35249}" srcOrd="0" destOrd="0" presId="urn:microsoft.com/office/officeart/2005/8/layout/target3"/>
    <dgm:cxn modelId="{B3697683-6E80-4DD8-97BA-1C567E2E9F84}" type="presParOf" srcId="{4571A857-61C1-4DC2-A934-A531BC09E68F}" destId="{FC667EF8-7E7E-4A92-A16A-E350A0AD863C}" srcOrd="1" destOrd="0" presId="urn:microsoft.com/office/officeart/2005/8/layout/target3"/>
    <dgm:cxn modelId="{AED7A61F-DEDB-4A93-90A9-1C10071903F2}" type="presParOf" srcId="{4571A857-61C1-4DC2-A934-A531BC09E68F}" destId="{0D52F5BF-645E-4045-B45A-A4937E1028BE}" srcOrd="2" destOrd="0" presId="urn:microsoft.com/office/officeart/2005/8/layout/target3"/>
    <dgm:cxn modelId="{D0342606-3866-4D43-BF7C-DCC7EF601295}" type="presParOf" srcId="{4571A857-61C1-4DC2-A934-A531BC09E68F}" destId="{09FBF8A4-4A03-4337-93BB-A587649D7C25}" srcOrd="3" destOrd="0" presId="urn:microsoft.com/office/officeart/2005/8/layout/target3"/>
    <dgm:cxn modelId="{509226F3-1C07-41B4-A9DE-7E1C19F0B029}" type="presParOf" srcId="{4571A857-61C1-4DC2-A934-A531BC09E68F}" destId="{BADEC680-6B79-488B-A764-71D6DB8CF1CB}" srcOrd="4" destOrd="0" presId="urn:microsoft.com/office/officeart/2005/8/layout/target3"/>
    <dgm:cxn modelId="{2749E1CA-69EC-4946-BF0F-8BF52A22176F}" type="presParOf" srcId="{4571A857-61C1-4DC2-A934-A531BC09E68F}" destId="{8E78DED7-62A2-479A-8684-BDB80067D024}" srcOrd="5" destOrd="0" presId="urn:microsoft.com/office/officeart/2005/8/layout/target3"/>
    <dgm:cxn modelId="{6B176F0E-3F22-4E43-A804-6B08CD29FBA9}" type="presParOf" srcId="{4571A857-61C1-4DC2-A934-A531BC09E68F}" destId="{BC12432A-1206-4FA4-92E9-209AA442F376}" srcOrd="6" destOrd="0" presId="urn:microsoft.com/office/officeart/2005/8/layout/target3"/>
    <dgm:cxn modelId="{9BF4CC30-1463-4CAA-8692-BF029D6D6FEF}" type="presParOf" srcId="{4571A857-61C1-4DC2-A934-A531BC09E68F}" destId="{DF0E06BF-D084-44D2-93AB-AB6588D4E6C5}" srcOrd="7" destOrd="0" presId="urn:microsoft.com/office/officeart/2005/8/layout/target3"/>
    <dgm:cxn modelId="{03A85EE0-0446-4AC3-B7D8-8C01B717533C}" type="presParOf" srcId="{4571A857-61C1-4DC2-A934-A531BC09E68F}" destId="{E435711A-78A8-4A1D-8B65-64302D7E1F7C}" srcOrd="8" destOrd="0" presId="urn:microsoft.com/office/officeart/2005/8/layout/target3"/>
    <dgm:cxn modelId="{7080948B-BA58-4E38-8F8E-30FA22726247}" type="presParOf" srcId="{4571A857-61C1-4DC2-A934-A531BC09E68F}" destId="{05679E53-A526-4D04-9A73-9337CA67F5D3}" srcOrd="9"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9AC6FB-21CC-4D11-8D3B-85E6C94943F9}">
      <dsp:nvSpPr>
        <dsp:cNvPr id="0" name=""/>
        <dsp:cNvSpPr/>
      </dsp:nvSpPr>
      <dsp:spPr>
        <a:xfrm>
          <a:off x="0" y="0"/>
          <a:ext cx="5607050"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374D593-77BB-4A6D-BAEB-BD3EB9EDB862}">
      <dsp:nvSpPr>
        <dsp:cNvPr id="0" name=""/>
        <dsp:cNvSpPr/>
      </dsp:nvSpPr>
      <dsp:spPr>
        <a:xfrm>
          <a:off x="0" y="0"/>
          <a:ext cx="5607050" cy="2463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100000"/>
            </a:lnSpc>
            <a:spcBef>
              <a:spcPct val="0"/>
            </a:spcBef>
            <a:spcAft>
              <a:spcPct val="35000"/>
            </a:spcAft>
          </a:pPr>
          <a:r>
            <a:rPr lang="en-US" sz="2800" kern="1200" noProof="0" dirty="0" smtClean="0">
              <a:solidFill>
                <a:schemeClr val="bg1"/>
              </a:solidFill>
              <a:effectLst>
                <a:glow rad="152400">
                  <a:schemeClr val="bg1">
                    <a:alpha val="19000"/>
                  </a:schemeClr>
                </a:glow>
              </a:effectLst>
            </a:rPr>
            <a:t>Null Hypothesis</a:t>
          </a:r>
        </a:p>
        <a:p>
          <a:pPr lvl="0" algn="l" defTabSz="1244600">
            <a:lnSpc>
              <a:spcPct val="100000"/>
            </a:lnSpc>
            <a:spcBef>
              <a:spcPct val="0"/>
            </a:spcBef>
            <a:spcAft>
              <a:spcPct val="35000"/>
            </a:spcAft>
          </a:pPr>
          <a:r>
            <a:rPr lang="en-US" sz="2800" kern="1200" noProof="0" dirty="0" smtClean="0">
              <a:solidFill>
                <a:schemeClr val="bg1"/>
              </a:solidFill>
              <a:effectLst>
                <a:glow rad="152400">
                  <a:schemeClr val="bg1">
                    <a:alpha val="19000"/>
                  </a:schemeClr>
                </a:glow>
              </a:effectLst>
            </a:rPr>
            <a:t>- </a:t>
          </a:r>
          <a:r>
            <a:rPr lang="en-US" sz="2800" kern="1200" baseline="0" dirty="0" smtClean="0">
              <a:solidFill>
                <a:schemeClr val="bg1"/>
              </a:solidFill>
            </a:rPr>
            <a:t>The future stock price cannot be predicted with 80% accuracy</a:t>
          </a:r>
          <a:endParaRPr lang="en-US" sz="2800" kern="1200" baseline="0" noProof="0" dirty="0">
            <a:solidFill>
              <a:schemeClr val="bg1"/>
            </a:solidFill>
            <a:effectLst>
              <a:glow rad="152400">
                <a:schemeClr val="bg1">
                  <a:alpha val="19000"/>
                </a:schemeClr>
              </a:glow>
            </a:effectLst>
          </a:endParaRPr>
        </a:p>
      </dsp:txBody>
      <dsp:txXfrm>
        <a:off x="0" y="0"/>
        <a:ext cx="5607050" cy="2463799"/>
      </dsp:txXfrm>
    </dsp:sp>
    <dsp:sp modelId="{FB6E1C64-608D-4FE3-A84B-F17A0BC1F25F}">
      <dsp:nvSpPr>
        <dsp:cNvPr id="0" name=""/>
        <dsp:cNvSpPr/>
      </dsp:nvSpPr>
      <dsp:spPr>
        <a:xfrm>
          <a:off x="0" y="2463799"/>
          <a:ext cx="5607050" cy="0"/>
        </a:xfrm>
        <a:prstGeom prst="line">
          <a:avLst/>
        </a:prstGeom>
        <a:gradFill rotWithShape="0">
          <a:gsLst>
            <a:gs pos="0">
              <a:schemeClr val="accent3">
                <a:hueOff val="0"/>
                <a:satOff val="0"/>
                <a:lumOff val="0"/>
                <a:alphaOff val="0"/>
                <a:tint val="97000"/>
                <a:satMod val="100000"/>
                <a:lumMod val="102000"/>
              </a:schemeClr>
            </a:gs>
            <a:gs pos="50000">
              <a:schemeClr val="accent3">
                <a:hueOff val="0"/>
                <a:satOff val="0"/>
                <a:lumOff val="0"/>
                <a:alphaOff val="0"/>
                <a:shade val="100000"/>
                <a:satMod val="103000"/>
                <a:lumMod val="100000"/>
              </a:schemeClr>
            </a:gs>
            <a:gs pos="100000">
              <a:schemeClr val="accent3">
                <a:hueOff val="0"/>
                <a:satOff val="0"/>
                <a:lumOff val="0"/>
                <a:alphaOff val="0"/>
                <a:shade val="93000"/>
                <a:satMod val="110000"/>
                <a:lumMod val="99000"/>
              </a:schemeClr>
            </a:gs>
          </a:gsLst>
          <a:lin ang="5400000" scaled="0"/>
        </a:gradFill>
        <a:ln w="6350"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2AB8134-4265-4737-A81B-C1A759452B05}">
      <dsp:nvSpPr>
        <dsp:cNvPr id="0" name=""/>
        <dsp:cNvSpPr/>
      </dsp:nvSpPr>
      <dsp:spPr>
        <a:xfrm>
          <a:off x="0" y="2463799"/>
          <a:ext cx="5607050" cy="2463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100000"/>
            </a:lnSpc>
            <a:spcBef>
              <a:spcPct val="0"/>
            </a:spcBef>
            <a:spcAft>
              <a:spcPct val="35000"/>
            </a:spcAft>
          </a:pPr>
          <a:r>
            <a:rPr lang="en-US" sz="2800" kern="1200" noProof="0" dirty="0" smtClean="0">
              <a:solidFill>
                <a:schemeClr val="bg1"/>
              </a:solidFill>
              <a:effectLst>
                <a:glow rad="152400">
                  <a:schemeClr val="bg1">
                    <a:alpha val="19000"/>
                  </a:schemeClr>
                </a:glow>
              </a:effectLst>
            </a:rPr>
            <a:t>Alternate Hypothesis</a:t>
          </a:r>
        </a:p>
        <a:p>
          <a:pPr lvl="0" algn="l" defTabSz="1244600">
            <a:lnSpc>
              <a:spcPct val="100000"/>
            </a:lnSpc>
            <a:spcBef>
              <a:spcPct val="0"/>
            </a:spcBef>
            <a:spcAft>
              <a:spcPct val="35000"/>
            </a:spcAft>
          </a:pPr>
          <a:r>
            <a:rPr lang="en-US" sz="2800" kern="1200" noProof="0" dirty="0" smtClean="0">
              <a:solidFill>
                <a:schemeClr val="bg1"/>
              </a:solidFill>
              <a:effectLst>
                <a:glow rad="152400">
                  <a:schemeClr val="bg1">
                    <a:alpha val="19000"/>
                  </a:schemeClr>
                </a:glow>
              </a:effectLst>
            </a:rPr>
            <a:t>- </a:t>
          </a:r>
          <a:r>
            <a:rPr lang="en-US" sz="2800" kern="1200" dirty="0" smtClean="0">
              <a:solidFill>
                <a:schemeClr val="bg1"/>
              </a:solidFill>
            </a:rPr>
            <a:t>The future stock price can be predicted with 80% accuracy</a:t>
          </a:r>
          <a:endParaRPr lang="en-US" sz="2800" kern="1200" noProof="0" dirty="0" smtClean="0">
            <a:solidFill>
              <a:schemeClr val="bg1"/>
            </a:solidFill>
            <a:effectLst>
              <a:glow rad="152400">
                <a:schemeClr val="bg1">
                  <a:alpha val="19000"/>
                </a:schemeClr>
              </a:glow>
            </a:effectLst>
          </a:endParaRPr>
        </a:p>
        <a:p>
          <a:pPr lvl="0" algn="l" defTabSz="1244600">
            <a:lnSpc>
              <a:spcPct val="100000"/>
            </a:lnSpc>
            <a:spcBef>
              <a:spcPct val="0"/>
            </a:spcBef>
            <a:spcAft>
              <a:spcPct val="35000"/>
            </a:spcAft>
          </a:pPr>
          <a:endParaRPr lang="en-US" sz="2800" kern="1200" noProof="0" dirty="0">
            <a:solidFill>
              <a:schemeClr val="bg1"/>
            </a:solidFill>
            <a:effectLst>
              <a:glow rad="152400">
                <a:schemeClr val="bg1">
                  <a:alpha val="19000"/>
                </a:schemeClr>
              </a:glow>
            </a:effectLst>
          </a:endParaRPr>
        </a:p>
      </dsp:txBody>
      <dsp:txXfrm>
        <a:off x="0" y="2463799"/>
        <a:ext cx="5607050" cy="24637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B68B3D-8404-44B9-95C4-F7A776F304BE}">
      <dsp:nvSpPr>
        <dsp:cNvPr id="0" name=""/>
        <dsp:cNvSpPr/>
      </dsp:nvSpPr>
      <dsp:spPr>
        <a:xfrm>
          <a:off x="3779616" y="0"/>
          <a:ext cx="2032243" cy="2032449"/>
        </a:xfrm>
        <a:prstGeom prst="circularArrow">
          <a:avLst>
            <a:gd name="adj1" fmla="val 10980"/>
            <a:gd name="adj2" fmla="val 1142322"/>
            <a:gd name="adj3" fmla="val 4500000"/>
            <a:gd name="adj4" fmla="val 10800000"/>
            <a:gd name="adj5" fmla="val 12500"/>
          </a:avLst>
        </a:prstGeom>
        <a:solidFill>
          <a:schemeClr val="accent2">
            <a:hueOff val="0"/>
            <a:satOff val="0"/>
            <a:lumOff val="0"/>
            <a:alphaOff val="0"/>
          </a:schemeClr>
        </a:solid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B3A34F-D698-4EE5-9239-6886053B3EBA}">
      <dsp:nvSpPr>
        <dsp:cNvPr id="0" name=""/>
        <dsp:cNvSpPr/>
      </dsp:nvSpPr>
      <dsp:spPr>
        <a:xfrm>
          <a:off x="4228303" y="735691"/>
          <a:ext cx="1134106" cy="566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444500">
            <a:lnSpc>
              <a:spcPct val="100000"/>
            </a:lnSpc>
            <a:spcBef>
              <a:spcPct val="0"/>
            </a:spcBef>
            <a:spcAft>
              <a:spcPct val="35000"/>
            </a:spcAft>
          </a:pPr>
          <a:r>
            <a:rPr lang="en-US" sz="1000" kern="1200" baseline="0" noProof="0" dirty="0" smtClean="0">
              <a:solidFill>
                <a:schemeClr val="bg1"/>
              </a:solidFill>
              <a:effectLst>
                <a:glow rad="152400">
                  <a:schemeClr val="bg1">
                    <a:alpha val="19000"/>
                  </a:schemeClr>
                </a:glow>
              </a:effectLst>
            </a:rPr>
            <a:t>Data Cleaning</a:t>
          </a:r>
          <a:endParaRPr lang="en-US" sz="1000" kern="1200" baseline="0" noProof="0" dirty="0">
            <a:solidFill>
              <a:schemeClr val="bg1"/>
            </a:solidFill>
            <a:effectLst>
              <a:glow rad="152400">
                <a:schemeClr val="bg1">
                  <a:alpha val="19000"/>
                </a:schemeClr>
              </a:glow>
            </a:effectLst>
          </a:endParaRPr>
        </a:p>
      </dsp:txBody>
      <dsp:txXfrm>
        <a:off x="4228303" y="735691"/>
        <a:ext cx="1134106" cy="566994"/>
      </dsp:txXfrm>
    </dsp:sp>
    <dsp:sp modelId="{35A02852-2EE0-4D84-A782-C40B41CF0B39}">
      <dsp:nvSpPr>
        <dsp:cNvPr id="0" name=""/>
        <dsp:cNvSpPr/>
      </dsp:nvSpPr>
      <dsp:spPr>
        <a:xfrm>
          <a:off x="3215041" y="1167944"/>
          <a:ext cx="2032243" cy="2032449"/>
        </a:xfrm>
        <a:prstGeom prst="leftCircularArrow">
          <a:avLst>
            <a:gd name="adj1" fmla="val 10980"/>
            <a:gd name="adj2" fmla="val 1142322"/>
            <a:gd name="adj3" fmla="val 6300000"/>
            <a:gd name="adj4" fmla="val 18900000"/>
            <a:gd name="adj5" fmla="val 12500"/>
          </a:avLst>
        </a:prstGeom>
        <a:solidFill>
          <a:schemeClr val="accent3">
            <a:hueOff val="0"/>
            <a:satOff val="0"/>
            <a:lumOff val="0"/>
            <a:alphaOff val="0"/>
          </a:schemeClr>
        </a:solid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D723A5-2B1D-4478-AC77-B6593A21FE31}">
      <dsp:nvSpPr>
        <dsp:cNvPr id="0" name=""/>
        <dsp:cNvSpPr/>
      </dsp:nvSpPr>
      <dsp:spPr>
        <a:xfrm>
          <a:off x="3661440" y="1905792"/>
          <a:ext cx="1134106" cy="566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444500">
            <a:lnSpc>
              <a:spcPct val="100000"/>
            </a:lnSpc>
            <a:spcBef>
              <a:spcPct val="0"/>
            </a:spcBef>
            <a:spcAft>
              <a:spcPct val="35000"/>
            </a:spcAft>
          </a:pPr>
          <a:r>
            <a:rPr lang="en-US" sz="1000" kern="1200" baseline="0" noProof="0" dirty="0" smtClean="0">
              <a:solidFill>
                <a:schemeClr val="bg1"/>
              </a:solidFill>
              <a:effectLst>
                <a:glow rad="152400">
                  <a:schemeClr val="bg1">
                    <a:alpha val="19000"/>
                  </a:schemeClr>
                </a:glow>
              </a:effectLst>
            </a:rPr>
            <a:t>Data Preparation &amp; </a:t>
          </a:r>
          <a:r>
            <a:rPr lang="en-US" sz="1000" kern="1200" noProof="0" dirty="0" smtClean="0">
              <a:solidFill>
                <a:schemeClr val="bg1"/>
              </a:solidFill>
              <a:effectLst>
                <a:glow rad="152400">
                  <a:schemeClr val="bg1">
                    <a:alpha val="19000"/>
                  </a:schemeClr>
                </a:glow>
              </a:effectLst>
            </a:rPr>
            <a:t>Stationarity Checks</a:t>
          </a:r>
          <a:endParaRPr lang="en-US" sz="1000" kern="1200" baseline="0" noProof="0" dirty="0">
            <a:solidFill>
              <a:schemeClr val="bg1"/>
            </a:solidFill>
            <a:effectLst>
              <a:glow rad="152400">
                <a:schemeClr val="bg1">
                  <a:alpha val="19000"/>
                </a:schemeClr>
              </a:glow>
            </a:effectLst>
          </a:endParaRPr>
        </a:p>
      </dsp:txBody>
      <dsp:txXfrm>
        <a:off x="3661440" y="1905792"/>
        <a:ext cx="1134106" cy="566994"/>
      </dsp:txXfrm>
    </dsp:sp>
    <dsp:sp modelId="{70A3EF43-4F65-4DEF-B8E9-44F7FDBCF808}">
      <dsp:nvSpPr>
        <dsp:cNvPr id="0" name=""/>
        <dsp:cNvSpPr/>
      </dsp:nvSpPr>
      <dsp:spPr>
        <a:xfrm>
          <a:off x="3779616" y="2340200"/>
          <a:ext cx="2032243" cy="2032449"/>
        </a:xfrm>
        <a:prstGeom prst="circularArrow">
          <a:avLst>
            <a:gd name="adj1" fmla="val 10980"/>
            <a:gd name="adj2" fmla="val 1142322"/>
            <a:gd name="adj3" fmla="val 4500000"/>
            <a:gd name="adj4" fmla="val 13500000"/>
            <a:gd name="adj5" fmla="val 12500"/>
          </a:avLst>
        </a:prstGeom>
        <a:solidFill>
          <a:schemeClr val="accent4">
            <a:hueOff val="0"/>
            <a:satOff val="0"/>
            <a:lumOff val="0"/>
            <a:alphaOff val="0"/>
          </a:schemeClr>
        </a:solid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503193-8EBF-4670-8D4F-76E860707B50}">
      <dsp:nvSpPr>
        <dsp:cNvPr id="0" name=""/>
        <dsp:cNvSpPr/>
      </dsp:nvSpPr>
      <dsp:spPr>
        <a:xfrm>
          <a:off x="4228303" y="3075892"/>
          <a:ext cx="1134106" cy="566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noProof="0" dirty="0" smtClean="0">
              <a:solidFill>
                <a:schemeClr val="bg1"/>
              </a:solidFill>
              <a:effectLst>
                <a:glow rad="152400">
                  <a:schemeClr val="bg1">
                    <a:alpha val="19000"/>
                  </a:schemeClr>
                </a:glow>
              </a:effectLst>
            </a:rPr>
            <a:t>Model Identification</a:t>
          </a:r>
          <a:endParaRPr lang="en-US" sz="1000" kern="1200" noProof="0" dirty="0">
            <a:solidFill>
              <a:schemeClr val="bg1"/>
            </a:solidFill>
            <a:effectLst>
              <a:glow rad="152400">
                <a:schemeClr val="bg1">
                  <a:alpha val="19000"/>
                </a:schemeClr>
              </a:glow>
            </a:effectLst>
          </a:endParaRPr>
        </a:p>
      </dsp:txBody>
      <dsp:txXfrm>
        <a:off x="4228303" y="3075892"/>
        <a:ext cx="1134106" cy="566994"/>
      </dsp:txXfrm>
    </dsp:sp>
    <dsp:sp modelId="{89D8EFA1-E464-4C65-A604-0709829E984E}">
      <dsp:nvSpPr>
        <dsp:cNvPr id="0" name=""/>
        <dsp:cNvSpPr/>
      </dsp:nvSpPr>
      <dsp:spPr>
        <a:xfrm>
          <a:off x="3359901" y="3642887"/>
          <a:ext cx="1745952" cy="1746796"/>
        </a:xfrm>
        <a:prstGeom prst="blockArc">
          <a:avLst>
            <a:gd name="adj1" fmla="val 0"/>
            <a:gd name="adj2" fmla="val 18900000"/>
            <a:gd name="adj3" fmla="val 12740"/>
          </a:avLst>
        </a:prstGeom>
        <a:solidFill>
          <a:schemeClr val="accent5">
            <a:hueOff val="0"/>
            <a:satOff val="0"/>
            <a:lumOff val="0"/>
            <a:alphaOff val="0"/>
          </a:schemeClr>
        </a:solid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CDD4A2-A690-40B6-8384-DA4761E08DDD}">
      <dsp:nvSpPr>
        <dsp:cNvPr id="0" name=""/>
        <dsp:cNvSpPr/>
      </dsp:nvSpPr>
      <dsp:spPr>
        <a:xfrm>
          <a:off x="3661440" y="4328717"/>
          <a:ext cx="1134106" cy="401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noProof="0" dirty="0" smtClean="0">
              <a:solidFill>
                <a:schemeClr val="bg1"/>
              </a:solidFill>
              <a:effectLst>
                <a:glow rad="152400">
                  <a:schemeClr val="bg1">
                    <a:alpha val="19000"/>
                  </a:schemeClr>
                </a:glow>
              </a:effectLst>
            </a:rPr>
            <a:t>Forecasting</a:t>
          </a:r>
        </a:p>
        <a:p>
          <a:pPr lvl="0" algn="ctr" defTabSz="444500">
            <a:lnSpc>
              <a:spcPct val="90000"/>
            </a:lnSpc>
            <a:spcBef>
              <a:spcPct val="0"/>
            </a:spcBef>
            <a:spcAft>
              <a:spcPct val="35000"/>
            </a:spcAft>
          </a:pPr>
          <a:endParaRPr lang="en-US" sz="1000" kern="1200" noProof="0" dirty="0">
            <a:effectLst>
              <a:glow rad="152400">
                <a:schemeClr val="bg1">
                  <a:alpha val="19000"/>
                </a:schemeClr>
              </a:glow>
            </a:effectLst>
          </a:endParaRPr>
        </a:p>
      </dsp:txBody>
      <dsp:txXfrm>
        <a:off x="3661440" y="4328717"/>
        <a:ext cx="1134106" cy="4015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17DF5E-4B76-4F9E-8A49-E335E2D784AB}">
      <dsp:nvSpPr>
        <dsp:cNvPr id="0" name=""/>
        <dsp:cNvSpPr/>
      </dsp:nvSpPr>
      <dsp:spPr>
        <a:xfrm>
          <a:off x="3610760" y="0"/>
          <a:ext cx="5416140" cy="827026"/>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en-US" sz="1200" kern="1200" dirty="0" smtClean="0"/>
            <a:t>Download Data from </a:t>
          </a:r>
          <a:r>
            <a:rPr lang="en-US" sz="1200" kern="1200" dirty="0" err="1" smtClean="0"/>
            <a:t>Kaggle</a:t>
          </a:r>
          <a:endParaRPr lang="en-US" sz="1200" kern="1200" dirty="0"/>
        </a:p>
        <a:p>
          <a:pPr marL="114300" lvl="1" indent="-114300" algn="l" defTabSz="533400">
            <a:lnSpc>
              <a:spcPct val="90000"/>
            </a:lnSpc>
            <a:spcBef>
              <a:spcPct val="0"/>
            </a:spcBef>
            <a:spcAft>
              <a:spcPct val="15000"/>
            </a:spcAft>
            <a:buChar char="••"/>
          </a:pPr>
          <a:r>
            <a:rPr lang="en-US" sz="1200" kern="1200" dirty="0" smtClean="0"/>
            <a:t>Load Data into Pandas data frame</a:t>
          </a:r>
          <a:endParaRPr lang="en-US" sz="1200" kern="1200" dirty="0"/>
        </a:p>
      </dsp:txBody>
      <dsp:txXfrm>
        <a:off x="3610760" y="103378"/>
        <a:ext cx="5106005" cy="620270"/>
      </dsp:txXfrm>
    </dsp:sp>
    <dsp:sp modelId="{1B587A05-1FEB-4B0F-A382-C13250B134E6}">
      <dsp:nvSpPr>
        <dsp:cNvPr id="0" name=""/>
        <dsp:cNvSpPr/>
      </dsp:nvSpPr>
      <dsp:spPr>
        <a:xfrm>
          <a:off x="0" y="0"/>
          <a:ext cx="3610760" cy="82702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100000"/>
            </a:lnSpc>
            <a:spcBef>
              <a:spcPct val="0"/>
            </a:spcBef>
            <a:spcAft>
              <a:spcPct val="35000"/>
            </a:spcAft>
          </a:pPr>
          <a:r>
            <a:rPr lang="en-US" sz="2600" kern="1200" baseline="0" noProof="0" dirty="0" smtClean="0">
              <a:effectLst>
                <a:glow rad="152400">
                  <a:schemeClr val="bg1">
                    <a:alpha val="19000"/>
                  </a:schemeClr>
                </a:glow>
              </a:effectLst>
            </a:rPr>
            <a:t>Data Load</a:t>
          </a:r>
          <a:endParaRPr lang="en-US" sz="2600" kern="1200" baseline="0" noProof="0" dirty="0">
            <a:effectLst>
              <a:glow rad="152400">
                <a:schemeClr val="bg1">
                  <a:alpha val="19000"/>
                </a:schemeClr>
              </a:glow>
            </a:effectLst>
          </a:endParaRPr>
        </a:p>
      </dsp:txBody>
      <dsp:txXfrm>
        <a:off x="40372" y="40372"/>
        <a:ext cx="3530016" cy="746282"/>
      </dsp:txXfrm>
    </dsp:sp>
    <dsp:sp modelId="{07ED2FC7-02EE-4370-B829-5B53C742BDE1}">
      <dsp:nvSpPr>
        <dsp:cNvPr id="0" name=""/>
        <dsp:cNvSpPr/>
      </dsp:nvSpPr>
      <dsp:spPr>
        <a:xfrm>
          <a:off x="3610760" y="909729"/>
          <a:ext cx="5416140" cy="827026"/>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en-US" sz="1200" kern="1200" dirty="0" smtClean="0"/>
            <a:t>Columns include Date, Close, High, Low, Open &amp; Volume</a:t>
          </a:r>
          <a:endParaRPr lang="en-US" sz="1200" kern="1200" dirty="0"/>
        </a:p>
        <a:p>
          <a:pPr marL="114300" lvl="1" indent="-114300" algn="l" defTabSz="533400">
            <a:lnSpc>
              <a:spcPct val="90000"/>
            </a:lnSpc>
            <a:spcBef>
              <a:spcPct val="0"/>
            </a:spcBef>
            <a:spcAft>
              <a:spcPct val="15000"/>
            </a:spcAft>
            <a:buChar char="••"/>
          </a:pPr>
          <a:r>
            <a:rPr lang="en-US" sz="1200" kern="1200" dirty="0" smtClean="0"/>
            <a:t>March 26</a:t>
          </a:r>
          <a:r>
            <a:rPr lang="en-US" sz="1200" kern="1200" baseline="30000" dirty="0" smtClean="0"/>
            <a:t>th</a:t>
          </a:r>
          <a:r>
            <a:rPr lang="en-US" sz="1200" kern="1200" dirty="0" smtClean="0"/>
            <a:t> 1986 to April 20</a:t>
          </a:r>
          <a:r>
            <a:rPr lang="en-US" sz="1200" kern="1200" baseline="30000" dirty="0" smtClean="0"/>
            <a:t>th</a:t>
          </a:r>
          <a:r>
            <a:rPr lang="en-US" sz="1200" kern="1200" dirty="0" smtClean="0"/>
            <a:t> 2026</a:t>
          </a:r>
          <a:endParaRPr lang="en-US" sz="1200" kern="1200" dirty="0"/>
        </a:p>
        <a:p>
          <a:pPr marL="114300" lvl="1" indent="-114300" algn="l" defTabSz="533400">
            <a:lnSpc>
              <a:spcPct val="90000"/>
            </a:lnSpc>
            <a:spcBef>
              <a:spcPct val="0"/>
            </a:spcBef>
            <a:spcAft>
              <a:spcPct val="15000"/>
            </a:spcAft>
            <a:buChar char="••"/>
          </a:pPr>
          <a:r>
            <a:rPr lang="en-US" sz="1200" kern="1200" dirty="0" smtClean="0"/>
            <a:t>10,094 rows</a:t>
          </a:r>
          <a:endParaRPr lang="en-US" sz="1200" kern="1200" dirty="0"/>
        </a:p>
      </dsp:txBody>
      <dsp:txXfrm>
        <a:off x="3610760" y="1013107"/>
        <a:ext cx="5106005" cy="620270"/>
      </dsp:txXfrm>
    </dsp:sp>
    <dsp:sp modelId="{E61029D7-0814-40FF-BCED-1FD89806C3E3}">
      <dsp:nvSpPr>
        <dsp:cNvPr id="0" name=""/>
        <dsp:cNvSpPr/>
      </dsp:nvSpPr>
      <dsp:spPr>
        <a:xfrm>
          <a:off x="0" y="909729"/>
          <a:ext cx="3610760" cy="827026"/>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sz="2600" kern="1200" dirty="0" smtClean="0"/>
            <a:t>Explore Data</a:t>
          </a:r>
          <a:endParaRPr lang="en-US" sz="2600" kern="1200" dirty="0"/>
        </a:p>
      </dsp:txBody>
      <dsp:txXfrm>
        <a:off x="40372" y="950101"/>
        <a:ext cx="3530016" cy="746282"/>
      </dsp:txXfrm>
    </dsp:sp>
    <dsp:sp modelId="{512A6BFB-923A-43A1-819B-1679AB2EE5B7}">
      <dsp:nvSpPr>
        <dsp:cNvPr id="0" name=""/>
        <dsp:cNvSpPr/>
      </dsp:nvSpPr>
      <dsp:spPr>
        <a:xfrm>
          <a:off x="3610760" y="1819458"/>
          <a:ext cx="5416140" cy="827026"/>
        </a:xfrm>
        <a:prstGeom prst="rightArrow">
          <a:avLst>
            <a:gd name="adj1" fmla="val 75000"/>
            <a:gd name="adj2" fmla="val 5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en-US" sz="1200" kern="1200" dirty="0" smtClean="0"/>
            <a:t>10 years of data(January 1</a:t>
          </a:r>
          <a:r>
            <a:rPr lang="en-US" sz="1200" kern="1200" baseline="30000" dirty="0" smtClean="0"/>
            <a:t>st</a:t>
          </a:r>
          <a:r>
            <a:rPr lang="en-US" sz="1200" kern="1200" dirty="0" smtClean="0"/>
            <a:t> 2016 to April 20</a:t>
          </a:r>
          <a:r>
            <a:rPr lang="en-US" sz="1200" kern="1200" baseline="30000" dirty="0" smtClean="0"/>
            <a:t>th</a:t>
          </a:r>
          <a:r>
            <a:rPr lang="en-US" sz="1200" kern="1200" dirty="0" smtClean="0"/>
            <a:t> 2026)</a:t>
          </a:r>
          <a:endParaRPr lang="en-US" sz="1200" kern="1200" dirty="0"/>
        </a:p>
        <a:p>
          <a:pPr marL="114300" lvl="1" indent="-114300" algn="l" defTabSz="533400">
            <a:lnSpc>
              <a:spcPct val="90000"/>
            </a:lnSpc>
            <a:spcBef>
              <a:spcPct val="0"/>
            </a:spcBef>
            <a:spcAft>
              <a:spcPct val="15000"/>
            </a:spcAft>
            <a:buChar char="••"/>
          </a:pPr>
          <a:r>
            <a:rPr lang="en-US" sz="1200" kern="1200" dirty="0" smtClean="0"/>
            <a:t>Date and Close columns</a:t>
          </a:r>
          <a:endParaRPr lang="en-US" sz="1200" kern="1200" dirty="0"/>
        </a:p>
        <a:p>
          <a:pPr marL="114300" lvl="1" indent="-114300" algn="l" defTabSz="533400">
            <a:lnSpc>
              <a:spcPct val="90000"/>
            </a:lnSpc>
            <a:spcBef>
              <a:spcPct val="0"/>
            </a:spcBef>
            <a:spcAft>
              <a:spcPct val="15000"/>
            </a:spcAft>
            <a:buChar char="••"/>
          </a:pPr>
          <a:r>
            <a:rPr lang="en-US" sz="1200" kern="1200" dirty="0" smtClean="0"/>
            <a:t>Export new data frame</a:t>
          </a:r>
          <a:endParaRPr lang="en-US" sz="1200" kern="1200" dirty="0"/>
        </a:p>
      </dsp:txBody>
      <dsp:txXfrm>
        <a:off x="3610760" y="1922836"/>
        <a:ext cx="5106005" cy="620270"/>
      </dsp:txXfrm>
    </dsp:sp>
    <dsp:sp modelId="{B56F6FA1-4762-428C-91C2-291B1793313E}">
      <dsp:nvSpPr>
        <dsp:cNvPr id="0" name=""/>
        <dsp:cNvSpPr/>
      </dsp:nvSpPr>
      <dsp:spPr>
        <a:xfrm>
          <a:off x="0" y="1819458"/>
          <a:ext cx="3610760" cy="827026"/>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100000"/>
            </a:lnSpc>
            <a:spcBef>
              <a:spcPct val="0"/>
            </a:spcBef>
            <a:spcAft>
              <a:spcPct val="35000"/>
            </a:spcAft>
          </a:pPr>
          <a:r>
            <a:rPr lang="en-US" sz="2600" kern="1200" noProof="0" smtClean="0">
              <a:effectLst>
                <a:glow rad="152400">
                  <a:schemeClr val="bg1">
                    <a:alpha val="19000"/>
                  </a:schemeClr>
                </a:glow>
              </a:effectLst>
            </a:rPr>
            <a:t>Filter Data for Model</a:t>
          </a:r>
          <a:endParaRPr lang="en-US" sz="2600" kern="1200" noProof="0" dirty="0">
            <a:effectLst>
              <a:glow rad="152400">
                <a:schemeClr val="bg1">
                  <a:alpha val="19000"/>
                </a:schemeClr>
              </a:glow>
            </a:effectLst>
          </a:endParaRPr>
        </a:p>
      </dsp:txBody>
      <dsp:txXfrm>
        <a:off x="40372" y="1859830"/>
        <a:ext cx="3530016" cy="7462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C8A52-7B8F-4B29-9880-8A54CDE3D586}">
      <dsp:nvSpPr>
        <dsp:cNvPr id="0" name=""/>
        <dsp:cNvSpPr/>
      </dsp:nvSpPr>
      <dsp:spPr>
        <a:xfrm>
          <a:off x="0" y="0"/>
          <a:ext cx="9026901" cy="793945"/>
        </a:xfrm>
        <a:prstGeom prst="rect">
          <a:avLst/>
        </a:prstGeom>
        <a:noFill/>
        <a:ln>
          <a:noFill/>
        </a:ln>
        <a:effectLst/>
      </dsp:spPr>
      <dsp:style>
        <a:lnRef idx="0">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lvl="0" algn="ctr" defTabSz="1511300">
            <a:lnSpc>
              <a:spcPct val="100000"/>
            </a:lnSpc>
            <a:spcBef>
              <a:spcPct val="0"/>
            </a:spcBef>
            <a:spcAft>
              <a:spcPct val="35000"/>
            </a:spcAft>
          </a:pPr>
          <a:r>
            <a:rPr lang="en-US" sz="3400" kern="1200" baseline="0" noProof="0" dirty="0" smtClean="0">
              <a:effectLst>
                <a:glow rad="152400">
                  <a:schemeClr val="bg1">
                    <a:alpha val="19000"/>
                  </a:schemeClr>
                </a:glow>
              </a:effectLst>
            </a:rPr>
            <a:t>Data Preparation &amp; Stationarity Check</a:t>
          </a:r>
          <a:endParaRPr lang="en-US" sz="3400" kern="1200" baseline="0" noProof="0" dirty="0">
            <a:effectLst>
              <a:glow rad="152400">
                <a:schemeClr val="bg1">
                  <a:alpha val="19000"/>
                </a:schemeClr>
              </a:glow>
            </a:effectLst>
          </a:endParaRPr>
        </a:p>
      </dsp:txBody>
      <dsp:txXfrm>
        <a:off x="0" y="0"/>
        <a:ext cx="9026901" cy="793945"/>
      </dsp:txXfrm>
    </dsp:sp>
    <dsp:sp modelId="{80A34043-9A27-4227-80FB-29368BC5F7FD}">
      <dsp:nvSpPr>
        <dsp:cNvPr id="0" name=""/>
        <dsp:cNvSpPr/>
      </dsp:nvSpPr>
      <dsp:spPr>
        <a:xfrm>
          <a:off x="0" y="793945"/>
          <a:ext cx="4513450" cy="166728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lvl="0" algn="ctr" defTabSz="2044700">
            <a:lnSpc>
              <a:spcPct val="90000"/>
            </a:lnSpc>
            <a:spcBef>
              <a:spcPct val="0"/>
            </a:spcBef>
            <a:spcAft>
              <a:spcPct val="35000"/>
            </a:spcAft>
          </a:pPr>
          <a:r>
            <a:rPr lang="en-US" sz="4600" kern="1200" dirty="0" smtClean="0"/>
            <a:t>Stationarity Checks</a:t>
          </a:r>
          <a:endParaRPr lang="en-US" sz="4600" kern="1200" dirty="0"/>
        </a:p>
      </dsp:txBody>
      <dsp:txXfrm>
        <a:off x="0" y="793945"/>
        <a:ext cx="4513450" cy="1667285"/>
      </dsp:txXfrm>
    </dsp:sp>
    <dsp:sp modelId="{902EFDFC-94AA-46BF-8664-7415F0E13965}">
      <dsp:nvSpPr>
        <dsp:cNvPr id="0" name=""/>
        <dsp:cNvSpPr/>
      </dsp:nvSpPr>
      <dsp:spPr>
        <a:xfrm>
          <a:off x="4513450" y="793945"/>
          <a:ext cx="4513450" cy="1667285"/>
        </a:xfrm>
        <a:prstGeom prst="rect">
          <a:avLst/>
        </a:prstGeom>
        <a:solidFill>
          <a:schemeClr val="accent3">
            <a:hueOff val="3108557"/>
            <a:satOff val="-45988"/>
            <a:lumOff val="862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lvl="0" algn="ctr" defTabSz="2044700">
            <a:lnSpc>
              <a:spcPct val="90000"/>
            </a:lnSpc>
            <a:spcBef>
              <a:spcPct val="0"/>
            </a:spcBef>
            <a:spcAft>
              <a:spcPct val="35000"/>
            </a:spcAft>
          </a:pPr>
          <a:r>
            <a:rPr lang="en-US" sz="4600" kern="1200" dirty="0" smtClean="0"/>
            <a:t>70/30 Split</a:t>
          </a:r>
          <a:endParaRPr lang="en-US" sz="4600" kern="1200" dirty="0"/>
        </a:p>
      </dsp:txBody>
      <dsp:txXfrm>
        <a:off x="4513450" y="793945"/>
        <a:ext cx="4513450" cy="1667285"/>
      </dsp:txXfrm>
    </dsp:sp>
    <dsp:sp modelId="{6940197E-82FB-4C13-ADBD-22701A0DE830}">
      <dsp:nvSpPr>
        <dsp:cNvPr id="0" name=""/>
        <dsp:cNvSpPr/>
      </dsp:nvSpPr>
      <dsp:spPr>
        <a:xfrm>
          <a:off x="0" y="2461231"/>
          <a:ext cx="9026901" cy="185253"/>
        </a:xfrm>
        <a:prstGeom prst="rect">
          <a:avLst/>
        </a:prstGeom>
        <a:solidFill>
          <a:schemeClr val="accent3">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7B1D75-136E-47B2-B318-7B7ED267493C}">
      <dsp:nvSpPr>
        <dsp:cNvPr id="0" name=""/>
        <dsp:cNvSpPr/>
      </dsp:nvSpPr>
      <dsp:spPr>
        <a:xfrm>
          <a:off x="313907" y="28111"/>
          <a:ext cx="4090240" cy="4210624"/>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2D06009-E39B-403B-BF5C-11F9FF8853C6}">
      <dsp:nvSpPr>
        <dsp:cNvPr id="0" name=""/>
        <dsp:cNvSpPr/>
      </dsp:nvSpPr>
      <dsp:spPr>
        <a:xfrm>
          <a:off x="4464068" y="3030534"/>
          <a:ext cx="3488778" cy="21549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100000"/>
            </a:lnSpc>
            <a:spcBef>
              <a:spcPct val="0"/>
            </a:spcBef>
            <a:spcAft>
              <a:spcPct val="35000"/>
            </a:spcAft>
          </a:pPr>
          <a:r>
            <a:rPr lang="en-US" sz="3200" kern="1200" baseline="0" noProof="0" dirty="0" smtClean="0">
              <a:solidFill>
                <a:schemeClr val="bg1"/>
              </a:solidFill>
              <a:effectLst>
                <a:glow rad="152400">
                  <a:schemeClr val="bg1">
                    <a:alpha val="19000"/>
                  </a:schemeClr>
                </a:glow>
              </a:effectLst>
            </a:rPr>
            <a:t>Model Identification</a:t>
          </a:r>
          <a:endParaRPr lang="en-US" sz="3200" kern="1200" baseline="0" noProof="0" dirty="0">
            <a:solidFill>
              <a:schemeClr val="bg1"/>
            </a:solidFill>
            <a:effectLst>
              <a:glow rad="152400">
                <a:schemeClr val="bg1">
                  <a:alpha val="19000"/>
                </a:schemeClr>
              </a:glow>
            </a:effectLst>
          </a:endParaRPr>
        </a:p>
        <a:p>
          <a:pPr marL="228600" lvl="1" indent="-228600" algn="l" defTabSz="1111250">
            <a:lnSpc>
              <a:spcPct val="90000"/>
            </a:lnSpc>
            <a:spcBef>
              <a:spcPct val="0"/>
            </a:spcBef>
            <a:spcAft>
              <a:spcPct val="15000"/>
            </a:spcAft>
            <a:buChar char="••"/>
          </a:pPr>
          <a:r>
            <a:rPr lang="en-US" sz="2500" kern="1200" dirty="0" smtClean="0">
              <a:solidFill>
                <a:schemeClr val="bg1"/>
              </a:solidFill>
            </a:rPr>
            <a:t>Auto_arima function</a:t>
          </a:r>
          <a:endParaRPr lang="en-US" sz="2500" kern="1200" dirty="0">
            <a:solidFill>
              <a:schemeClr val="bg1"/>
            </a:solidFill>
          </a:endParaRPr>
        </a:p>
      </dsp:txBody>
      <dsp:txXfrm>
        <a:off x="4464068" y="3030534"/>
        <a:ext cx="3488778" cy="2154956"/>
      </dsp:txXfrm>
    </dsp:sp>
    <dsp:sp modelId="{E8FD5EE0-8DA8-45EA-BB57-882DC645BEE2}">
      <dsp:nvSpPr>
        <dsp:cNvPr id="0" name=""/>
        <dsp:cNvSpPr/>
      </dsp:nvSpPr>
      <dsp:spPr>
        <a:xfrm>
          <a:off x="4156253" y="2722984"/>
          <a:ext cx="837868" cy="838085"/>
        </a:xfrm>
        <a:prstGeom prst="halfFrame">
          <a:avLst>
            <a:gd name="adj1" fmla="val 25770"/>
            <a:gd name="adj2" fmla="val 25770"/>
          </a:avLst>
        </a:prstGeom>
        <a:solidFill>
          <a:schemeClr val="accent2">
            <a:hueOff val="0"/>
            <a:satOff val="0"/>
            <a:lumOff val="0"/>
            <a:alphaOff val="0"/>
          </a:schemeClr>
        </a:solid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EEBC32-46FB-494A-A9B0-6BD5BE4568D7}">
      <dsp:nvSpPr>
        <dsp:cNvPr id="0" name=""/>
        <dsp:cNvSpPr/>
      </dsp:nvSpPr>
      <dsp:spPr>
        <a:xfrm rot="5400000">
          <a:off x="7446951" y="2723092"/>
          <a:ext cx="838085" cy="837868"/>
        </a:xfrm>
        <a:prstGeom prst="halfFrame">
          <a:avLst>
            <a:gd name="adj1" fmla="val 25770"/>
            <a:gd name="adj2" fmla="val 25770"/>
          </a:avLst>
        </a:prstGeom>
        <a:solidFill>
          <a:schemeClr val="accent3">
            <a:hueOff val="0"/>
            <a:satOff val="0"/>
            <a:lumOff val="0"/>
            <a:alphaOff val="0"/>
          </a:schemeClr>
        </a:solid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7E631D-681A-482E-8EEA-7F82B0AE885E}">
      <dsp:nvSpPr>
        <dsp:cNvPr id="0" name=""/>
        <dsp:cNvSpPr/>
      </dsp:nvSpPr>
      <dsp:spPr>
        <a:xfrm rot="16200000">
          <a:off x="4156145" y="4655485"/>
          <a:ext cx="838085" cy="837868"/>
        </a:xfrm>
        <a:prstGeom prst="halfFrame">
          <a:avLst>
            <a:gd name="adj1" fmla="val 25770"/>
            <a:gd name="adj2" fmla="val 25770"/>
          </a:avLst>
        </a:prstGeom>
        <a:solidFill>
          <a:schemeClr val="accent4">
            <a:hueOff val="0"/>
            <a:satOff val="0"/>
            <a:lumOff val="0"/>
            <a:alphaOff val="0"/>
          </a:schemeClr>
        </a:solid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E5FFFF-1DE2-4096-BB37-FB8172432404}">
      <dsp:nvSpPr>
        <dsp:cNvPr id="0" name=""/>
        <dsp:cNvSpPr/>
      </dsp:nvSpPr>
      <dsp:spPr>
        <a:xfrm rot="10800000">
          <a:off x="7447059" y="4655377"/>
          <a:ext cx="837868" cy="838085"/>
        </a:xfrm>
        <a:prstGeom prst="halfFrame">
          <a:avLst>
            <a:gd name="adj1" fmla="val 25770"/>
            <a:gd name="adj2" fmla="val 25770"/>
          </a:avLst>
        </a:prstGeom>
        <a:solidFill>
          <a:schemeClr val="accent5">
            <a:hueOff val="0"/>
            <a:satOff val="0"/>
            <a:lumOff val="0"/>
            <a:alphaOff val="0"/>
          </a:schemeClr>
        </a:solid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D12362-0BDB-49E9-B941-0039C7BEEE94}">
      <dsp:nvSpPr>
        <dsp:cNvPr id="0" name=""/>
        <dsp:cNvSpPr/>
      </dsp:nvSpPr>
      <dsp:spPr>
        <a:xfrm>
          <a:off x="275953" y="1592"/>
          <a:ext cx="4462735" cy="3570188"/>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33F78E-17BC-4881-B894-89B5E75C62A6}">
      <dsp:nvSpPr>
        <dsp:cNvPr id="0" name=""/>
        <dsp:cNvSpPr/>
      </dsp:nvSpPr>
      <dsp:spPr>
        <a:xfrm>
          <a:off x="677599" y="3214762"/>
          <a:ext cx="3971834" cy="1249565"/>
        </a:xfrm>
        <a:prstGeom prst="wedgeRectCallout">
          <a:avLst>
            <a:gd name="adj1" fmla="val 20250"/>
            <a:gd name="adj2" fmla="val -60700"/>
          </a:avLst>
        </a:prstGeom>
        <a:no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100000"/>
            </a:lnSpc>
            <a:spcBef>
              <a:spcPct val="0"/>
            </a:spcBef>
            <a:spcAft>
              <a:spcPct val="35000"/>
            </a:spcAft>
          </a:pPr>
          <a:endParaRPr lang="en-US" sz="2000" kern="1200" baseline="0" noProof="0" dirty="0" smtClean="0">
            <a:solidFill>
              <a:schemeClr val="bg1"/>
            </a:solidFill>
            <a:effectLst>
              <a:glow rad="152400">
                <a:schemeClr val="bg1">
                  <a:alpha val="19000"/>
                </a:schemeClr>
              </a:glow>
            </a:effectLst>
          </a:endParaRPr>
        </a:p>
        <a:p>
          <a:pPr lvl="0" algn="ctr" defTabSz="889000">
            <a:lnSpc>
              <a:spcPct val="100000"/>
            </a:lnSpc>
            <a:spcBef>
              <a:spcPct val="0"/>
            </a:spcBef>
            <a:spcAft>
              <a:spcPct val="35000"/>
            </a:spcAft>
          </a:pPr>
          <a:r>
            <a:rPr lang="en-US" sz="2000" kern="1200" baseline="0" noProof="0" dirty="0" smtClean="0">
              <a:solidFill>
                <a:schemeClr val="bg1"/>
              </a:solidFill>
              <a:effectLst>
                <a:glow rad="152400">
                  <a:schemeClr val="bg1">
                    <a:alpha val="19000"/>
                  </a:schemeClr>
                </a:glow>
              </a:effectLst>
            </a:rPr>
            <a:t>Forecast compared to Test Data</a:t>
          </a:r>
          <a:endParaRPr lang="en-US" sz="2000" kern="1200" baseline="0" noProof="0" dirty="0">
            <a:solidFill>
              <a:schemeClr val="bg1"/>
            </a:solidFill>
            <a:effectLst>
              <a:glow rad="152400">
                <a:schemeClr val="bg1">
                  <a:alpha val="19000"/>
                </a:schemeClr>
              </a:glow>
            </a:effectLst>
          </a:endParaRPr>
        </a:p>
      </dsp:txBody>
      <dsp:txXfrm>
        <a:off x="677599" y="3214762"/>
        <a:ext cx="3971834" cy="1249565"/>
      </dsp:txXfrm>
    </dsp:sp>
    <dsp:sp modelId="{B1572288-1943-429E-B348-20DD2E302961}">
      <dsp:nvSpPr>
        <dsp:cNvPr id="0" name=""/>
        <dsp:cNvSpPr/>
      </dsp:nvSpPr>
      <dsp:spPr>
        <a:xfrm>
          <a:off x="5184961" y="1592"/>
          <a:ext cx="4462735" cy="3570188"/>
        </a:xfrm>
        <a:prstGeom prst="rect">
          <a:avLst/>
        </a:prstGeom>
        <a:blipFill rotWithShape="1">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B0EF884-4CB0-463A-95FC-F28C99CE7AA2}">
      <dsp:nvSpPr>
        <dsp:cNvPr id="0" name=""/>
        <dsp:cNvSpPr/>
      </dsp:nvSpPr>
      <dsp:spPr>
        <a:xfrm>
          <a:off x="5586607" y="3214762"/>
          <a:ext cx="3971834" cy="1249565"/>
        </a:xfrm>
        <a:prstGeom prst="wedgeRectCallout">
          <a:avLst>
            <a:gd name="adj1" fmla="val 20250"/>
            <a:gd name="adj2" fmla="val -60700"/>
          </a:avLst>
        </a:prstGeom>
        <a:no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100000"/>
            </a:lnSpc>
            <a:spcBef>
              <a:spcPct val="0"/>
            </a:spcBef>
            <a:spcAft>
              <a:spcPct val="35000"/>
            </a:spcAft>
          </a:pPr>
          <a:endParaRPr lang="en-US" sz="2000" kern="1200" baseline="0" noProof="0" dirty="0" smtClean="0">
            <a:solidFill>
              <a:schemeClr val="bg1"/>
            </a:solidFill>
            <a:effectLst>
              <a:glow rad="152400">
                <a:schemeClr val="bg1">
                  <a:alpha val="19000"/>
                </a:schemeClr>
              </a:glow>
            </a:effectLst>
          </a:endParaRPr>
        </a:p>
        <a:p>
          <a:pPr lvl="0" algn="ctr" defTabSz="889000">
            <a:lnSpc>
              <a:spcPct val="100000"/>
            </a:lnSpc>
            <a:spcBef>
              <a:spcPct val="0"/>
            </a:spcBef>
            <a:spcAft>
              <a:spcPct val="35000"/>
            </a:spcAft>
          </a:pPr>
          <a:r>
            <a:rPr lang="en-US" sz="2000" kern="1200" baseline="0" noProof="0" dirty="0" smtClean="0">
              <a:solidFill>
                <a:schemeClr val="bg1"/>
              </a:solidFill>
              <a:effectLst>
                <a:glow rad="152400">
                  <a:schemeClr val="bg1">
                    <a:alpha val="19000"/>
                  </a:schemeClr>
                </a:glow>
              </a:effectLst>
            </a:rPr>
            <a:t>Close Price with Forecasted Projections</a:t>
          </a:r>
          <a:endParaRPr lang="en-US" sz="2000" kern="1200" baseline="0" noProof="0" dirty="0">
            <a:solidFill>
              <a:schemeClr val="bg1"/>
            </a:solidFill>
            <a:effectLst>
              <a:glow rad="152400">
                <a:schemeClr val="bg1">
                  <a:alpha val="19000"/>
                </a:schemeClr>
              </a:glow>
            </a:effectLst>
          </a:endParaRPr>
        </a:p>
      </dsp:txBody>
      <dsp:txXfrm>
        <a:off x="5586607" y="3214762"/>
        <a:ext cx="3971834" cy="124956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DE511-231A-42FC-BF48-F87FDCB331F7}">
      <dsp:nvSpPr>
        <dsp:cNvPr id="0" name=""/>
        <dsp:cNvSpPr/>
      </dsp:nvSpPr>
      <dsp:spPr>
        <a:xfrm>
          <a:off x="1391622" y="1349"/>
          <a:ext cx="2994071" cy="1796442"/>
        </a:xfrm>
        <a:prstGeom prst="rect">
          <a:avLst/>
        </a:prstGeom>
        <a:solidFill>
          <a:schemeClr val="accent2">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lvl="0" algn="l" defTabSz="622300">
            <a:lnSpc>
              <a:spcPct val="100000"/>
            </a:lnSpc>
            <a:spcBef>
              <a:spcPct val="0"/>
            </a:spcBef>
            <a:spcAft>
              <a:spcPct val="35000"/>
            </a:spcAft>
          </a:pPr>
          <a:r>
            <a:rPr lang="en-US" sz="1400" kern="1200" baseline="0" noProof="0" dirty="0" smtClean="0">
              <a:effectLst>
                <a:glow rad="152400">
                  <a:schemeClr val="bg1">
                    <a:alpha val="19000"/>
                  </a:schemeClr>
                </a:glow>
              </a:effectLst>
            </a:rPr>
            <a:t>Data</a:t>
          </a:r>
          <a:endParaRPr lang="en-US" sz="1400" kern="1200" baseline="0" noProof="0" dirty="0">
            <a:effectLst>
              <a:glow rad="152400">
                <a:schemeClr val="bg1">
                  <a:alpha val="19000"/>
                </a:schemeClr>
              </a:glow>
            </a:effectLst>
          </a:endParaRPr>
        </a:p>
        <a:p>
          <a:pPr marL="57150" lvl="1" indent="-57150" algn="l" defTabSz="488950">
            <a:lnSpc>
              <a:spcPct val="100000"/>
            </a:lnSpc>
            <a:spcBef>
              <a:spcPct val="0"/>
            </a:spcBef>
            <a:spcAft>
              <a:spcPct val="15000"/>
            </a:spcAft>
            <a:buChar char="••"/>
          </a:pPr>
          <a:r>
            <a:rPr lang="en-US" sz="1100" kern="1200" baseline="0" noProof="0" dirty="0" smtClean="0">
              <a:effectLst>
                <a:glow rad="152400">
                  <a:schemeClr val="bg1">
                    <a:alpha val="19000"/>
                  </a:schemeClr>
                </a:glow>
              </a:effectLst>
            </a:rPr>
            <a:t>Accuracy and completeness of publically available data</a:t>
          </a:r>
          <a:endParaRPr lang="en-US" sz="1100" kern="1200" baseline="0" noProof="0" dirty="0">
            <a:effectLst>
              <a:glow rad="152400">
                <a:schemeClr val="bg1">
                  <a:alpha val="19000"/>
                </a:schemeClr>
              </a:glow>
            </a:effectLst>
          </a:endParaRPr>
        </a:p>
      </dsp:txBody>
      <dsp:txXfrm>
        <a:off x="1391622" y="1349"/>
        <a:ext cx="2994071" cy="1796442"/>
      </dsp:txXfrm>
    </dsp:sp>
    <dsp:sp modelId="{2C2F33D4-FF6D-4BFD-A952-3EE29B0925EA}">
      <dsp:nvSpPr>
        <dsp:cNvPr id="0" name=""/>
        <dsp:cNvSpPr/>
      </dsp:nvSpPr>
      <dsp:spPr>
        <a:xfrm>
          <a:off x="4685101" y="1349"/>
          <a:ext cx="2994071" cy="1796442"/>
        </a:xfrm>
        <a:prstGeom prst="rect">
          <a:avLst/>
        </a:prstGeom>
        <a:solidFill>
          <a:schemeClr val="accent3">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lvl="0" algn="l" defTabSz="622300">
            <a:lnSpc>
              <a:spcPct val="100000"/>
            </a:lnSpc>
            <a:spcBef>
              <a:spcPct val="0"/>
            </a:spcBef>
            <a:spcAft>
              <a:spcPct val="35000"/>
            </a:spcAft>
          </a:pPr>
          <a:r>
            <a:rPr lang="en-US" sz="1400" kern="1200" noProof="0" dirty="0" smtClean="0">
              <a:effectLst>
                <a:glow rad="152400">
                  <a:schemeClr val="bg1">
                    <a:alpha val="19000"/>
                  </a:schemeClr>
                </a:glow>
              </a:effectLst>
            </a:rPr>
            <a:t>Tools</a:t>
          </a:r>
          <a:endParaRPr lang="en-US" sz="1400" kern="1200" noProof="0" dirty="0">
            <a:effectLst>
              <a:glow rad="152400">
                <a:schemeClr val="bg1">
                  <a:alpha val="19000"/>
                </a:schemeClr>
              </a:glow>
            </a:effectLst>
          </a:endParaRPr>
        </a:p>
        <a:p>
          <a:pPr marL="57150" lvl="1" indent="-57150" algn="l" defTabSz="488950">
            <a:lnSpc>
              <a:spcPct val="100000"/>
            </a:lnSpc>
            <a:spcBef>
              <a:spcPct val="0"/>
            </a:spcBef>
            <a:spcAft>
              <a:spcPct val="15000"/>
            </a:spcAft>
            <a:buChar char="••"/>
          </a:pPr>
          <a:r>
            <a:rPr lang="en-US" sz="1100" kern="1200" noProof="0" dirty="0" smtClean="0">
              <a:effectLst>
                <a:glow rad="152400">
                  <a:schemeClr val="bg1">
                    <a:alpha val="19000"/>
                  </a:schemeClr>
                </a:glow>
              </a:effectLst>
            </a:rPr>
            <a:t>Jupyter Notebook</a:t>
          </a:r>
          <a:endParaRPr lang="en-US" sz="1100" kern="1200" noProof="0" dirty="0">
            <a:effectLst>
              <a:glow rad="152400">
                <a:schemeClr val="bg1">
                  <a:alpha val="19000"/>
                </a:schemeClr>
              </a:glow>
            </a:effectLst>
          </a:endParaRPr>
        </a:p>
        <a:p>
          <a:pPr marL="114300" lvl="2" indent="-57150" algn="l" defTabSz="488950">
            <a:lnSpc>
              <a:spcPct val="100000"/>
            </a:lnSpc>
            <a:spcBef>
              <a:spcPct val="0"/>
            </a:spcBef>
            <a:spcAft>
              <a:spcPct val="15000"/>
            </a:spcAft>
            <a:buChar char="••"/>
          </a:pPr>
          <a:r>
            <a:rPr lang="en-US" sz="1100" kern="1200" noProof="0" dirty="0" smtClean="0">
              <a:effectLst>
                <a:glow rad="152400">
                  <a:schemeClr val="bg1">
                    <a:alpha val="19000"/>
                  </a:schemeClr>
                </a:glow>
              </a:effectLst>
            </a:rPr>
            <a:t>Base Environment not starting </a:t>
          </a:r>
          <a:r>
            <a:rPr lang="en-US" sz="1100" kern="1200" dirty="0" smtClean="0"/>
            <a:t>(Minhas, 2025)</a:t>
          </a:r>
          <a:endParaRPr lang="en-US" sz="1100" kern="1200" noProof="0" dirty="0">
            <a:effectLst>
              <a:glow rad="152400">
                <a:schemeClr val="bg1">
                  <a:alpha val="19000"/>
                </a:schemeClr>
              </a:glow>
            </a:effectLst>
          </a:endParaRPr>
        </a:p>
        <a:p>
          <a:pPr marL="57150" lvl="1" indent="-57150" algn="l" defTabSz="488950">
            <a:lnSpc>
              <a:spcPct val="100000"/>
            </a:lnSpc>
            <a:spcBef>
              <a:spcPct val="0"/>
            </a:spcBef>
            <a:spcAft>
              <a:spcPct val="15000"/>
            </a:spcAft>
            <a:buChar char="••"/>
          </a:pPr>
          <a:r>
            <a:rPr lang="en-US" sz="1100" kern="1200" noProof="0" dirty="0" smtClean="0">
              <a:effectLst>
                <a:glow rad="152400">
                  <a:schemeClr val="bg1">
                    <a:alpha val="19000"/>
                  </a:schemeClr>
                </a:glow>
              </a:effectLst>
            </a:rPr>
            <a:t>Matplotlib</a:t>
          </a:r>
          <a:endParaRPr lang="en-US" sz="1100" kern="1200" noProof="0" dirty="0">
            <a:effectLst>
              <a:glow rad="152400">
                <a:schemeClr val="bg1">
                  <a:alpha val="19000"/>
                </a:schemeClr>
              </a:glow>
            </a:effectLst>
          </a:endParaRPr>
        </a:p>
        <a:p>
          <a:pPr marL="114300" lvl="2" indent="-57150" algn="l" defTabSz="488950">
            <a:lnSpc>
              <a:spcPct val="100000"/>
            </a:lnSpc>
            <a:spcBef>
              <a:spcPct val="0"/>
            </a:spcBef>
            <a:spcAft>
              <a:spcPct val="15000"/>
            </a:spcAft>
            <a:buChar char="••"/>
          </a:pPr>
          <a:r>
            <a:rPr lang="en-US" sz="1100" kern="1200" noProof="0" dirty="0" smtClean="0">
              <a:effectLst>
                <a:glow rad="152400">
                  <a:schemeClr val="bg1">
                    <a:alpha val="19000"/>
                  </a:schemeClr>
                </a:glow>
              </a:effectLst>
            </a:rPr>
            <a:t>Visualizations are static</a:t>
          </a:r>
          <a:endParaRPr lang="en-US" sz="1100" kern="1200" noProof="0" dirty="0">
            <a:effectLst>
              <a:glow rad="152400">
                <a:schemeClr val="bg1">
                  <a:alpha val="19000"/>
                </a:schemeClr>
              </a:glow>
            </a:effectLst>
          </a:endParaRPr>
        </a:p>
      </dsp:txBody>
      <dsp:txXfrm>
        <a:off x="4685101" y="1349"/>
        <a:ext cx="2994071" cy="1796442"/>
      </dsp:txXfrm>
    </dsp:sp>
    <dsp:sp modelId="{384A10FE-84FD-49AD-94CA-BEBCE28F8FDC}">
      <dsp:nvSpPr>
        <dsp:cNvPr id="0" name=""/>
        <dsp:cNvSpPr/>
      </dsp:nvSpPr>
      <dsp:spPr>
        <a:xfrm>
          <a:off x="3038361" y="2097199"/>
          <a:ext cx="2994071" cy="1796442"/>
        </a:xfrm>
        <a:prstGeom prst="rect">
          <a:avLst/>
        </a:prstGeom>
        <a:solidFill>
          <a:schemeClr val="accent4">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kern="1200" noProof="0" dirty="0" smtClean="0">
              <a:solidFill>
                <a:schemeClr val="bg1"/>
              </a:solidFill>
              <a:effectLst>
                <a:glow rad="152400">
                  <a:schemeClr val="bg1">
                    <a:alpha val="19000"/>
                  </a:schemeClr>
                </a:glow>
              </a:effectLst>
            </a:rPr>
            <a:t>Techniques</a:t>
          </a:r>
          <a:endParaRPr lang="en-US" sz="1400" kern="1200" noProof="0" dirty="0">
            <a:solidFill>
              <a:schemeClr val="bg1"/>
            </a:solidFill>
            <a:effectLst>
              <a:glow rad="152400">
                <a:schemeClr val="bg1">
                  <a:alpha val="19000"/>
                </a:schemeClr>
              </a:glow>
            </a:effectLst>
          </a:endParaRPr>
        </a:p>
        <a:p>
          <a:pPr marL="57150" lvl="1" indent="-57150" algn="l" defTabSz="488950">
            <a:lnSpc>
              <a:spcPct val="90000"/>
            </a:lnSpc>
            <a:spcBef>
              <a:spcPct val="0"/>
            </a:spcBef>
            <a:spcAft>
              <a:spcPct val="15000"/>
            </a:spcAft>
            <a:buChar char="••"/>
          </a:pPr>
          <a:r>
            <a:rPr lang="en-US" sz="1100" kern="1200" noProof="0" dirty="0" smtClean="0">
              <a:effectLst>
                <a:glow rad="152400">
                  <a:schemeClr val="bg1">
                    <a:alpha val="19000"/>
                  </a:schemeClr>
                </a:glow>
              </a:effectLst>
            </a:rPr>
            <a:t>ARIMA</a:t>
          </a:r>
          <a:endParaRPr lang="en-US" sz="1100" kern="1200" noProof="0" dirty="0">
            <a:solidFill>
              <a:schemeClr val="bg1"/>
            </a:solidFill>
            <a:effectLst>
              <a:glow rad="152400">
                <a:schemeClr val="bg1">
                  <a:alpha val="19000"/>
                </a:schemeClr>
              </a:glow>
            </a:effectLst>
          </a:endParaRPr>
        </a:p>
        <a:p>
          <a:pPr marL="114300" lvl="2" indent="-57150" algn="l" defTabSz="488950">
            <a:lnSpc>
              <a:spcPct val="90000"/>
            </a:lnSpc>
            <a:spcBef>
              <a:spcPct val="0"/>
            </a:spcBef>
            <a:spcAft>
              <a:spcPct val="15000"/>
            </a:spcAft>
            <a:buChar char="••"/>
          </a:pPr>
          <a:r>
            <a:rPr lang="en-US" sz="1100" kern="1200" noProof="0" dirty="0" smtClean="0">
              <a:effectLst>
                <a:glow rad="152400">
                  <a:schemeClr val="bg1">
                    <a:alpha val="19000"/>
                  </a:schemeClr>
                </a:glow>
              </a:effectLst>
            </a:rPr>
            <a:t>Not for long term forecasting </a:t>
          </a:r>
          <a:r>
            <a:rPr lang="en-US" sz="1100" kern="1200" dirty="0" smtClean="0"/>
            <a:t>(Hayes, 2026)</a:t>
          </a:r>
          <a:endParaRPr lang="en-US" sz="1100" kern="1200" noProof="0" dirty="0">
            <a:solidFill>
              <a:schemeClr val="bg1"/>
            </a:solidFill>
            <a:effectLst>
              <a:glow rad="152400">
                <a:schemeClr val="bg1">
                  <a:alpha val="19000"/>
                </a:schemeClr>
              </a:glow>
            </a:effectLst>
          </a:endParaRPr>
        </a:p>
        <a:p>
          <a:pPr marL="114300" lvl="2" indent="-57150" algn="l" defTabSz="488950">
            <a:lnSpc>
              <a:spcPct val="90000"/>
            </a:lnSpc>
            <a:spcBef>
              <a:spcPct val="0"/>
            </a:spcBef>
            <a:spcAft>
              <a:spcPct val="15000"/>
            </a:spcAft>
            <a:buChar char="••"/>
          </a:pPr>
          <a:r>
            <a:rPr lang="en-US" sz="1100" kern="1200" noProof="0" dirty="0" smtClean="0">
              <a:effectLst>
                <a:glow rad="152400">
                  <a:schemeClr val="bg1">
                    <a:alpha val="19000"/>
                  </a:schemeClr>
                </a:glow>
              </a:effectLst>
            </a:rPr>
            <a:t>Only uses historical data</a:t>
          </a:r>
          <a:endParaRPr lang="en-US" sz="1100" kern="1200" noProof="0" dirty="0">
            <a:solidFill>
              <a:schemeClr val="bg1"/>
            </a:solidFill>
            <a:effectLst>
              <a:glow rad="152400">
                <a:schemeClr val="bg1">
                  <a:alpha val="19000"/>
                </a:schemeClr>
              </a:glow>
            </a:effectLst>
          </a:endParaRPr>
        </a:p>
        <a:p>
          <a:pPr marL="57150" lvl="1" indent="-57150" algn="l" defTabSz="488950">
            <a:lnSpc>
              <a:spcPct val="90000"/>
            </a:lnSpc>
            <a:spcBef>
              <a:spcPct val="0"/>
            </a:spcBef>
            <a:spcAft>
              <a:spcPct val="15000"/>
            </a:spcAft>
            <a:buChar char="••"/>
          </a:pPr>
          <a:r>
            <a:rPr lang="en-US" sz="1100" kern="1200" noProof="0" dirty="0" smtClean="0">
              <a:effectLst>
                <a:glow rad="152400">
                  <a:schemeClr val="bg1">
                    <a:alpha val="19000"/>
                  </a:schemeClr>
                </a:glow>
              </a:effectLst>
            </a:rPr>
            <a:t>Auto_arima</a:t>
          </a:r>
          <a:endParaRPr lang="en-US" sz="1100" kern="1200" noProof="0" dirty="0">
            <a:solidFill>
              <a:schemeClr val="bg1"/>
            </a:solidFill>
            <a:effectLst>
              <a:glow rad="152400">
                <a:schemeClr val="bg1">
                  <a:alpha val="19000"/>
                </a:schemeClr>
              </a:glow>
            </a:effectLst>
          </a:endParaRPr>
        </a:p>
        <a:p>
          <a:pPr marL="114300" lvl="2" indent="-57150" algn="l" defTabSz="488950">
            <a:spcBef>
              <a:spcPct val="0"/>
            </a:spcBef>
            <a:spcAft>
              <a:spcPct val="15000"/>
            </a:spcAft>
            <a:buChar char="••"/>
          </a:pPr>
          <a:r>
            <a:rPr lang="en-US" sz="1100" kern="1200" noProof="0" dirty="0" smtClean="0">
              <a:effectLst>
                <a:glow rad="152400">
                  <a:schemeClr val="bg1">
                    <a:alpha val="19000"/>
                  </a:schemeClr>
                </a:glow>
              </a:effectLst>
            </a:rPr>
            <a:t>Don’t get to see how well other models perform</a:t>
          </a:r>
        </a:p>
        <a:p>
          <a:pPr marL="114300" lvl="2" indent="-57150" algn="l" defTabSz="488950">
            <a:lnSpc>
              <a:spcPct val="100000"/>
            </a:lnSpc>
            <a:spcBef>
              <a:spcPct val="0"/>
            </a:spcBef>
            <a:spcAft>
              <a:spcPct val="15000"/>
            </a:spcAft>
            <a:buChar char="••"/>
          </a:pPr>
          <a:endParaRPr lang="en-US" sz="1100" kern="1200" noProof="0" dirty="0">
            <a:solidFill>
              <a:schemeClr val="bg1"/>
            </a:solidFill>
            <a:effectLst>
              <a:glow rad="152400">
                <a:schemeClr val="bg1">
                  <a:alpha val="19000"/>
                </a:schemeClr>
              </a:glow>
            </a:effectLst>
          </a:endParaRPr>
        </a:p>
      </dsp:txBody>
      <dsp:txXfrm>
        <a:off x="3038361" y="2097199"/>
        <a:ext cx="2994071" cy="17964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2EBE9-A6E0-4FAC-8D22-7CC820B35249}">
      <dsp:nvSpPr>
        <dsp:cNvPr id="0" name=""/>
        <dsp:cNvSpPr/>
      </dsp:nvSpPr>
      <dsp:spPr>
        <a:xfrm>
          <a:off x="0" y="0"/>
          <a:ext cx="3894992" cy="3894992"/>
        </a:xfrm>
        <a:prstGeom prst="pie">
          <a:avLst>
            <a:gd name="adj1" fmla="val 5400000"/>
            <a:gd name="adj2" fmla="val 1620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D52F5BF-645E-4045-B45A-A4937E1028BE}">
      <dsp:nvSpPr>
        <dsp:cNvPr id="0" name=""/>
        <dsp:cNvSpPr/>
      </dsp:nvSpPr>
      <dsp:spPr>
        <a:xfrm>
          <a:off x="1947496" y="0"/>
          <a:ext cx="7123298" cy="3894992"/>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100000"/>
            </a:lnSpc>
            <a:spcBef>
              <a:spcPct val="0"/>
            </a:spcBef>
            <a:spcAft>
              <a:spcPct val="35000"/>
            </a:spcAft>
          </a:pPr>
          <a:r>
            <a:rPr lang="en-US" sz="3500" kern="1200" baseline="0" noProof="0" dirty="0" smtClean="0">
              <a:effectLst>
                <a:glow rad="152400">
                  <a:schemeClr val="bg1">
                    <a:alpha val="19000"/>
                  </a:schemeClr>
                </a:glow>
              </a:effectLst>
            </a:rPr>
            <a:t>Model Improvement</a:t>
          </a:r>
          <a:endParaRPr lang="en-US" sz="3500" kern="1200" baseline="0" noProof="0" dirty="0">
            <a:effectLst>
              <a:glow rad="152400">
                <a:schemeClr val="bg1">
                  <a:alpha val="19000"/>
                </a:schemeClr>
              </a:glow>
            </a:effectLst>
          </a:endParaRPr>
        </a:p>
      </dsp:txBody>
      <dsp:txXfrm>
        <a:off x="1947496" y="0"/>
        <a:ext cx="3561649" cy="1850121"/>
      </dsp:txXfrm>
    </dsp:sp>
    <dsp:sp modelId="{BADEC680-6B79-488B-A764-71D6DB8CF1CB}">
      <dsp:nvSpPr>
        <dsp:cNvPr id="0" name=""/>
        <dsp:cNvSpPr/>
      </dsp:nvSpPr>
      <dsp:spPr>
        <a:xfrm>
          <a:off x="1022435" y="1850121"/>
          <a:ext cx="1850121" cy="1850121"/>
        </a:xfrm>
        <a:prstGeom prst="pie">
          <a:avLst>
            <a:gd name="adj1" fmla="val 5400000"/>
            <a:gd name="adj2" fmla="val 1620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8E78DED7-62A2-479A-8684-BDB80067D024}">
      <dsp:nvSpPr>
        <dsp:cNvPr id="0" name=""/>
        <dsp:cNvSpPr/>
      </dsp:nvSpPr>
      <dsp:spPr>
        <a:xfrm>
          <a:off x="1947496" y="1850121"/>
          <a:ext cx="7123298" cy="1850121"/>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100000"/>
            </a:lnSpc>
            <a:spcBef>
              <a:spcPct val="0"/>
            </a:spcBef>
            <a:spcAft>
              <a:spcPct val="35000"/>
            </a:spcAft>
          </a:pPr>
          <a:r>
            <a:rPr lang="en-US" sz="3500" kern="1200" noProof="0" dirty="0" smtClean="0">
              <a:effectLst>
                <a:glow rad="152400">
                  <a:schemeClr val="bg1">
                    <a:alpha val="19000"/>
                  </a:schemeClr>
                </a:glow>
              </a:effectLst>
            </a:rPr>
            <a:t>Alternative Models</a:t>
          </a:r>
          <a:endParaRPr lang="en-US" sz="3500" kern="1200" noProof="0" dirty="0">
            <a:effectLst>
              <a:glow rad="152400">
                <a:schemeClr val="bg1">
                  <a:alpha val="19000"/>
                </a:schemeClr>
              </a:glow>
            </a:effectLst>
          </a:endParaRPr>
        </a:p>
      </dsp:txBody>
      <dsp:txXfrm>
        <a:off x="1947496" y="1850121"/>
        <a:ext cx="3561649" cy="1850121"/>
      </dsp:txXfrm>
    </dsp:sp>
    <dsp:sp modelId="{DF0E06BF-D084-44D2-93AB-AB6588D4E6C5}">
      <dsp:nvSpPr>
        <dsp:cNvPr id="0" name=""/>
        <dsp:cNvSpPr/>
      </dsp:nvSpPr>
      <dsp:spPr>
        <a:xfrm>
          <a:off x="5509145" y="0"/>
          <a:ext cx="3561649" cy="1850121"/>
        </a:xfrm>
        <a:prstGeom prst="rect">
          <a:avLst/>
        </a:prstGeom>
        <a:noFill/>
        <a:ln>
          <a:noFill/>
        </a:ln>
        <a:effectLst/>
        <a:scene3d>
          <a:camera prst="orthographicFront">
            <a:rot lat="0" lon="0" rev="0"/>
          </a:camera>
          <a:lightRig rig="contrasting" dir="t">
            <a:rot lat="0" lon="0" rev="1200000"/>
          </a:lightRig>
        </a:scene3d>
        <a:sp3d/>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228600" lvl="1" indent="-228600" algn="l" defTabSz="1111250">
            <a:lnSpc>
              <a:spcPct val="100000"/>
            </a:lnSpc>
            <a:spcBef>
              <a:spcPct val="0"/>
            </a:spcBef>
            <a:spcAft>
              <a:spcPct val="15000"/>
            </a:spcAft>
            <a:buChar char="••"/>
          </a:pPr>
          <a:r>
            <a:rPr lang="en-US" sz="2500" kern="1200" baseline="0" noProof="0" dirty="0" smtClean="0">
              <a:effectLst>
                <a:glow rad="152400">
                  <a:schemeClr val="bg1">
                    <a:alpha val="19000"/>
                  </a:schemeClr>
                </a:glow>
              </a:effectLst>
            </a:rPr>
            <a:t>Parameter Changes</a:t>
          </a:r>
          <a:endParaRPr lang="en-US" sz="2500" kern="1200" baseline="0" noProof="0" dirty="0">
            <a:effectLst>
              <a:glow rad="152400">
                <a:schemeClr val="bg1">
                  <a:alpha val="19000"/>
                </a:schemeClr>
              </a:glow>
            </a:effectLst>
          </a:endParaRPr>
        </a:p>
        <a:p>
          <a:pPr marL="228600" lvl="1" indent="-228600" algn="l" defTabSz="1111250">
            <a:lnSpc>
              <a:spcPct val="100000"/>
            </a:lnSpc>
            <a:spcBef>
              <a:spcPct val="0"/>
            </a:spcBef>
            <a:spcAft>
              <a:spcPct val="15000"/>
            </a:spcAft>
            <a:buChar char="••"/>
          </a:pPr>
          <a:r>
            <a:rPr lang="en-US" sz="2500" kern="1200" baseline="0" noProof="0" dirty="0" smtClean="0">
              <a:effectLst>
                <a:glow rad="152400">
                  <a:schemeClr val="bg1">
                    <a:alpha val="19000"/>
                  </a:schemeClr>
                </a:glow>
              </a:effectLst>
            </a:rPr>
            <a:t>Change Split</a:t>
          </a:r>
          <a:endParaRPr lang="en-US" sz="2500" kern="1200" baseline="0" noProof="0" dirty="0">
            <a:effectLst>
              <a:glow rad="152400">
                <a:schemeClr val="bg1">
                  <a:alpha val="19000"/>
                </a:schemeClr>
              </a:glow>
            </a:effectLst>
          </a:endParaRPr>
        </a:p>
      </dsp:txBody>
      <dsp:txXfrm>
        <a:off x="5509145" y="0"/>
        <a:ext cx="3561649" cy="1850121"/>
      </dsp:txXfrm>
    </dsp:sp>
    <dsp:sp modelId="{05679E53-A526-4D04-9A73-9337CA67F5D3}">
      <dsp:nvSpPr>
        <dsp:cNvPr id="0" name=""/>
        <dsp:cNvSpPr/>
      </dsp:nvSpPr>
      <dsp:spPr>
        <a:xfrm>
          <a:off x="5509145" y="1850121"/>
          <a:ext cx="3561649" cy="1850121"/>
        </a:xfrm>
        <a:prstGeom prst="rect">
          <a:avLst/>
        </a:prstGeom>
        <a:noFill/>
        <a:ln>
          <a:noFill/>
        </a:ln>
        <a:effectLst/>
        <a:scene3d>
          <a:camera prst="orthographicFront">
            <a:rot lat="0" lon="0" rev="0"/>
          </a:camera>
          <a:lightRig rig="contrasting" dir="t">
            <a:rot lat="0" lon="0" rev="1200000"/>
          </a:lightRig>
        </a:scene3d>
        <a:sp3d/>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228600" lvl="1" indent="-228600" algn="l" defTabSz="1111250">
            <a:lnSpc>
              <a:spcPct val="100000"/>
            </a:lnSpc>
            <a:spcBef>
              <a:spcPct val="0"/>
            </a:spcBef>
            <a:spcAft>
              <a:spcPct val="15000"/>
            </a:spcAft>
            <a:buChar char="••"/>
          </a:pPr>
          <a:r>
            <a:rPr lang="en-US" sz="2500" kern="1200" noProof="0" dirty="0" smtClean="0">
              <a:effectLst>
                <a:glow rad="152400">
                  <a:schemeClr val="bg1">
                    <a:alpha val="19000"/>
                  </a:schemeClr>
                </a:glow>
              </a:effectLst>
            </a:rPr>
            <a:t>LSTM</a:t>
          </a:r>
          <a:endParaRPr lang="en-US" sz="2500" kern="1200" noProof="0" dirty="0">
            <a:effectLst>
              <a:glow rad="152400">
                <a:schemeClr val="bg1">
                  <a:alpha val="19000"/>
                </a:schemeClr>
              </a:glow>
            </a:effectLst>
          </a:endParaRPr>
        </a:p>
        <a:p>
          <a:pPr marL="457200" lvl="2" indent="-228600" algn="l" defTabSz="1111250">
            <a:lnSpc>
              <a:spcPct val="100000"/>
            </a:lnSpc>
            <a:spcBef>
              <a:spcPct val="0"/>
            </a:spcBef>
            <a:spcAft>
              <a:spcPct val="15000"/>
            </a:spcAft>
            <a:buChar char="••"/>
          </a:pPr>
          <a:r>
            <a:rPr lang="en-US" sz="2500" kern="1200" noProof="0" dirty="0" smtClean="0">
              <a:effectLst>
                <a:glow rad="152400">
                  <a:schemeClr val="bg1">
                    <a:alpha val="19000"/>
                  </a:schemeClr>
                </a:glow>
              </a:effectLst>
            </a:rPr>
            <a:t>Capture complex patterns of market data </a:t>
          </a:r>
          <a:r>
            <a:rPr lang="en-US" sz="2500" kern="1200" dirty="0" smtClean="0"/>
            <a:t>(B, 2025)</a:t>
          </a:r>
          <a:endParaRPr lang="en-US" sz="2500" kern="1200" noProof="0" dirty="0">
            <a:effectLst>
              <a:glow rad="152400">
                <a:schemeClr val="bg1">
                  <a:alpha val="19000"/>
                </a:schemeClr>
              </a:glow>
            </a:effectLst>
          </a:endParaRPr>
        </a:p>
      </dsp:txBody>
      <dsp:txXfrm>
        <a:off x="5509145" y="1850121"/>
        <a:ext cx="3561649" cy="185012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9/3/layout/FramedTextPicture">
  <dgm:title val=""/>
  <dgm:desc val=""/>
  <dgm:catLst>
    <dgm:cat type="picture" pri="20000"/>
    <dgm:cat type="pictureconvert" pri="20000"/>
  </dgm:catLst>
  <dgm:sampData>
    <dgm:dataModel>
      <dgm:ptLst>
        <dgm:pt modelId="0" type="doc"/>
        <dgm:pt modelId="10">
          <dgm:prSet phldr="1"/>
        </dgm:pt>
      </dgm:ptLst>
      <dgm:cxnLst>
        <dgm:cxn modelId="20" srcId="0" destId="10" srcOrd="0" destOrd="0"/>
      </dgm:cxnLst>
      <dgm:bg/>
      <dgm:whole/>
    </dgm:dataModel>
  </dgm:sampData>
  <dgm:styleData>
    <dgm:dataModel>
      <dgm:ptLst>
        <dgm:pt modelId="0" type="doc"/>
        <dgm:pt modelId="10">
          <dgm:prSet phldr="1"/>
        </dgm:pt>
      </dgm:ptLst>
      <dgm:cxnLst>
        <dgm:cxn modelId="20" srcId="0" destId="10" srcOrd="0" destOrd="0"/>
      </dgm:cxnLst>
      <dgm:bg/>
      <dgm:whole/>
    </dgm:dataModel>
  </dgm:styleData>
  <dgm:clrData>
    <dgm:dataModel>
      <dgm:ptLst>
        <dgm:pt modelId="0" type="doc"/>
        <dgm:pt modelId="10">
          <dgm:prSet phldr="1"/>
        </dgm:pt>
      </dgm:ptLst>
      <dgm:cxnLst>
        <dgm:cxn modelId="20" srcId="0" destId="10" srcOrd="0" destOrd="0"/>
      </dgm:cxnLst>
      <dgm:bg/>
      <dgm:whole/>
    </dgm:dataModel>
  </dgm:clrData>
  <dgm:layoutNode name="Name0">
    <dgm:varLst>
      <dgm:chMax/>
      <dgm:chPref/>
      <dgm:dir/>
    </dgm:varLst>
    <dgm:choose name="Name1">
      <dgm:if name="Name2" func="var" arg="dir" op="equ" val="norm">
        <dgm:alg type="snake">
          <dgm:param type="grDir" val="tL"/>
          <dgm:param type="off" val="ctr"/>
        </dgm:alg>
      </dgm:if>
      <dgm:else name="Name3">
        <dgm:alg type="snake">
          <dgm:param type="grDir" val="tR"/>
          <dgm:param type="off" val="ctr"/>
        </dgm:alg>
      </dgm:else>
    </dgm:choose>
    <dgm:shape xmlns:r="http://schemas.openxmlformats.org/officeDocument/2006/relationships" r:blip="">
      <dgm:adjLst/>
    </dgm:shape>
    <dgm:constrLst>
      <dgm:constr type="w" for="ch" forName="composite" refType="w"/>
      <dgm:constr type="h" for="ch" forName="composite" refType="h"/>
      <dgm:constr type="primFontSz" for="des" ptType="node" op="equ" val="65"/>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dgm:chPref/>
        </dgm:varLst>
        <dgm:alg type="composite">
          <dgm:param type="ar" val="1.5179"/>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w" fact="0.3856"/>
              <dgm:constr type="h" for="ch" forName="Image" refType="h" fact="0.3902"/>
              <dgm:constr type="l" for="ch" forName="ParentText" refType="w" fact="0.4017"/>
              <dgm:constr type="t" for="ch" forName="ParentText" refType="h" fact="0.4146"/>
              <dgm:constr type="w" for="ch" forName="ParentText" refType="w" fact="0.5463"/>
              <dgm:constr type="h" for="ch" forName="ParentText" refType="h" fact="0.5122"/>
              <dgm:constr type="l" for="ch" forName="tlFrame" refType="w" fact="0.3535"/>
              <dgm:constr type="t" for="ch" forName="tlFrame" refType="h" fact="0.3415"/>
              <dgm:constr type="w" for="ch" forName="tlFrame" refType="w" fact="0.1312"/>
              <dgm:constr type="h" for="ch" forName="tlFrame" refType="h" fact="0.1992"/>
              <dgm:constr type="l" for="ch" forName="trFrame" refType="w" fact="0.8688"/>
              <dgm:constr type="t" for="ch" forName="trFrame" refType="h" fact="0.3415"/>
              <dgm:constr type="w" for="ch" forName="trFrame" refType="w" fact="0.1312"/>
              <dgm:constr type="h" for="ch" forName="trFrame" refType="h" fact="0.1992"/>
              <dgm:constr type="l" for="ch" forName="blFrame" refType="w" fact="0.3535"/>
              <dgm:constr type="t" for="ch" forName="blFrame" refType="h" fact="0.8008"/>
              <dgm:constr type="w" for="ch" forName="blFrame" refType="w" fact="0.1312"/>
              <dgm:constr type="h" for="ch" forName="blFrame" refType="h" fact="0.1992"/>
              <dgm:constr type="l" for="ch" forName="brFrame" refType="w" fact="0.8688"/>
              <dgm:constr type="t" for="ch" forName="brFrame" refType="h" fact="0.8008"/>
              <dgm:constr type="w" for="ch" forName="brFrame" refType="w" fact="0.1312"/>
              <dgm:constr type="h" for="ch" forName="brFrame" refType="h" fact="0.1992"/>
            </dgm:constrLst>
          </dgm:if>
          <dgm:else name="Name6">
            <dgm:constrLst>
              <dgm:constr type="l" for="ch" forName="Image" refType="w" fact="0.6144"/>
              <dgm:constr type="t" for="ch" forName="Image" refType="h" fact="0"/>
              <dgm:constr type="w" for="ch" forName="Image" refType="w" fact="0.3856"/>
              <dgm:constr type="h" for="ch" forName="Image" refType="h" fact="0.3902"/>
              <dgm:constr type="l" for="ch" forName="ParentText" refType="w" fact="0.0482"/>
              <dgm:constr type="t" for="ch" forName="ParentText" refType="h" fact="0.4146"/>
              <dgm:constr type="w" for="ch" forName="ParentText" refType="w" fact="0.5463"/>
              <dgm:constr type="h" for="ch" forName="ParentText" refType="h" fact="0.5122"/>
              <dgm:constr type="l" for="ch" forName="tlFrame" refType="w" fact="0"/>
              <dgm:constr type="t" for="ch" forName="tlFrame" refType="h" fact="0.3415"/>
              <dgm:constr type="w" for="ch" forName="tlFrame" refType="w" fact="0.1312"/>
              <dgm:constr type="h" for="ch" forName="tlFrame" refType="h" fact="0.1992"/>
              <dgm:constr type="l" for="ch" forName="trFrame" refType="w" fact="0.5153"/>
              <dgm:constr type="t" for="ch" forName="trFrame" refType="h" fact="0.3415"/>
              <dgm:constr type="w" for="ch" forName="trFrame" refType="w" fact="0.1312"/>
              <dgm:constr type="h" for="ch" forName="trFrame" refType="h" fact="0.1992"/>
              <dgm:constr type="l" for="ch" forName="blFrame" refType="w" fact="0"/>
              <dgm:constr type="t" for="ch" forName="blFrame" refType="h" fact="0.8008"/>
              <dgm:constr type="w" for="ch" forName="blFrame" refType="w" fact="0.1312"/>
              <dgm:constr type="h" for="ch" forName="blFrame" refType="h" fact="0.1992"/>
              <dgm:constr type="l" for="ch" forName="brFrame" refType="w" fact="0.5153"/>
              <dgm:constr type="t" for="ch" forName="brFrame" refType="h" fact="0.8008"/>
              <dgm:constr type="w" for="ch" forName="brFrame" refType="w" fact="0.1312"/>
              <dgm:constr type="h" for="ch" forName="brFrame" refType="h" fact="0.1992"/>
            </dgm:constrLst>
          </dgm:else>
        </dgm:choose>
        <dgm:layoutNode name="Image" styleLbl="bgImgPlace1">
          <dgm:alg type="sp"/>
          <dgm:shape xmlns:r="http://schemas.openxmlformats.org/officeDocument/2006/relationships" type="rect" r:blip="" blipPhldr="1">
            <dgm:adjLst/>
          </dgm:shape>
          <dgm:presOf/>
        </dgm:layoutNode>
        <dgm:layoutNode name="ParentText" styleLbl="revTx">
          <dgm:varLst>
            <dgm:chMax val="0"/>
            <dgm:chPref val="0"/>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lFrame" styleLbl="node1">
          <dgm:alg type="sp"/>
          <dgm:shape xmlns:r="http://schemas.openxmlformats.org/officeDocument/2006/relationships" type="halfFrame" r:blip="">
            <dgm:adjLst>
              <dgm:adj idx="1" val="0.2577"/>
              <dgm:adj idx="2" val="0.2577"/>
            </dgm:adjLst>
          </dgm:shape>
          <dgm:presOf/>
        </dgm:layoutNode>
        <dgm:layoutNode name="trFrame" styleLbl="node1">
          <dgm:alg type="sp"/>
          <dgm:shape xmlns:r="http://schemas.openxmlformats.org/officeDocument/2006/relationships" rot="90" type="halfFrame" r:blip="">
            <dgm:adjLst>
              <dgm:adj idx="1" val="0.2577"/>
              <dgm:adj idx="2" val="0.2577"/>
            </dgm:adjLst>
          </dgm:shape>
          <dgm:presOf/>
        </dgm:layoutNode>
        <dgm:layoutNode name="blFrame" styleLbl="node1">
          <dgm:alg type="sp"/>
          <dgm:shape xmlns:r="http://schemas.openxmlformats.org/officeDocument/2006/relationships" rot="270" type="halfFrame" r:blip="">
            <dgm:adjLst>
              <dgm:adj idx="1" val="0.2577"/>
              <dgm:adj idx="2" val="0.2577"/>
            </dgm:adjLst>
          </dgm:shape>
          <dgm:presOf/>
        </dgm:layoutNode>
        <dgm:layoutNode name="brFrame" styleLbl="node1">
          <dgm:alg type="sp"/>
          <dgm:shape xmlns:r="http://schemas.openxmlformats.org/officeDocument/2006/relationships" rot="180" type="halfFrame" r:blip="">
            <dgm:adjLst>
              <dgm:adj idx="1" val="0.2577"/>
              <dgm:adj idx="2" val="0.2577"/>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D3A62EC2-9403-4E3F-B9EE-AC16CAC60F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FE89550C-613B-478E-B802-C73E628524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69C108-6DA3-45F2-AE7E-50E80854775B}" type="datetimeFigureOut">
              <a:rPr lang="en-US" smtClean="0"/>
              <a:t>9/20/2026</a:t>
            </a:fld>
            <a:endParaRPr lang="en-US" dirty="0"/>
          </a:p>
        </p:txBody>
      </p:sp>
      <p:sp>
        <p:nvSpPr>
          <p:cNvPr id="4" name="Footer Placeholder 3">
            <a:extLst>
              <a:ext uri="{FF2B5EF4-FFF2-40B4-BE49-F238E27FC236}">
                <a16:creationId xmlns="" xmlns:a16="http://schemas.microsoft.com/office/drawing/2014/main" id="{D4013C7E-277B-477F-B8EF-FBEECB8A1F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66496058-9ECC-48B6-8A85-7E3A3E39E8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6ED09B-8056-4B81-BB5B-ECA7E0231E72}" type="slidenum">
              <a:rPr lang="en-US" smtClean="0"/>
              <a:t>‹#›</a:t>
            </a:fld>
            <a:endParaRPr lang="en-US" dirty="0"/>
          </a:p>
        </p:txBody>
      </p:sp>
    </p:spTree>
    <p:extLst>
      <p:ext uri="{BB962C8B-B14F-4D97-AF65-F5344CB8AC3E}">
        <p14:creationId xmlns:p14="http://schemas.microsoft.com/office/powerpoint/2010/main" val="2475300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6A73B2-5605-4CC4-ADC6-622651651079}" type="datetimeFigureOut">
              <a:rPr lang="en-US" smtClean="0"/>
              <a:t>9/20/2026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ED664B-377C-4B68-AF4E-EBDA643118DF}" type="slidenum">
              <a:rPr lang="en-US" smtClean="0"/>
              <a:t>‹#›</a:t>
            </a:fld>
            <a:endParaRPr lang="en-US" dirty="0"/>
          </a:p>
        </p:txBody>
      </p:sp>
    </p:spTree>
    <p:extLst>
      <p:ext uri="{BB962C8B-B14F-4D97-AF65-F5344CB8AC3E}">
        <p14:creationId xmlns:p14="http://schemas.microsoft.com/office/powerpoint/2010/main" val="367245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1</a:t>
            </a:fld>
            <a:endParaRPr lang="en-US" dirty="0"/>
          </a:p>
        </p:txBody>
      </p:sp>
    </p:spTree>
    <p:extLst>
      <p:ext uri="{BB962C8B-B14F-4D97-AF65-F5344CB8AC3E}">
        <p14:creationId xmlns:p14="http://schemas.microsoft.com/office/powerpoint/2010/main" val="1636299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2</a:t>
            </a:fld>
            <a:endParaRPr lang="en-US" dirty="0"/>
          </a:p>
        </p:txBody>
      </p:sp>
    </p:spTree>
    <p:extLst>
      <p:ext uri="{BB962C8B-B14F-4D97-AF65-F5344CB8AC3E}">
        <p14:creationId xmlns:p14="http://schemas.microsoft.com/office/powerpoint/2010/main" val="830608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stock market plays an important role in the economy by allowing businesses to raise money, help people grow wealth and acts as an indicator to the overall health of the economy.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Stock prices fluctuate from day today making stock price prediction important to a company shareholders as nobody invests to lose money.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This study will aim to forecast future Microsoft stock prices by analyzing the historical time series data and identifying patterns or trends within the time series.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objective is to analyze the historical stock price and identify any patterns or trends to develop a model that can accurately predict the future stock price.</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This model leverages autoregressive properties, making it effective for short-term forecasting where past data significantly influences future outcomes </a:t>
            </a:r>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3</a:t>
            </a:fld>
            <a:endParaRPr lang="en-US" dirty="0"/>
          </a:p>
        </p:txBody>
      </p:sp>
    </p:spTree>
    <p:extLst>
      <p:ext uri="{BB962C8B-B14F-4D97-AF65-F5344CB8AC3E}">
        <p14:creationId xmlns:p14="http://schemas.microsoft.com/office/powerpoint/2010/main" val="2647748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4</a:t>
            </a:fld>
            <a:endParaRPr lang="en-US" dirty="0"/>
          </a:p>
        </p:txBody>
      </p:sp>
    </p:spTree>
    <p:extLst>
      <p:ext uri="{BB962C8B-B14F-4D97-AF65-F5344CB8AC3E}">
        <p14:creationId xmlns:p14="http://schemas.microsoft.com/office/powerpoint/2010/main" val="152448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Microsoft Stock Price History data will be downloaded from </a:t>
            </a:r>
            <a:r>
              <a:rPr lang="en-US" sz="1200" kern="1200" dirty="0" err="1" smtClean="0">
                <a:solidFill>
                  <a:schemeClr val="tx1"/>
                </a:solidFill>
                <a:effectLst/>
                <a:latin typeface="+mn-lt"/>
                <a:ea typeface="+mn-ea"/>
                <a:cs typeface="+mn-cs"/>
              </a:rPr>
              <a:t>Kaggle</a:t>
            </a:r>
            <a:r>
              <a:rPr lang="en-US" sz="1200" kern="1200" dirty="0" smtClean="0">
                <a:solidFill>
                  <a:schemeClr val="tx1"/>
                </a:solidFill>
                <a:effectLst/>
                <a:latin typeface="+mn-lt"/>
                <a:ea typeface="+mn-ea"/>
                <a:cs typeface="+mn-cs"/>
              </a:rPr>
              <a:t> and is one CSV file </a:t>
            </a:r>
          </a:p>
          <a:p>
            <a:r>
              <a:rPr lang="en-US" sz="1200" kern="1200" dirty="0" smtClean="0">
                <a:solidFill>
                  <a:schemeClr val="tx1"/>
                </a:solidFill>
                <a:effectLst/>
                <a:latin typeface="+mn-lt"/>
                <a:ea typeface="+mn-ea"/>
                <a:cs typeface="+mn-cs"/>
              </a:rPr>
              <a:t>Historical data is needed for time series to forecast the future stock price.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The csv will then be loaded into a Jupyter Notebook where Python will be used to explore and clean the data.  The data set will be loaded into a data frame using Pandas where we explore the data.</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Explore -</a:t>
            </a:r>
          </a:p>
          <a:p>
            <a:r>
              <a:rPr lang="en-US" sz="1200" kern="1200" dirty="0" smtClean="0">
                <a:solidFill>
                  <a:schemeClr val="tx1"/>
                </a:solidFill>
                <a:effectLst/>
                <a:latin typeface="+mn-lt"/>
                <a:ea typeface="+mn-ea"/>
                <a:cs typeface="+mn-cs"/>
              </a:rPr>
              <a:t>The data set includes the following variables of date, close, high, low, open and volume between March 26th 1986 and April 20th 2026. </a:t>
            </a:r>
          </a:p>
          <a:p>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Flter</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Since the original data begins in 1986, we run the risk of overfitting our historical data which may result in less accurate predictions</a:t>
            </a:r>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5</a:t>
            </a:fld>
            <a:endParaRPr lang="en-US" dirty="0"/>
          </a:p>
        </p:txBody>
      </p:sp>
    </p:spTree>
    <p:extLst>
      <p:ext uri="{BB962C8B-B14F-4D97-AF65-F5344CB8AC3E}">
        <p14:creationId xmlns:p14="http://schemas.microsoft.com/office/powerpoint/2010/main" val="532643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Before the model can be built, the data frame must be checked for stationarity using an Augmented Dickey-Fuller test or ADF Test.</a:t>
            </a:r>
          </a:p>
          <a:p>
            <a:r>
              <a:rPr lang="en-US" sz="1200" kern="1200" dirty="0" smtClean="0">
                <a:solidFill>
                  <a:schemeClr val="tx1"/>
                </a:solidFill>
                <a:effectLst/>
                <a:latin typeface="+mn-lt"/>
                <a:ea typeface="+mn-ea"/>
                <a:cs typeface="+mn-cs"/>
              </a:rPr>
              <a:t>The Close column was passed thru the function and returned a P-value of .86, which is greater than the .05 value. Since the data is not stationary, we will need to diff the data to make it stationary.  After differencing the data, the time series data is now stationary and ready for forecasting.   The graph of the decomposed time</a:t>
            </a:r>
            <a:r>
              <a:rPr lang="en-US" sz="1200" kern="1200" baseline="0" dirty="0" smtClean="0">
                <a:solidFill>
                  <a:schemeClr val="tx1"/>
                </a:solidFill>
                <a:effectLst/>
                <a:latin typeface="+mn-lt"/>
                <a:ea typeface="+mn-ea"/>
                <a:cs typeface="+mn-cs"/>
              </a:rPr>
              <a:t> series data also confirms stationarity.</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Split the data into 70% training, 30% testing. </a:t>
            </a:r>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6</a:t>
            </a:fld>
            <a:endParaRPr lang="en-US" dirty="0"/>
          </a:p>
        </p:txBody>
      </p:sp>
    </p:spTree>
    <p:extLst>
      <p:ext uri="{BB962C8B-B14F-4D97-AF65-F5344CB8AC3E}">
        <p14:creationId xmlns:p14="http://schemas.microsoft.com/office/powerpoint/2010/main" val="326518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Model Identification</a:t>
            </a:r>
            <a:r>
              <a:rPr lang="en-US" baseline="0" dirty="0" smtClean="0"/>
              <a:t> –</a:t>
            </a:r>
          </a:p>
          <a:p>
            <a:r>
              <a:rPr lang="en-US" baseline="0" dirty="0" smtClean="0"/>
              <a:t>We used the </a:t>
            </a:r>
            <a:r>
              <a:rPr lang="en-US" baseline="0" dirty="0" err="1" smtClean="0"/>
              <a:t>auto_arima</a:t>
            </a:r>
            <a:r>
              <a:rPr lang="en-US" baseline="0" dirty="0" smtClean="0"/>
              <a:t> function to automate the process of fitting different models and deciding which is best. </a:t>
            </a:r>
            <a:r>
              <a:rPr lang="en-US" sz="1200" kern="1200" dirty="0" smtClean="0">
                <a:solidFill>
                  <a:schemeClr val="tx1"/>
                </a:solidFill>
                <a:effectLst/>
                <a:latin typeface="+mn-lt"/>
                <a:ea typeface="+mn-ea"/>
                <a:cs typeface="+mn-cs"/>
              </a:rPr>
              <a:t>In Time Series Analysis, a correct model should yield the highest Log-Likelihood and requires the lowest AIC.</a:t>
            </a:r>
          </a:p>
          <a:p>
            <a:endParaRPr lang="en-US" sz="120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 There are 3 key parameters for an ARIMA model and are typically referred to as p, d, and q.  P is the order of the autoregressive part of </a:t>
            </a:r>
            <a:r>
              <a:rPr lang="en-US" sz="1200" b="0" i="0" kern="1200" dirty="0" err="1" smtClean="0">
                <a:solidFill>
                  <a:schemeClr val="tx1"/>
                </a:solidFill>
                <a:effectLst/>
                <a:latin typeface="+mn-lt"/>
                <a:ea typeface="+mn-ea"/>
                <a:cs typeface="+mn-cs"/>
              </a:rPr>
              <a:t>arima</a:t>
            </a:r>
            <a:r>
              <a:rPr lang="en-US" sz="1200" b="0" i="0" kern="1200" dirty="0" smtClean="0">
                <a:solidFill>
                  <a:schemeClr val="tx1"/>
                </a:solidFill>
                <a:effectLst/>
                <a:latin typeface="+mn-lt"/>
                <a:ea typeface="+mn-ea"/>
                <a:cs typeface="+mn-cs"/>
              </a:rPr>
              <a:t>.  D is the degree of differencing involved.  Q is the order of the Moving Average.  </a:t>
            </a:r>
            <a:endParaRPr lang="en-US" sz="1200" kern="120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According</a:t>
            </a:r>
            <a:r>
              <a:rPr lang="en-US" sz="1200" kern="1200" baseline="0" dirty="0" smtClean="0">
                <a:solidFill>
                  <a:schemeClr val="tx1"/>
                </a:solidFill>
                <a:effectLst/>
                <a:latin typeface="+mn-lt"/>
                <a:ea typeface="+mn-ea"/>
                <a:cs typeface="+mn-cs"/>
              </a:rPr>
              <a:t> to our calculations, the best order for our model is 0,1,1.  P being  the order is zero.  D is 1 meaning the data will be differenced once.  Q or the moving average is also 1.   </a:t>
            </a:r>
          </a:p>
          <a:p>
            <a:r>
              <a:rPr lang="en-US" sz="1200" kern="1200" baseline="0" dirty="0" smtClean="0">
                <a:solidFill>
                  <a:schemeClr val="tx1"/>
                </a:solidFill>
                <a:effectLst/>
                <a:latin typeface="+mn-lt"/>
                <a:ea typeface="+mn-ea"/>
                <a:cs typeface="+mn-cs"/>
              </a:rPr>
              <a:t> </a:t>
            </a:r>
          </a:p>
          <a:p>
            <a:r>
              <a:rPr lang="en-US" sz="1200" kern="1200" baseline="0" dirty="0" smtClean="0">
                <a:solidFill>
                  <a:schemeClr val="tx1"/>
                </a:solidFill>
                <a:effectLst/>
                <a:latin typeface="+mn-lt"/>
                <a:ea typeface="+mn-ea"/>
                <a:cs typeface="+mn-cs"/>
              </a:rPr>
              <a:t>Now that we have our order, we can forecast our model. </a:t>
            </a: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FED664B-377C-4B68-AF4E-EBDA643118DF}" type="slidenum">
              <a:rPr lang="en-US" smtClean="0"/>
              <a:t>7</a:t>
            </a:fld>
            <a:endParaRPr lang="en-US" dirty="0"/>
          </a:p>
        </p:txBody>
      </p:sp>
    </p:spTree>
    <p:extLst>
      <p:ext uri="{BB962C8B-B14F-4D97-AF65-F5344CB8AC3E}">
        <p14:creationId xmlns:p14="http://schemas.microsoft.com/office/powerpoint/2010/main" val="3241309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8</a:t>
            </a:fld>
            <a:endParaRPr lang="en-US" dirty="0"/>
          </a:p>
        </p:txBody>
      </p:sp>
    </p:spTree>
    <p:extLst>
      <p:ext uri="{BB962C8B-B14F-4D97-AF65-F5344CB8AC3E}">
        <p14:creationId xmlns:p14="http://schemas.microsoft.com/office/powerpoint/2010/main" val="2237585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MAPE</a:t>
            </a:r>
            <a:r>
              <a:rPr lang="en-US" baseline="0" dirty="0" smtClean="0"/>
              <a:t> stands for Mean Absolute percentage error.  It shows how much predictions differ from real values.  </a:t>
            </a:r>
          </a:p>
          <a:p>
            <a:endParaRPr lang="en-US" baseline="0" dirty="0" smtClean="0"/>
          </a:p>
          <a:p>
            <a:r>
              <a:rPr lang="en-US" baseline="0" dirty="0" smtClean="0"/>
              <a:t>Our </a:t>
            </a:r>
            <a:r>
              <a:rPr lang="en-US" baseline="0" dirty="0" err="1" smtClean="0"/>
              <a:t>mape</a:t>
            </a:r>
            <a:r>
              <a:rPr lang="en-US" baseline="0" dirty="0" smtClean="0"/>
              <a:t> was 1.2%, which means our model was accurate 98.8% of the time.  </a:t>
            </a:r>
          </a:p>
          <a:p>
            <a:r>
              <a:rPr lang="en-US" baseline="0" dirty="0" smtClean="0"/>
              <a:t>This means we reject our null </a:t>
            </a:r>
            <a:r>
              <a:rPr lang="en-US" baseline="0" dirty="0" err="1" smtClean="0"/>
              <a:t>hyposthesis</a:t>
            </a:r>
            <a:r>
              <a:rPr lang="en-US" baseline="0" dirty="0" smtClean="0"/>
              <a:t> of</a:t>
            </a:r>
          </a:p>
          <a:p>
            <a:r>
              <a:rPr lang="en-US" sz="1200" b="1" kern="1200" dirty="0" smtClean="0">
                <a:solidFill>
                  <a:schemeClr val="tx1"/>
                </a:solidFill>
                <a:effectLst/>
                <a:latin typeface="+mn-lt"/>
                <a:ea typeface="+mn-ea"/>
                <a:cs typeface="+mn-cs"/>
              </a:rPr>
              <a:t>Null hypothesis: </a:t>
            </a:r>
            <a:r>
              <a:rPr lang="en-US" sz="1200" kern="1200" dirty="0" smtClean="0">
                <a:solidFill>
                  <a:schemeClr val="tx1"/>
                </a:solidFill>
                <a:effectLst/>
                <a:latin typeface="+mn-lt"/>
                <a:ea typeface="+mn-ea"/>
                <a:cs typeface="+mn-cs"/>
              </a:rPr>
              <a:t>The future stock price cannot be predicted with 80% accuracy</a:t>
            </a:r>
          </a:p>
          <a:p>
            <a:r>
              <a:rPr lang="en-US" sz="1200" kern="1200" dirty="0" smtClean="0">
                <a:solidFill>
                  <a:schemeClr val="tx1"/>
                </a:solidFill>
                <a:effectLst/>
                <a:latin typeface="+mn-lt"/>
                <a:ea typeface="+mn-ea"/>
                <a:cs typeface="+mn-cs"/>
              </a:rPr>
              <a:t>And accept our alternate hypothesis.</a:t>
            </a:r>
          </a:p>
          <a:p>
            <a:r>
              <a:rPr lang="en-US" sz="1200" b="1" kern="1200" dirty="0" smtClean="0">
                <a:solidFill>
                  <a:schemeClr val="tx1"/>
                </a:solidFill>
                <a:effectLst/>
                <a:latin typeface="+mn-lt"/>
                <a:ea typeface="+mn-ea"/>
                <a:cs typeface="+mn-cs"/>
              </a:rPr>
              <a:t>Alternate Hypothesis: </a:t>
            </a:r>
            <a:r>
              <a:rPr lang="en-US" sz="1200" kern="1200" dirty="0" smtClean="0">
                <a:solidFill>
                  <a:schemeClr val="tx1"/>
                </a:solidFill>
                <a:effectLst/>
                <a:latin typeface="+mn-lt"/>
                <a:ea typeface="+mn-ea"/>
                <a:cs typeface="+mn-cs"/>
              </a:rPr>
              <a:t>The future stock price can be predicted with 80% accuracy</a:t>
            </a:r>
          </a:p>
          <a:p>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9</a:t>
            </a:fld>
            <a:endParaRPr lang="en-US" dirty="0"/>
          </a:p>
        </p:txBody>
      </p:sp>
    </p:spTree>
    <p:extLst>
      <p:ext uri="{BB962C8B-B14F-4D97-AF65-F5344CB8AC3E}">
        <p14:creationId xmlns:p14="http://schemas.microsoft.com/office/powerpoint/2010/main" val="3050018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 limitation of a publically available dataset is it is limited by the accuracy and completeness of information made publically available.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Limitations in regards to specific tools, Jupyter Notebooks in </a:t>
            </a:r>
            <a:r>
              <a:rPr lang="en-US" sz="1200" kern="1200" dirty="0" err="1" smtClean="0">
                <a:solidFill>
                  <a:schemeClr val="tx1"/>
                </a:solidFill>
                <a:effectLst/>
                <a:latin typeface="+mn-lt"/>
                <a:ea typeface="+mn-ea"/>
                <a:cs typeface="+mn-cs"/>
              </a:rPr>
              <a:t>VSCode</a:t>
            </a:r>
            <a:r>
              <a:rPr lang="en-US" sz="1200" kern="1200" dirty="0" smtClean="0">
                <a:solidFill>
                  <a:schemeClr val="tx1"/>
                </a:solidFill>
                <a:effectLst/>
                <a:latin typeface="+mn-lt"/>
                <a:ea typeface="+mn-ea"/>
                <a:cs typeface="+mn-cs"/>
              </a:rPr>
              <a:t> is that sometimes the base environment being used for the kernel can mess up and not start (Minhas, 2025).  The Pandas library can be challenging for beginners to understand and fully utilize all of the features it has to offer.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Matplotlib, the visualizations created are static.  Dashboards and interactive reports have become the norm in many fields, making static charts feel outdated (</a:t>
            </a:r>
            <a:r>
              <a:rPr lang="en-US" sz="1200" kern="1200" dirty="0" err="1" smtClean="0">
                <a:solidFill>
                  <a:schemeClr val="tx1"/>
                </a:solidFill>
                <a:effectLst/>
                <a:latin typeface="+mn-lt"/>
                <a:ea typeface="+mn-ea"/>
                <a:cs typeface="+mn-cs"/>
              </a:rPr>
              <a:t>Loewen</a:t>
            </a:r>
            <a:r>
              <a:rPr lang="en-US" sz="1200" kern="1200" dirty="0" smtClean="0">
                <a:solidFill>
                  <a:schemeClr val="tx1"/>
                </a:solidFill>
                <a:effectLst/>
                <a:latin typeface="+mn-lt"/>
                <a:ea typeface="+mn-ea"/>
                <a:cs typeface="+mn-cs"/>
              </a:rPr>
              <a:t>, 2025).</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Limitations in regards to specific techniques, an ARIMA model is not built for long-term forecasting (Hayes, 2026).  The </a:t>
            </a:r>
            <a:r>
              <a:rPr lang="en-US" sz="1200" kern="1200" dirty="0" err="1" smtClean="0">
                <a:solidFill>
                  <a:schemeClr val="tx1"/>
                </a:solidFill>
                <a:effectLst/>
                <a:latin typeface="+mn-lt"/>
                <a:ea typeface="+mn-ea"/>
                <a:cs typeface="+mn-cs"/>
              </a:rPr>
              <a:t>auto_arima</a:t>
            </a:r>
            <a:r>
              <a:rPr lang="en-US" sz="1200" kern="1200" dirty="0" smtClean="0">
                <a:solidFill>
                  <a:schemeClr val="tx1"/>
                </a:solidFill>
                <a:effectLst/>
                <a:latin typeface="+mn-lt"/>
                <a:ea typeface="+mn-ea"/>
                <a:cs typeface="+mn-cs"/>
              </a:rPr>
              <a:t> function, you never really get to see how well the other models perform since it gives you the best option.  Another limitation of the analysis of stock price forecasting is that ARIMA only looks at historical data. Stock prices are often influenced by external factors such as economic shifts, market panic and company reports. Since people oftentimes influence the stock market, it makes it difficult to forecast future prices on historical data alone.</a:t>
            </a:r>
          </a:p>
          <a:p>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10</a:t>
            </a:fld>
            <a:endParaRPr lang="en-US" dirty="0"/>
          </a:p>
        </p:txBody>
      </p:sp>
    </p:spTree>
    <p:extLst>
      <p:ext uri="{BB962C8B-B14F-4D97-AF65-F5344CB8AC3E}">
        <p14:creationId xmlns:p14="http://schemas.microsoft.com/office/powerpoint/2010/main" val="4055394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smtClean="0">
                <a:solidFill>
                  <a:schemeClr val="tx1"/>
                </a:solidFill>
                <a:effectLst/>
                <a:latin typeface="+mn-lt"/>
                <a:ea typeface="+mn-ea"/>
                <a:cs typeface="+mn-cs"/>
              </a:rPr>
              <a:t>Based on the findings of this project, it is recommended that the model can be used as a tool by investors and shareholders to help make informed decisions on future stock close prices of Microsoft. With that being said, based on the limitation stated above, the model should not be the only information used by investors and shareholders. It should be combined with other analysis tools to create a clearer picture of the stock’s performance.</a:t>
            </a:r>
          </a:p>
          <a:p>
            <a:pPr lvl="0"/>
            <a:endParaRPr lang="en-US"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Model improvement. The current models serves as an excellent baseline to build upon. It is recommended to change some of the parameters of the model such as the observed range and the forecasting range to see if there are any improvements.  Shortening both would be the next step, then compare the results of each. It would also be beneficial to try different splits in the test and training data. The current model uses a 70/30 split.</a:t>
            </a:r>
          </a:p>
          <a:p>
            <a:pPr lvl="0"/>
            <a:endParaRPr lang="en-US"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Explore alternative models. Due to the limitations of an ARIMA model, it would be beneficial to explore alternative models such as Long Short-Term Memory or LSTM.  LSTMs overcome these limitations by learning long-term relationships and automatically discard useless short-term market noise. They excel at mapping the complex, non-linear trajectories that stock prices actually follow (B, 2025). Being able to capture the complex patterns of market data would be a valuable asset to both investors and shareholders alike.</a:t>
            </a:r>
          </a:p>
          <a:p>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11</a:t>
            </a:fld>
            <a:endParaRPr lang="en-US" dirty="0"/>
          </a:p>
        </p:txBody>
      </p:sp>
    </p:spTree>
    <p:extLst>
      <p:ext uri="{BB962C8B-B14F-4D97-AF65-F5344CB8AC3E}">
        <p14:creationId xmlns:p14="http://schemas.microsoft.com/office/powerpoint/2010/main" val="1457427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benefit of this study is a model was built that can forecast the future stock close prices of Microsoft with 98.8% accuracy.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that can be used by investors and shareholders to help make informed investment decisions.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Since the model is based off of historical stock data, it can be used to forecast the future close prices of other companies as well, not just Microsoft.  The stock market plays an important role in the economy by allowing businesses to raise money, help people grow wealth and acts as an indicator to the overall health of the economy. The movement or health of the stock market can impact a company in a variety of ways. The higher the shares are priced, the more a company is worth in the market. The lower the shares are priced, the less a company is worth. Stock prices fluctuate from day today making stock price prediction important to a company shareholders as nobody invests to lose money.  With that being said, based on the limitation stated above, the model should not be the only information used by investors and shareholders. It should be combined with other analysis tools to create a clearer picture of the stock’s performance.</a:t>
            </a:r>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12</a:t>
            </a:fld>
            <a:endParaRPr lang="en-US" dirty="0"/>
          </a:p>
        </p:txBody>
      </p:sp>
    </p:spTree>
    <p:extLst>
      <p:ext uri="{BB962C8B-B14F-4D97-AF65-F5344CB8AC3E}">
        <p14:creationId xmlns:p14="http://schemas.microsoft.com/office/powerpoint/2010/main" val="3928868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D664B-377C-4B68-AF4E-EBDA643118DF}" type="slidenum">
              <a:rPr lang="en-US" smtClean="0"/>
              <a:t>13</a:t>
            </a:fld>
            <a:endParaRPr lang="en-US" dirty="0"/>
          </a:p>
        </p:txBody>
      </p:sp>
    </p:spTree>
    <p:extLst>
      <p:ext uri="{BB962C8B-B14F-4D97-AF65-F5344CB8AC3E}">
        <p14:creationId xmlns:p14="http://schemas.microsoft.com/office/powerpoint/2010/main" val="4130820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9AB3A824-1A51-4B26-AD58-A6D8E14F6C04}" type="datetimeFigureOut">
              <a:rPr lang="en-US" smtClean="0"/>
              <a:t>9/20/2026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2707781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D162C4-EDD9-4389-A98B-B87ECEA2A816}" type="datetimeFigureOut">
              <a:rPr lang="en-US" smtClean="0"/>
              <a:t>9/20/2026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82275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3E5059C3-6A89-4494-99FF-5A4D6FFD50EB}" type="datetimeFigureOut">
              <a:rPr lang="en-US" smtClean="0"/>
              <a:t>9/20/2026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2856116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0"/>
          </p:nvPr>
        </p:nvSpPr>
        <p:spPr/>
        <p:txBody>
          <a:bodyPr/>
          <a:lstStyle/>
          <a:p>
            <a:fld id="{CA954B2F-12DE-47F5-8894-472B206D2E1E}" type="datetimeFigureOut">
              <a:rPr lang="en-US" smtClean="0"/>
              <a:t>9/20/2026</a:t>
            </a:fld>
            <a:endParaRPr lang="en-US" dirty="0"/>
          </a:p>
        </p:txBody>
      </p:sp>
      <p:sp>
        <p:nvSpPr>
          <p:cNvPr id="9" name="Footer Placeholder 8"/>
          <p:cNvSpPr>
            <a:spLocks noGrp="1"/>
          </p:cNvSpPr>
          <p:nvPr>
            <p:ph type="ftr" sz="quarter" idx="11"/>
          </p:nvPr>
        </p:nvSpPr>
        <p:spPr/>
        <p:txBody>
          <a:bodyPr/>
          <a:lstStyle/>
          <a:p>
            <a:r>
              <a:rPr lang="en-US" dirty="0"/>
              <a:t>
              </a:t>
            </a:r>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66587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3CBC1C18-307B-4F68-A007-B5B542270E8D}" type="datetimeFigureOut">
              <a:rPr lang="en-US" smtClean="0"/>
              <a:t>9/20/2026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55889930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9/20/2026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0077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9/20/2026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59989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9" name="Date Placeholder 8"/>
          <p:cNvSpPr>
            <a:spLocks noGrp="1"/>
          </p:cNvSpPr>
          <p:nvPr>
            <p:ph type="dt" sz="half" idx="10"/>
          </p:nvPr>
        </p:nvSpPr>
        <p:spPr/>
        <p:txBody>
          <a:bodyPr/>
          <a:lstStyle/>
          <a:p>
            <a:fld id="{37D525BB-DA17-4BA0-B3C8-3AC3ABC827E6}" type="datetimeFigureOut">
              <a:rPr lang="en-US" smtClean="0"/>
              <a:t>9/20/2026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n-US" dirty="0"/>
              <a:t>
              </a:t>
            </a:r>
          </a:p>
        </p:txBody>
      </p:sp>
      <p:sp>
        <p:nvSpPr>
          <p:cNvPr id="11" name="Slide Number Placeholder 10"/>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05352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16C4C9A-3960-41CF-A4E9-2A8FB932454B}" type="datetimeFigureOut">
              <a:rPr lang="en-US" smtClean="0"/>
              <a:t>9/20/2026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n-US" dirty="0"/>
              <a:t>
              </a:t>
            </a:r>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47789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9/20/2026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38428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9/20/2026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22238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CBC1C18-307B-4F68-A007-B5B542270E8D}" type="datetimeFigureOut">
              <a:rPr lang="en-US" smtClean="0"/>
              <a:t>9/20/2026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r>
              <a:rPr lang="en-US" dirty="0"/>
              <a:t>
              </a:t>
            </a:r>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65901181"/>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jpe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4.emf"/></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jpeg"/><Relationship Id="rId7" Type="http://schemas.openxmlformats.org/officeDocument/2006/relationships/diagramColors" Target="../diagrams/colors4.xml"/><Relationship Id="rId12"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4.xml"/><Relationship Id="rId11" Type="http://schemas.openxmlformats.org/officeDocument/2006/relationships/image" Target="../media/image7.emf"/><Relationship Id="rId5" Type="http://schemas.openxmlformats.org/officeDocument/2006/relationships/diagramLayout" Target="../diagrams/layout4.xml"/><Relationship Id="rId10" Type="http://schemas.openxmlformats.org/officeDocument/2006/relationships/image" Target="../media/image6.png"/><Relationship Id="rId4" Type="http://schemas.openxmlformats.org/officeDocument/2006/relationships/diagramData" Target="../diagrams/data4.xml"/><Relationship Id="rId9"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jpe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jpeg"/><Relationship Id="rId7" Type="http://schemas.openxmlformats.org/officeDocument/2006/relationships/diagramColors" Target="../diagrams/colors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jpeg"/><Relationship Id="rId7" Type="http://schemas.openxmlformats.org/officeDocument/2006/relationships/diagramColors" Target="../diagrams/colors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1.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jpeg"/><Relationship Id="rId7" Type="http://schemas.openxmlformats.org/officeDocument/2006/relationships/diagramColors" Target="../diagrams/colors8.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6981E6A2-4656-4CFE-9BF4-39D81EE2CA9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6096000" cy="6858000"/>
          </a:xfrm>
          <a:prstGeom prst="rect">
            <a:avLst/>
          </a:prstGeom>
          <a:solidFill>
            <a:schemeClr val="bg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ill Sans MT" panose="020B0502020104020203"/>
              <a:ea typeface="+mn-ea"/>
              <a:cs typeface="+mn-cs"/>
            </a:endParaRPr>
          </a:p>
        </p:txBody>
      </p:sp>
      <p:sp>
        <p:nvSpPr>
          <p:cNvPr id="2" name="Title 1">
            <a:extLst>
              <a:ext uri="{FF2B5EF4-FFF2-40B4-BE49-F238E27FC236}">
                <a16:creationId xmlns="" xmlns:a16="http://schemas.microsoft.com/office/drawing/2014/main" id="{050E78D6-F072-48E7-8270-20EFBDD26F36}"/>
              </a:ext>
            </a:extLst>
          </p:cNvPr>
          <p:cNvSpPr>
            <a:spLocks noGrp="1"/>
          </p:cNvSpPr>
          <p:nvPr>
            <p:ph type="ctrTitle"/>
          </p:nvPr>
        </p:nvSpPr>
        <p:spPr>
          <a:xfrm>
            <a:off x="804672" y="2594153"/>
            <a:ext cx="4486656" cy="1231106"/>
          </a:xfrm>
          <a:noFill/>
          <a:ln>
            <a:solidFill>
              <a:schemeClr val="tx1"/>
            </a:solidFill>
          </a:ln>
          <a:effectLst>
            <a:glow rad="152400">
              <a:schemeClr val="tx1">
                <a:alpha val="13000"/>
              </a:schemeClr>
            </a:glow>
          </a:effectLst>
        </p:spPr>
        <p:txBody>
          <a:bodyPr>
            <a:normAutofit fontScale="90000"/>
          </a:bodyPr>
          <a:lstStyle/>
          <a:p>
            <a:r>
              <a:rPr lang="en-US" sz="3000" dirty="0" smtClean="0">
                <a:solidFill>
                  <a:schemeClr val="tx1"/>
                </a:solidFill>
              </a:rPr>
              <a:t>Forecasting the future of Microsoft stock</a:t>
            </a:r>
            <a:endParaRPr lang="en-US" sz="3000" dirty="0">
              <a:solidFill>
                <a:schemeClr val="tx1"/>
              </a:solidFill>
            </a:endParaRPr>
          </a:p>
        </p:txBody>
      </p:sp>
      <p:sp>
        <p:nvSpPr>
          <p:cNvPr id="3" name="Subtitle 2">
            <a:extLst>
              <a:ext uri="{FF2B5EF4-FFF2-40B4-BE49-F238E27FC236}">
                <a16:creationId xmlns="" xmlns:a16="http://schemas.microsoft.com/office/drawing/2014/main" id="{3FC7BD98-5486-489C-BAA0-A69CEFF691B3}"/>
              </a:ext>
            </a:extLst>
          </p:cNvPr>
          <p:cNvSpPr>
            <a:spLocks noGrp="1"/>
          </p:cNvSpPr>
          <p:nvPr>
            <p:ph type="subTitle" idx="1"/>
          </p:nvPr>
        </p:nvSpPr>
        <p:spPr>
          <a:xfrm>
            <a:off x="804672" y="3981815"/>
            <a:ext cx="4486656" cy="702702"/>
          </a:xfrm>
        </p:spPr>
        <p:txBody>
          <a:bodyPr>
            <a:normAutofit/>
          </a:bodyPr>
          <a:lstStyle/>
          <a:p>
            <a:r>
              <a:rPr lang="en-US" sz="1800" dirty="0" smtClean="0">
                <a:solidFill>
                  <a:schemeClr val="tx1"/>
                </a:solidFill>
              </a:rPr>
              <a:t>D214 Capstone Presentation</a:t>
            </a:r>
            <a:endParaRPr lang="en-US" sz="1800" dirty="0">
              <a:solidFill>
                <a:schemeClr val="tx1"/>
              </a:solidFill>
            </a:endParaRPr>
          </a:p>
        </p:txBody>
      </p:sp>
      <p:pic>
        <p:nvPicPr>
          <p:cNvPr id="5" name="Picture 4" descr="Finance trade numbers">
            <a:extLst>
              <a:ext uri="{FF2B5EF4-FFF2-40B4-BE49-F238E27FC236}">
                <a16:creationId xmlns="" xmlns:a16="http://schemas.microsoft.com/office/drawing/2014/main" id="{112B9624-F8A1-4831-AE43-1D9E266CFF3E}"/>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b="-1"/>
          <a:stretch/>
        </p:blipFill>
        <p:spPr>
          <a:xfrm>
            <a:off x="6096000" y="10"/>
            <a:ext cx="6095999" cy="6857990"/>
          </a:xfrm>
          <a:prstGeom prst="rect">
            <a:avLst/>
          </a:prstGeom>
        </p:spPr>
      </p:pic>
      <p:sp>
        <p:nvSpPr>
          <p:cNvPr id="4" name="TextBox 3"/>
          <p:cNvSpPr txBox="1"/>
          <p:nvPr/>
        </p:nvSpPr>
        <p:spPr>
          <a:xfrm>
            <a:off x="1395047" y="4358002"/>
            <a:ext cx="3305907" cy="369332"/>
          </a:xfrm>
          <a:prstGeom prst="rect">
            <a:avLst/>
          </a:prstGeom>
          <a:noFill/>
        </p:spPr>
        <p:txBody>
          <a:bodyPr wrap="square" rtlCol="0">
            <a:spAutoFit/>
          </a:bodyPr>
          <a:lstStyle/>
          <a:p>
            <a:pPr algn="ctr"/>
            <a:r>
              <a:rPr lang="en-US" dirty="0" smtClean="0"/>
              <a:t>Justin Jordan</a:t>
            </a:r>
            <a:endParaRPr lang="en-US" dirty="0"/>
          </a:p>
        </p:txBody>
      </p:sp>
    </p:spTree>
    <p:extLst>
      <p:ext uri="{BB962C8B-B14F-4D97-AF65-F5344CB8AC3E}">
        <p14:creationId xmlns:p14="http://schemas.microsoft.com/office/powerpoint/2010/main" val="8340504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6981E6A2-4656-4CFE-9BF4-39D81EE2CA9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6096000" cy="6858000"/>
          </a:xfrm>
          <a:prstGeom prst="rect">
            <a:avLst/>
          </a:prstGeom>
          <a:solidFill>
            <a:schemeClr val="bg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ill Sans MT" panose="020B0502020104020203"/>
              <a:ea typeface="+mn-ea"/>
              <a:cs typeface="+mn-cs"/>
            </a:endParaRPr>
          </a:p>
        </p:txBody>
      </p:sp>
      <p:pic>
        <p:nvPicPr>
          <p:cNvPr id="5" name="Picture 4" descr="Finance trade numbers">
            <a:extLst>
              <a:ext uri="{FF2B5EF4-FFF2-40B4-BE49-F238E27FC236}">
                <a16:creationId xmlns="" xmlns:a16="http://schemas.microsoft.com/office/drawing/2014/main" id="{112B9624-F8A1-4831-AE43-1D9E266CFF3E}"/>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b="-1"/>
          <a:stretch/>
        </p:blipFill>
        <p:spPr>
          <a:xfrm>
            <a:off x="6096000" y="10"/>
            <a:ext cx="6095999" cy="6857990"/>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8999" y="1524000"/>
            <a:ext cx="3810000" cy="3810000"/>
          </a:xfrm>
          <a:prstGeom prst="rect">
            <a:avLst/>
          </a:prstGeom>
        </p:spPr>
      </p:pic>
      <p:sp>
        <p:nvSpPr>
          <p:cNvPr id="13" name="TextBox 12"/>
          <p:cNvSpPr txBox="1"/>
          <p:nvPr/>
        </p:nvSpPr>
        <p:spPr>
          <a:xfrm>
            <a:off x="691662" y="1154668"/>
            <a:ext cx="4712677" cy="369332"/>
          </a:xfrm>
          <a:prstGeom prst="rect">
            <a:avLst/>
          </a:prstGeom>
          <a:noFill/>
        </p:spPr>
        <p:txBody>
          <a:bodyPr wrap="square" rtlCol="0">
            <a:spAutoFit/>
          </a:bodyPr>
          <a:lstStyle/>
          <a:p>
            <a:pPr algn="ctr"/>
            <a:r>
              <a:rPr lang="en-US" dirty="0" smtClean="0"/>
              <a:t>Introduction &amp; Background</a:t>
            </a:r>
            <a:endParaRPr lang="en-US" dirty="0"/>
          </a:p>
        </p:txBody>
      </p:sp>
      <p:sp>
        <p:nvSpPr>
          <p:cNvPr id="14" name="TextBox 13"/>
          <p:cNvSpPr txBox="1"/>
          <p:nvPr/>
        </p:nvSpPr>
        <p:spPr>
          <a:xfrm>
            <a:off x="1557704" y="2274838"/>
            <a:ext cx="2980592" cy="2308324"/>
          </a:xfrm>
          <a:prstGeom prst="rect">
            <a:avLst/>
          </a:prstGeom>
          <a:noFill/>
        </p:spPr>
        <p:txBody>
          <a:bodyPr wrap="square" rtlCol="0">
            <a:spAutoFit/>
          </a:bodyPr>
          <a:lstStyle/>
          <a:p>
            <a:pPr algn="ctr"/>
            <a:r>
              <a:rPr lang="en-US" dirty="0" smtClean="0"/>
              <a:t>Justin Jordan</a:t>
            </a:r>
          </a:p>
          <a:p>
            <a:endParaRPr lang="en-US" dirty="0"/>
          </a:p>
          <a:p>
            <a:pPr algn="ctr"/>
            <a:r>
              <a:rPr lang="en-US" dirty="0" smtClean="0"/>
              <a:t>Senior Database Administrator</a:t>
            </a:r>
          </a:p>
          <a:p>
            <a:pPr algn="ctr"/>
            <a:endParaRPr lang="en-US" dirty="0"/>
          </a:p>
          <a:p>
            <a:pPr algn="ctr"/>
            <a:r>
              <a:rPr lang="en-US" dirty="0" smtClean="0"/>
              <a:t>13 years of SQL</a:t>
            </a:r>
          </a:p>
          <a:p>
            <a:endParaRPr lang="en-US" dirty="0"/>
          </a:p>
          <a:p>
            <a:pPr algn="ctr"/>
            <a:r>
              <a:rPr lang="en-US" dirty="0" smtClean="0"/>
              <a:t>MSDA Student</a:t>
            </a:r>
            <a:endParaRPr lang="en-US" dirty="0"/>
          </a:p>
        </p:txBody>
      </p:sp>
    </p:spTree>
    <p:extLst>
      <p:ext uri="{BB962C8B-B14F-4D97-AF65-F5344CB8AC3E}">
        <p14:creationId xmlns:p14="http://schemas.microsoft.com/office/powerpoint/2010/main" val="34395289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93F0ADB5-A0B4-4B01-A8C4-FDC34CE22B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AA6D0FDE-0241-4C21-A720-A694753582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654296" cy="6858000"/>
          </a:xfrm>
          <a:prstGeom prst="rect">
            <a:avLst/>
          </a:prstGeom>
          <a:solidFill>
            <a:schemeClr val="tx1">
              <a:lumMod val="95000"/>
              <a:lumOff val="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9C9DE503-F7C2-4A40-83F4-4DE931E7D9DE}"/>
              </a:ext>
            </a:extLst>
          </p:cNvPr>
          <p:cNvSpPr>
            <a:spLocks noGrp="1"/>
          </p:cNvSpPr>
          <p:nvPr>
            <p:ph type="title"/>
          </p:nvPr>
        </p:nvSpPr>
        <p:spPr>
          <a:xfrm>
            <a:off x="643467" y="111796"/>
            <a:ext cx="3363974" cy="853404"/>
          </a:xfrm>
          <a:noFill/>
          <a:ln>
            <a:solidFill>
              <a:schemeClr val="bg1"/>
            </a:solidFill>
          </a:ln>
          <a:effectLst>
            <a:glow rad="152400">
              <a:schemeClr val="bg1">
                <a:alpha val="13000"/>
              </a:schemeClr>
            </a:glow>
          </a:effectLst>
        </p:spPr>
        <p:txBody>
          <a:bodyPr wrap="square">
            <a:normAutofit fontScale="90000"/>
          </a:bodyPr>
          <a:lstStyle/>
          <a:p>
            <a:r>
              <a:rPr lang="en-US" dirty="0" smtClean="0">
                <a:solidFill>
                  <a:schemeClr val="bg1"/>
                </a:solidFill>
              </a:rPr>
              <a:t>Problem statement</a:t>
            </a:r>
            <a:endParaRPr lang="en-US" dirty="0">
              <a:solidFill>
                <a:schemeClr val="bg1"/>
              </a:solidFill>
            </a:endParaRPr>
          </a:p>
        </p:txBody>
      </p:sp>
      <p:pic>
        <p:nvPicPr>
          <p:cNvPr id="4" name="Picture 3" descr="Finance trade numbers">
            <a:extLst>
              <a:ext uri="{FF2B5EF4-FFF2-40B4-BE49-F238E27FC236}">
                <a16:creationId xmlns="" xmlns:a16="http://schemas.microsoft.com/office/drawing/2014/main" id="{32F354A1-38C7-4598-A0E1-7A286A3019B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650908" y="0"/>
            <a:ext cx="7541091" cy="6858000"/>
          </a:xfrm>
          <a:prstGeom prst="rect">
            <a:avLst/>
          </a:prstGeom>
        </p:spPr>
      </p:pic>
      <p:graphicFrame>
        <p:nvGraphicFramePr>
          <p:cNvPr id="5" name="Content Placeholder 2" descr="Icon Bullets">
            <a:extLst>
              <a:ext uri="{FF2B5EF4-FFF2-40B4-BE49-F238E27FC236}">
                <a16:creationId xmlns="" xmlns:a16="http://schemas.microsoft.com/office/drawing/2014/main" id="{51938B4F-26EE-4238-880D-3CE26A7E4AED}"/>
              </a:ext>
            </a:extLst>
          </p:cNvPr>
          <p:cNvGraphicFramePr>
            <a:graphicFrameLocks noGrp="1"/>
          </p:cNvGraphicFramePr>
          <p:nvPr>
            <p:ph idx="1"/>
            <p:extLst>
              <p:ext uri="{D42A27DB-BD31-4B8C-83A1-F6EECF244321}">
                <p14:modId xmlns:p14="http://schemas.microsoft.com/office/powerpoint/2010/main" val="2912250117"/>
              </p:ext>
            </p:extLst>
          </p:nvPr>
        </p:nvGraphicFramePr>
        <p:xfrm>
          <a:off x="5619622" y="1403999"/>
          <a:ext cx="5607050" cy="4927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itle 1">
            <a:extLst>
              <a:ext uri="{FF2B5EF4-FFF2-40B4-BE49-F238E27FC236}">
                <a16:creationId xmlns="" xmlns:a16="http://schemas.microsoft.com/office/drawing/2014/main" id="{9C9DE503-F7C2-4A40-83F4-4DE931E7D9DE}"/>
              </a:ext>
            </a:extLst>
          </p:cNvPr>
          <p:cNvSpPr txBox="1">
            <a:spLocks/>
          </p:cNvSpPr>
          <p:nvPr/>
        </p:nvSpPr>
        <p:spPr bwMode="black">
          <a:xfrm>
            <a:off x="6741160" y="111796"/>
            <a:ext cx="3363974" cy="853404"/>
          </a:xfrm>
          <a:prstGeom prst="rect">
            <a:avLst/>
          </a:prstGeom>
          <a:noFill/>
          <a:ln w="31750" cap="sq">
            <a:solidFill>
              <a:schemeClr val="bg1"/>
            </a:solidFill>
            <a:miter lim="800000"/>
          </a:ln>
          <a:effectLst>
            <a:glow rad="152400">
              <a:schemeClr val="bg1">
                <a:alpha val="13000"/>
              </a:schemeClr>
            </a:glow>
          </a:effectLst>
        </p:spPr>
        <p:txBody>
          <a:bodyPr vert="horz" wrap="square" lIns="182880" tIns="182880" rIns="182880" bIns="182880" rtlCol="0" anchor="ctr">
            <a:normAutofit/>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dirty="0" smtClean="0">
                <a:solidFill>
                  <a:schemeClr val="bg1"/>
                </a:solidFill>
              </a:rPr>
              <a:t>hypothesis</a:t>
            </a:r>
            <a:endParaRPr lang="en-US" dirty="0">
              <a:solidFill>
                <a:schemeClr val="bg1"/>
              </a:solidFill>
            </a:endParaRPr>
          </a:p>
        </p:txBody>
      </p:sp>
      <p:sp>
        <p:nvSpPr>
          <p:cNvPr id="3" name="TextBox 2"/>
          <p:cNvSpPr txBox="1"/>
          <p:nvPr/>
        </p:nvSpPr>
        <p:spPr>
          <a:xfrm>
            <a:off x="643467" y="1100755"/>
            <a:ext cx="3363974" cy="1754326"/>
          </a:xfrm>
          <a:prstGeom prst="rect">
            <a:avLst/>
          </a:prstGeom>
          <a:noFill/>
        </p:spPr>
        <p:txBody>
          <a:bodyPr wrap="square" rtlCol="0">
            <a:spAutoFit/>
          </a:bodyPr>
          <a:lstStyle/>
          <a:p>
            <a:r>
              <a:rPr lang="en-US" dirty="0">
                <a:solidFill>
                  <a:schemeClr val="bg1"/>
                </a:solidFill>
              </a:rPr>
              <a:t>Stock prices fluctuate from day today making stock price prediction important to a company shareholders as nobody invests to lose money.</a:t>
            </a:r>
            <a:endParaRPr lang="en-US" dirty="0">
              <a:solidFill>
                <a:schemeClr val="bg1"/>
              </a:solidFill>
            </a:endParaRPr>
          </a:p>
        </p:txBody>
      </p:sp>
      <p:sp>
        <p:nvSpPr>
          <p:cNvPr id="6" name="TextBox 5"/>
          <p:cNvSpPr txBox="1"/>
          <p:nvPr/>
        </p:nvSpPr>
        <p:spPr>
          <a:xfrm>
            <a:off x="677822" y="2990636"/>
            <a:ext cx="3295264" cy="1754326"/>
          </a:xfrm>
          <a:prstGeom prst="rect">
            <a:avLst/>
          </a:prstGeom>
          <a:noFill/>
        </p:spPr>
        <p:txBody>
          <a:bodyPr wrap="square" rtlCol="0">
            <a:spAutoFit/>
          </a:bodyPr>
          <a:lstStyle/>
          <a:p>
            <a:r>
              <a:rPr lang="en-US" dirty="0">
                <a:solidFill>
                  <a:schemeClr val="bg1"/>
                </a:solidFill>
              </a:rPr>
              <a:t>The objective is to analyze the historical stock price and identify any patterns or trends to develop a model that can accurately predict the future stock price.</a:t>
            </a:r>
            <a:endParaRPr lang="en-US" dirty="0">
              <a:solidFill>
                <a:schemeClr val="bg1"/>
              </a:solidFill>
            </a:endParaRPr>
          </a:p>
        </p:txBody>
      </p:sp>
      <p:sp>
        <p:nvSpPr>
          <p:cNvPr id="8" name="TextBox 7"/>
          <p:cNvSpPr txBox="1"/>
          <p:nvPr/>
        </p:nvSpPr>
        <p:spPr>
          <a:xfrm>
            <a:off x="751631" y="4880517"/>
            <a:ext cx="3147647" cy="1754326"/>
          </a:xfrm>
          <a:prstGeom prst="rect">
            <a:avLst/>
          </a:prstGeom>
          <a:noFill/>
        </p:spPr>
        <p:txBody>
          <a:bodyPr wrap="square" rtlCol="0">
            <a:spAutoFit/>
          </a:bodyPr>
          <a:lstStyle/>
          <a:p>
            <a:r>
              <a:rPr lang="en-US" b="1" dirty="0" smtClean="0">
                <a:solidFill>
                  <a:schemeClr val="bg1"/>
                </a:solidFill>
              </a:rPr>
              <a:t>Research Question:</a:t>
            </a:r>
          </a:p>
          <a:p>
            <a:r>
              <a:rPr lang="en-US" dirty="0">
                <a:solidFill>
                  <a:schemeClr val="bg1"/>
                </a:solidFill>
              </a:rPr>
              <a:t>Can we forecast the future stock price using time series analysis based on historical stock data?</a:t>
            </a: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4243145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93F0ADB5-A0B4-4B01-A8C4-FDC34CE22B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AA6D0FDE-0241-4C21-A720-A694753582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654296" cy="6858000"/>
          </a:xfrm>
          <a:prstGeom prst="rect">
            <a:avLst/>
          </a:prstGeom>
          <a:solidFill>
            <a:schemeClr val="tx1">
              <a:lumMod val="95000"/>
              <a:lumOff val="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4" name="Picture 3" descr="Finance trade numbers">
            <a:extLst>
              <a:ext uri="{FF2B5EF4-FFF2-40B4-BE49-F238E27FC236}">
                <a16:creationId xmlns="" xmlns:a16="http://schemas.microsoft.com/office/drawing/2014/main" id="{32F354A1-38C7-4598-A0E1-7A286A3019B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650908" y="0"/>
            <a:ext cx="7541091" cy="6858000"/>
          </a:xfrm>
          <a:prstGeom prst="rect">
            <a:avLst/>
          </a:prstGeom>
        </p:spPr>
      </p:pic>
      <p:graphicFrame>
        <p:nvGraphicFramePr>
          <p:cNvPr id="5" name="Content Placeholder 2" descr="Icon Bullets">
            <a:extLst>
              <a:ext uri="{FF2B5EF4-FFF2-40B4-BE49-F238E27FC236}">
                <a16:creationId xmlns="" xmlns:a16="http://schemas.microsoft.com/office/drawing/2014/main" id="{51938B4F-26EE-4238-880D-3CE26A7E4AED}"/>
              </a:ext>
            </a:extLst>
          </p:cNvPr>
          <p:cNvGraphicFramePr>
            <a:graphicFrameLocks noGrp="1"/>
          </p:cNvGraphicFramePr>
          <p:nvPr>
            <p:ph idx="1"/>
            <p:extLst>
              <p:ext uri="{D42A27DB-BD31-4B8C-83A1-F6EECF244321}">
                <p14:modId xmlns:p14="http://schemas.microsoft.com/office/powerpoint/2010/main" val="4052812827"/>
              </p:ext>
            </p:extLst>
          </p:nvPr>
        </p:nvGraphicFramePr>
        <p:xfrm>
          <a:off x="1582615" y="1143000"/>
          <a:ext cx="9026901" cy="53896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 xmlns:a16="http://schemas.microsoft.com/office/drawing/2014/main" id="{9C9DE503-F7C2-4A40-83F4-4DE931E7D9DE}"/>
              </a:ext>
            </a:extLst>
          </p:cNvPr>
          <p:cNvSpPr>
            <a:spLocks noGrp="1"/>
          </p:cNvSpPr>
          <p:nvPr>
            <p:ph type="title"/>
          </p:nvPr>
        </p:nvSpPr>
        <p:spPr>
          <a:xfrm>
            <a:off x="3661344" y="88037"/>
            <a:ext cx="4869310" cy="853404"/>
          </a:xfrm>
          <a:noFill/>
          <a:ln>
            <a:solidFill>
              <a:schemeClr val="bg1"/>
            </a:solidFill>
          </a:ln>
          <a:effectLst>
            <a:glow rad="152400">
              <a:schemeClr val="bg1">
                <a:alpha val="13000"/>
              </a:schemeClr>
            </a:glow>
          </a:effectLst>
        </p:spPr>
        <p:txBody>
          <a:bodyPr wrap="square">
            <a:normAutofit fontScale="90000"/>
          </a:bodyPr>
          <a:lstStyle/>
          <a:p>
            <a:r>
              <a:rPr lang="en-US" dirty="0" smtClean="0">
                <a:solidFill>
                  <a:schemeClr val="bg1"/>
                </a:solidFill>
              </a:rPr>
              <a:t>Data Analysis process</a:t>
            </a:r>
            <a:endParaRPr lang="en-US" dirty="0">
              <a:solidFill>
                <a:schemeClr val="bg1"/>
              </a:solidFill>
            </a:endParaRPr>
          </a:p>
        </p:txBody>
      </p:sp>
    </p:spTree>
    <p:extLst>
      <p:ext uri="{BB962C8B-B14F-4D97-AF65-F5344CB8AC3E}">
        <p14:creationId xmlns:p14="http://schemas.microsoft.com/office/powerpoint/2010/main" val="4633057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93F0ADB5-A0B4-4B01-A8C4-FDC34CE22B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AA6D0FDE-0241-4C21-A720-A694753582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654296" cy="6858000"/>
          </a:xfrm>
          <a:prstGeom prst="rect">
            <a:avLst/>
          </a:prstGeom>
          <a:solidFill>
            <a:schemeClr val="tx1">
              <a:lumMod val="95000"/>
              <a:lumOff val="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4" name="Picture 3" descr="Finance trade numbers">
            <a:extLst>
              <a:ext uri="{FF2B5EF4-FFF2-40B4-BE49-F238E27FC236}">
                <a16:creationId xmlns="" xmlns:a16="http://schemas.microsoft.com/office/drawing/2014/main" id="{32F354A1-38C7-4598-A0E1-7A286A3019B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649214" y="0"/>
            <a:ext cx="7541091" cy="6858000"/>
          </a:xfrm>
          <a:prstGeom prst="rect">
            <a:avLst/>
          </a:prstGeom>
        </p:spPr>
      </p:pic>
      <p:graphicFrame>
        <p:nvGraphicFramePr>
          <p:cNvPr id="5" name="Content Placeholder 2" descr="Icon Bullets">
            <a:extLst>
              <a:ext uri="{FF2B5EF4-FFF2-40B4-BE49-F238E27FC236}">
                <a16:creationId xmlns="" xmlns:a16="http://schemas.microsoft.com/office/drawing/2014/main" id="{51938B4F-26EE-4238-880D-3CE26A7E4AED}"/>
              </a:ext>
            </a:extLst>
          </p:cNvPr>
          <p:cNvGraphicFramePr>
            <a:graphicFrameLocks noGrp="1"/>
          </p:cNvGraphicFramePr>
          <p:nvPr>
            <p:ph idx="1"/>
            <p:extLst>
              <p:ext uri="{D42A27DB-BD31-4B8C-83A1-F6EECF244321}">
                <p14:modId xmlns:p14="http://schemas.microsoft.com/office/powerpoint/2010/main" val="3358975880"/>
              </p:ext>
            </p:extLst>
          </p:nvPr>
        </p:nvGraphicFramePr>
        <p:xfrm>
          <a:off x="1582548" y="1960685"/>
          <a:ext cx="9026901" cy="26464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 xmlns:a16="http://schemas.microsoft.com/office/drawing/2014/main" id="{9C9DE503-F7C2-4A40-83F4-4DE931E7D9DE}"/>
              </a:ext>
            </a:extLst>
          </p:cNvPr>
          <p:cNvSpPr>
            <a:spLocks noGrp="1"/>
          </p:cNvSpPr>
          <p:nvPr>
            <p:ph type="title"/>
          </p:nvPr>
        </p:nvSpPr>
        <p:spPr>
          <a:xfrm>
            <a:off x="3661344" y="88037"/>
            <a:ext cx="4869310" cy="853404"/>
          </a:xfrm>
          <a:noFill/>
          <a:ln>
            <a:solidFill>
              <a:schemeClr val="bg1"/>
            </a:solidFill>
          </a:ln>
          <a:effectLst>
            <a:glow rad="152400">
              <a:schemeClr val="bg1">
                <a:alpha val="13000"/>
              </a:schemeClr>
            </a:glow>
          </a:effectLst>
        </p:spPr>
        <p:txBody>
          <a:bodyPr wrap="square">
            <a:normAutofit fontScale="90000"/>
          </a:bodyPr>
          <a:lstStyle/>
          <a:p>
            <a:r>
              <a:rPr lang="en-US" dirty="0" smtClean="0">
                <a:solidFill>
                  <a:schemeClr val="bg1"/>
                </a:solidFill>
              </a:rPr>
              <a:t>Data Analysis Process</a:t>
            </a:r>
            <a:endParaRPr lang="en-US" dirty="0">
              <a:solidFill>
                <a:schemeClr val="bg1"/>
              </a:solidFill>
            </a:endParaRPr>
          </a:p>
        </p:txBody>
      </p:sp>
      <p:sp>
        <p:nvSpPr>
          <p:cNvPr id="3" name="TextBox 2"/>
          <p:cNvSpPr txBox="1"/>
          <p:nvPr/>
        </p:nvSpPr>
        <p:spPr>
          <a:xfrm>
            <a:off x="3605251" y="1169949"/>
            <a:ext cx="4981494" cy="615553"/>
          </a:xfrm>
          <a:prstGeom prst="rect">
            <a:avLst/>
          </a:prstGeom>
          <a:noFill/>
        </p:spPr>
        <p:txBody>
          <a:bodyPr wrap="square" rtlCol="0">
            <a:spAutoFit/>
          </a:bodyPr>
          <a:lstStyle/>
          <a:p>
            <a:pPr algn="ctr"/>
            <a:r>
              <a:rPr lang="en-US" sz="3400" dirty="0" smtClean="0">
                <a:solidFill>
                  <a:schemeClr val="bg1"/>
                </a:solidFill>
              </a:rPr>
              <a:t>Data</a:t>
            </a:r>
            <a:r>
              <a:rPr lang="en-US" dirty="0" smtClean="0">
                <a:solidFill>
                  <a:schemeClr val="bg1"/>
                </a:solidFill>
              </a:rPr>
              <a:t> </a:t>
            </a:r>
            <a:r>
              <a:rPr lang="en-US" sz="3400" dirty="0" smtClean="0">
                <a:solidFill>
                  <a:schemeClr val="bg1"/>
                </a:solidFill>
              </a:rPr>
              <a:t>Cleaning</a:t>
            </a:r>
            <a:endParaRPr lang="en-US" sz="3400" dirty="0">
              <a:solidFill>
                <a:schemeClr val="bg1"/>
              </a:solidFill>
            </a:endParaRPr>
          </a:p>
        </p:txBody>
      </p:sp>
      <p:pic>
        <p:nvPicPr>
          <p:cNvPr id="6" name="Picture 5"/>
          <p:cNvPicPr>
            <a:picLocks noChangeAspect="1"/>
          </p:cNvPicPr>
          <p:nvPr/>
        </p:nvPicPr>
        <p:blipFill>
          <a:blip r:embed="rId9"/>
          <a:stretch>
            <a:fillRect/>
          </a:stretch>
        </p:blipFill>
        <p:spPr>
          <a:xfrm>
            <a:off x="3804544" y="4641710"/>
            <a:ext cx="4582908" cy="2181749"/>
          </a:xfrm>
          <a:prstGeom prst="rect">
            <a:avLst/>
          </a:prstGeom>
        </p:spPr>
      </p:pic>
    </p:spTree>
    <p:extLst>
      <p:ext uri="{BB962C8B-B14F-4D97-AF65-F5344CB8AC3E}">
        <p14:creationId xmlns:p14="http://schemas.microsoft.com/office/powerpoint/2010/main" val="3288008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93F0ADB5-A0B4-4B01-A8C4-FDC34CE22B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AA6D0FDE-0241-4C21-A720-A694753582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654296" cy="6858000"/>
          </a:xfrm>
          <a:prstGeom prst="rect">
            <a:avLst/>
          </a:prstGeom>
          <a:solidFill>
            <a:schemeClr val="tx1">
              <a:lumMod val="95000"/>
              <a:lumOff val="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4" name="Picture 3" descr="Finance trade numbers">
            <a:extLst>
              <a:ext uri="{FF2B5EF4-FFF2-40B4-BE49-F238E27FC236}">
                <a16:creationId xmlns="" xmlns:a16="http://schemas.microsoft.com/office/drawing/2014/main" id="{32F354A1-38C7-4598-A0E1-7A286A3019B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650908" y="0"/>
            <a:ext cx="7541091" cy="6858000"/>
          </a:xfrm>
          <a:prstGeom prst="rect">
            <a:avLst/>
          </a:prstGeom>
        </p:spPr>
      </p:pic>
      <p:graphicFrame>
        <p:nvGraphicFramePr>
          <p:cNvPr id="5" name="Content Placeholder 2" descr="Icon Bullets">
            <a:extLst>
              <a:ext uri="{FF2B5EF4-FFF2-40B4-BE49-F238E27FC236}">
                <a16:creationId xmlns="" xmlns:a16="http://schemas.microsoft.com/office/drawing/2014/main" id="{51938B4F-26EE-4238-880D-3CE26A7E4AED}"/>
              </a:ext>
            </a:extLst>
          </p:cNvPr>
          <p:cNvGraphicFramePr>
            <a:graphicFrameLocks noGrp="1"/>
          </p:cNvGraphicFramePr>
          <p:nvPr>
            <p:ph idx="1"/>
            <p:extLst>
              <p:ext uri="{D42A27DB-BD31-4B8C-83A1-F6EECF244321}">
                <p14:modId xmlns:p14="http://schemas.microsoft.com/office/powerpoint/2010/main" val="488057250"/>
              </p:ext>
            </p:extLst>
          </p:nvPr>
        </p:nvGraphicFramePr>
        <p:xfrm>
          <a:off x="1582615" y="1143000"/>
          <a:ext cx="9026901" cy="26464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 xmlns:a16="http://schemas.microsoft.com/office/drawing/2014/main" id="{9C9DE503-F7C2-4A40-83F4-4DE931E7D9DE}"/>
              </a:ext>
            </a:extLst>
          </p:cNvPr>
          <p:cNvSpPr>
            <a:spLocks noGrp="1"/>
          </p:cNvSpPr>
          <p:nvPr>
            <p:ph type="title"/>
          </p:nvPr>
        </p:nvSpPr>
        <p:spPr>
          <a:xfrm>
            <a:off x="3661344" y="88037"/>
            <a:ext cx="4869310" cy="853404"/>
          </a:xfrm>
          <a:noFill/>
          <a:ln>
            <a:solidFill>
              <a:schemeClr val="bg1"/>
            </a:solidFill>
          </a:ln>
          <a:effectLst>
            <a:glow rad="152400">
              <a:schemeClr val="bg1">
                <a:alpha val="13000"/>
              </a:schemeClr>
            </a:glow>
          </a:effectLst>
        </p:spPr>
        <p:txBody>
          <a:bodyPr wrap="square">
            <a:normAutofit fontScale="90000"/>
          </a:bodyPr>
          <a:lstStyle/>
          <a:p>
            <a:r>
              <a:rPr lang="en-US" dirty="0" smtClean="0">
                <a:solidFill>
                  <a:schemeClr val="bg1"/>
                </a:solidFill>
              </a:rPr>
              <a:t>Data Analysis Process</a:t>
            </a:r>
            <a:endParaRPr lang="en-US" dirty="0">
              <a:solidFill>
                <a:schemeClr val="bg1"/>
              </a:solidFill>
            </a:endParaRPr>
          </a:p>
        </p:txBody>
      </p:sp>
      <p:pic>
        <p:nvPicPr>
          <p:cNvPr id="3" name="Picture 2"/>
          <p:cNvPicPr>
            <a:picLocks noChangeAspect="1"/>
          </p:cNvPicPr>
          <p:nvPr/>
        </p:nvPicPr>
        <p:blipFill>
          <a:blip r:embed="rId9"/>
          <a:stretch>
            <a:fillRect/>
          </a:stretch>
        </p:blipFill>
        <p:spPr>
          <a:xfrm>
            <a:off x="1582615" y="4178102"/>
            <a:ext cx="2875662" cy="633378"/>
          </a:xfrm>
          <a:prstGeom prst="rect">
            <a:avLst/>
          </a:prstGeom>
        </p:spPr>
      </p:pic>
      <p:pic>
        <p:nvPicPr>
          <p:cNvPr id="6" name="Picture 5"/>
          <p:cNvPicPr>
            <a:picLocks noChangeAspect="1"/>
          </p:cNvPicPr>
          <p:nvPr/>
        </p:nvPicPr>
        <p:blipFill>
          <a:blip r:embed="rId10"/>
          <a:stretch>
            <a:fillRect/>
          </a:stretch>
        </p:blipFill>
        <p:spPr>
          <a:xfrm>
            <a:off x="1582615" y="5013703"/>
            <a:ext cx="2875662" cy="650631"/>
          </a:xfrm>
          <a:prstGeom prst="rect">
            <a:avLst/>
          </a:prstGeom>
        </p:spPr>
      </p:pic>
      <p:pic>
        <p:nvPicPr>
          <p:cNvPr id="9" name="Picture 8"/>
          <p:cNvPicPr>
            <a:picLocks noChangeAspect="1"/>
          </p:cNvPicPr>
          <p:nvPr/>
        </p:nvPicPr>
        <p:blipFill>
          <a:blip r:embed="rId11"/>
          <a:stretch>
            <a:fillRect/>
          </a:stretch>
        </p:blipFill>
        <p:spPr>
          <a:xfrm>
            <a:off x="4972276" y="4068149"/>
            <a:ext cx="2749277" cy="1749670"/>
          </a:xfrm>
          <a:prstGeom prst="rect">
            <a:avLst/>
          </a:prstGeom>
        </p:spPr>
      </p:pic>
      <p:pic>
        <p:nvPicPr>
          <p:cNvPr id="11" name="Picture 10"/>
          <p:cNvPicPr>
            <a:picLocks noChangeAspect="1"/>
          </p:cNvPicPr>
          <p:nvPr/>
        </p:nvPicPr>
        <p:blipFill>
          <a:blip r:embed="rId12"/>
          <a:stretch>
            <a:fillRect/>
          </a:stretch>
        </p:blipFill>
        <p:spPr>
          <a:xfrm>
            <a:off x="8216335" y="4047151"/>
            <a:ext cx="2393181" cy="1770668"/>
          </a:xfrm>
          <a:prstGeom prst="rect">
            <a:avLst/>
          </a:prstGeom>
        </p:spPr>
      </p:pic>
    </p:spTree>
    <p:extLst>
      <p:ext uri="{BB962C8B-B14F-4D97-AF65-F5344CB8AC3E}">
        <p14:creationId xmlns:p14="http://schemas.microsoft.com/office/powerpoint/2010/main" val="35623068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93F0ADB5-A0B4-4B01-A8C4-FDC34CE22B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AA6D0FDE-0241-4C21-A720-A694753582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654296" cy="6858000"/>
          </a:xfrm>
          <a:prstGeom prst="rect">
            <a:avLst/>
          </a:prstGeom>
          <a:solidFill>
            <a:schemeClr val="tx1">
              <a:lumMod val="95000"/>
              <a:lumOff val="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4" name="Picture 3" descr="Finance trade numbers">
            <a:extLst>
              <a:ext uri="{FF2B5EF4-FFF2-40B4-BE49-F238E27FC236}">
                <a16:creationId xmlns="" xmlns:a16="http://schemas.microsoft.com/office/drawing/2014/main" id="{32F354A1-38C7-4598-A0E1-7A286A3019B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650908" y="0"/>
            <a:ext cx="7541091" cy="6858000"/>
          </a:xfrm>
          <a:prstGeom prst="rect">
            <a:avLst/>
          </a:prstGeom>
        </p:spPr>
      </p:pic>
      <p:graphicFrame>
        <p:nvGraphicFramePr>
          <p:cNvPr id="5" name="Content Placeholder 2" descr="Icon Bullets">
            <a:extLst>
              <a:ext uri="{FF2B5EF4-FFF2-40B4-BE49-F238E27FC236}">
                <a16:creationId xmlns="" xmlns:a16="http://schemas.microsoft.com/office/drawing/2014/main" id="{51938B4F-26EE-4238-880D-3CE26A7E4AED}"/>
              </a:ext>
            </a:extLst>
          </p:cNvPr>
          <p:cNvGraphicFramePr>
            <a:graphicFrameLocks noGrp="1"/>
          </p:cNvGraphicFramePr>
          <p:nvPr>
            <p:ph idx="1"/>
            <p:extLst>
              <p:ext uri="{D42A27DB-BD31-4B8C-83A1-F6EECF244321}">
                <p14:modId xmlns:p14="http://schemas.microsoft.com/office/powerpoint/2010/main" val="2583772400"/>
              </p:ext>
            </p:extLst>
          </p:nvPr>
        </p:nvGraphicFramePr>
        <p:xfrm>
          <a:off x="1239715" y="1143000"/>
          <a:ext cx="9369801" cy="54951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 xmlns:a16="http://schemas.microsoft.com/office/drawing/2014/main" id="{9C9DE503-F7C2-4A40-83F4-4DE931E7D9DE}"/>
              </a:ext>
            </a:extLst>
          </p:cNvPr>
          <p:cNvSpPr>
            <a:spLocks noGrp="1"/>
          </p:cNvSpPr>
          <p:nvPr>
            <p:ph type="title"/>
          </p:nvPr>
        </p:nvSpPr>
        <p:spPr>
          <a:xfrm>
            <a:off x="3661344" y="88037"/>
            <a:ext cx="4869310" cy="853404"/>
          </a:xfrm>
          <a:noFill/>
          <a:ln>
            <a:solidFill>
              <a:schemeClr val="bg1"/>
            </a:solidFill>
          </a:ln>
          <a:effectLst>
            <a:glow rad="152400">
              <a:schemeClr val="bg1">
                <a:alpha val="13000"/>
              </a:schemeClr>
            </a:glow>
          </a:effectLst>
        </p:spPr>
        <p:txBody>
          <a:bodyPr wrap="square">
            <a:normAutofit fontScale="90000"/>
          </a:bodyPr>
          <a:lstStyle/>
          <a:p>
            <a:r>
              <a:rPr lang="en-US" dirty="0" smtClean="0">
                <a:solidFill>
                  <a:schemeClr val="bg1"/>
                </a:solidFill>
              </a:rPr>
              <a:t>Data Analysis Process</a:t>
            </a:r>
            <a:endParaRPr lang="en-US" dirty="0">
              <a:solidFill>
                <a:schemeClr val="bg1"/>
              </a:solidFill>
            </a:endParaRPr>
          </a:p>
        </p:txBody>
      </p:sp>
    </p:spTree>
    <p:extLst>
      <p:ext uri="{BB962C8B-B14F-4D97-AF65-F5344CB8AC3E}">
        <p14:creationId xmlns:p14="http://schemas.microsoft.com/office/powerpoint/2010/main" val="23711656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93F0ADB5-A0B4-4B01-A8C4-FDC34CE22B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AA6D0FDE-0241-4C21-A720-A694753582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654296" cy="6858000"/>
          </a:xfrm>
          <a:prstGeom prst="rect">
            <a:avLst/>
          </a:prstGeom>
          <a:solidFill>
            <a:schemeClr val="tx1">
              <a:lumMod val="95000"/>
              <a:lumOff val="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4" name="Picture 3" descr="Finance trade numbers">
            <a:extLst>
              <a:ext uri="{FF2B5EF4-FFF2-40B4-BE49-F238E27FC236}">
                <a16:creationId xmlns="" xmlns:a16="http://schemas.microsoft.com/office/drawing/2014/main" id="{32F354A1-38C7-4598-A0E1-7A286A3019B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652602" y="0"/>
            <a:ext cx="7541091" cy="6858000"/>
          </a:xfrm>
          <a:prstGeom prst="rect">
            <a:avLst/>
          </a:prstGeom>
        </p:spPr>
      </p:pic>
      <p:graphicFrame>
        <p:nvGraphicFramePr>
          <p:cNvPr id="5" name="Content Placeholder 2" descr="Icon Bullets">
            <a:extLst>
              <a:ext uri="{FF2B5EF4-FFF2-40B4-BE49-F238E27FC236}">
                <a16:creationId xmlns="" xmlns:a16="http://schemas.microsoft.com/office/drawing/2014/main" id="{51938B4F-26EE-4238-880D-3CE26A7E4AED}"/>
              </a:ext>
            </a:extLst>
          </p:cNvPr>
          <p:cNvGraphicFramePr>
            <a:graphicFrameLocks noGrp="1"/>
          </p:cNvGraphicFramePr>
          <p:nvPr>
            <p:ph idx="1"/>
            <p:extLst>
              <p:ext uri="{D42A27DB-BD31-4B8C-83A1-F6EECF244321}">
                <p14:modId xmlns:p14="http://schemas.microsoft.com/office/powerpoint/2010/main" val="634838918"/>
              </p:ext>
            </p:extLst>
          </p:nvPr>
        </p:nvGraphicFramePr>
        <p:xfrm>
          <a:off x="1134173" y="2137719"/>
          <a:ext cx="9923650" cy="44659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 xmlns:a16="http://schemas.microsoft.com/office/drawing/2014/main" id="{9C9DE503-F7C2-4A40-83F4-4DE931E7D9DE}"/>
              </a:ext>
            </a:extLst>
          </p:cNvPr>
          <p:cNvSpPr>
            <a:spLocks noGrp="1"/>
          </p:cNvSpPr>
          <p:nvPr>
            <p:ph type="title"/>
          </p:nvPr>
        </p:nvSpPr>
        <p:spPr>
          <a:xfrm>
            <a:off x="3661344" y="88037"/>
            <a:ext cx="4869310" cy="853404"/>
          </a:xfrm>
          <a:noFill/>
          <a:ln>
            <a:solidFill>
              <a:schemeClr val="bg1"/>
            </a:solidFill>
          </a:ln>
          <a:effectLst>
            <a:glow rad="152400">
              <a:schemeClr val="bg1">
                <a:alpha val="13000"/>
              </a:schemeClr>
            </a:glow>
          </a:effectLst>
        </p:spPr>
        <p:txBody>
          <a:bodyPr wrap="square">
            <a:normAutofit fontScale="90000"/>
          </a:bodyPr>
          <a:lstStyle/>
          <a:p>
            <a:r>
              <a:rPr lang="en-US" dirty="0" smtClean="0">
                <a:solidFill>
                  <a:schemeClr val="bg1"/>
                </a:solidFill>
              </a:rPr>
              <a:t>Data Analysis Process</a:t>
            </a:r>
            <a:endParaRPr lang="en-US" dirty="0">
              <a:solidFill>
                <a:schemeClr val="bg1"/>
              </a:solidFill>
            </a:endParaRPr>
          </a:p>
        </p:txBody>
      </p:sp>
      <p:sp>
        <p:nvSpPr>
          <p:cNvPr id="6" name="TextBox 5"/>
          <p:cNvSpPr txBox="1"/>
          <p:nvPr/>
        </p:nvSpPr>
        <p:spPr>
          <a:xfrm>
            <a:off x="4261744" y="1231495"/>
            <a:ext cx="3668508" cy="615553"/>
          </a:xfrm>
          <a:prstGeom prst="rect">
            <a:avLst/>
          </a:prstGeom>
          <a:noFill/>
        </p:spPr>
        <p:txBody>
          <a:bodyPr wrap="square" rtlCol="0">
            <a:spAutoFit/>
          </a:bodyPr>
          <a:lstStyle/>
          <a:p>
            <a:pPr algn="ctr"/>
            <a:r>
              <a:rPr lang="en-US" sz="3400" dirty="0" smtClean="0">
                <a:solidFill>
                  <a:schemeClr val="bg1"/>
                </a:solidFill>
              </a:rPr>
              <a:t>Forecasting</a:t>
            </a:r>
            <a:endParaRPr lang="en-US" sz="3400" dirty="0">
              <a:solidFill>
                <a:schemeClr val="bg1"/>
              </a:solidFill>
            </a:endParaRPr>
          </a:p>
        </p:txBody>
      </p:sp>
    </p:spTree>
    <p:extLst>
      <p:ext uri="{BB962C8B-B14F-4D97-AF65-F5344CB8AC3E}">
        <p14:creationId xmlns:p14="http://schemas.microsoft.com/office/powerpoint/2010/main" val="21421437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F70220-677A-411B-B416-94321A555329}"/>
              </a:ext>
            </a:extLst>
          </p:cNvPr>
          <p:cNvSpPr>
            <a:spLocks noGrp="1"/>
          </p:cNvSpPr>
          <p:nvPr>
            <p:ph type="title"/>
          </p:nvPr>
        </p:nvSpPr>
        <p:spPr>
          <a:xfrm>
            <a:off x="6040315" y="978776"/>
            <a:ext cx="4593723" cy="1174991"/>
          </a:xfrm>
          <a:noFill/>
          <a:ln w="31750" cap="sq">
            <a:solidFill>
              <a:schemeClr val="bg1"/>
            </a:solidFill>
            <a:miter lim="800000"/>
          </a:ln>
          <a:effectLst>
            <a:glow rad="152400">
              <a:schemeClr val="bg1">
                <a:alpha val="13000"/>
              </a:schemeClr>
            </a:glow>
          </a:effectLst>
        </p:spPr>
        <p:txBody>
          <a:bodyPr vert="horz" wrap="square" lIns="182880" tIns="182880" rIns="182880" bIns="182880" rtlCol="0" anchor="ctr">
            <a:normAutofit/>
          </a:bodyPr>
          <a:lstStyle/>
          <a:p>
            <a:r>
              <a:rPr lang="en-US" dirty="0" smtClean="0">
                <a:solidFill>
                  <a:schemeClr val="bg1"/>
                </a:solidFill>
              </a:rPr>
              <a:t>Outline of findings</a:t>
            </a:r>
            <a:endParaRPr lang="en-US" dirty="0">
              <a:solidFill>
                <a:schemeClr val="bg1"/>
              </a:solidFill>
            </a:endParaRPr>
          </a:p>
        </p:txBody>
      </p:sp>
      <p:pic>
        <p:nvPicPr>
          <p:cNvPr id="4" name="Picture 3" descr="Hand with pen pointing at financial numbers">
            <a:extLst>
              <a:ext uri="{FF2B5EF4-FFF2-40B4-BE49-F238E27FC236}">
                <a16:creationId xmlns="" xmlns:a16="http://schemas.microsoft.com/office/drawing/2014/main" id="{AB2E0BE0-B684-4228-A4DF-58C8CAFFDF4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b="-1"/>
          <a:stretch/>
        </p:blipFill>
        <p:spPr>
          <a:xfrm>
            <a:off x="20" y="10"/>
            <a:ext cx="4657325" cy="6857990"/>
          </a:xfrm>
          <a:prstGeom prst="rect">
            <a:avLst/>
          </a:prstGeom>
        </p:spPr>
      </p:pic>
      <p:sp>
        <p:nvSpPr>
          <p:cNvPr id="3" name="Content Placeholder 2">
            <a:extLst>
              <a:ext uri="{FF2B5EF4-FFF2-40B4-BE49-F238E27FC236}">
                <a16:creationId xmlns="" xmlns:a16="http://schemas.microsoft.com/office/drawing/2014/main" id="{667D1328-A694-4327-A93A-3D919FD65B27}"/>
              </a:ext>
            </a:extLst>
          </p:cNvPr>
          <p:cNvSpPr>
            <a:spLocks noGrp="1"/>
          </p:cNvSpPr>
          <p:nvPr>
            <p:ph idx="1"/>
          </p:nvPr>
        </p:nvSpPr>
        <p:spPr>
          <a:xfrm>
            <a:off x="6182264" y="2638044"/>
            <a:ext cx="4451773" cy="3657248"/>
          </a:xfrm>
        </p:spPr>
        <p:txBody>
          <a:bodyPr>
            <a:normAutofit/>
          </a:bodyPr>
          <a:lstStyle/>
          <a:p>
            <a:r>
              <a:rPr lang="en-US" dirty="0" smtClean="0">
                <a:solidFill>
                  <a:schemeClr val="bg1"/>
                </a:solidFill>
              </a:rPr>
              <a:t>Observed Range</a:t>
            </a:r>
          </a:p>
          <a:p>
            <a:pPr lvl="1"/>
            <a:r>
              <a:rPr lang="en-US" dirty="0" smtClean="0">
                <a:solidFill>
                  <a:schemeClr val="bg1"/>
                </a:solidFill>
              </a:rPr>
              <a:t>January 2016 to April 2026</a:t>
            </a:r>
          </a:p>
          <a:p>
            <a:r>
              <a:rPr lang="en-US" dirty="0" smtClean="0">
                <a:solidFill>
                  <a:schemeClr val="bg1"/>
                </a:solidFill>
              </a:rPr>
              <a:t>Forecast Range</a:t>
            </a:r>
          </a:p>
          <a:p>
            <a:pPr lvl="1"/>
            <a:r>
              <a:rPr lang="en-US" dirty="0" smtClean="0">
                <a:solidFill>
                  <a:schemeClr val="bg1"/>
                </a:solidFill>
              </a:rPr>
              <a:t>6 months </a:t>
            </a:r>
            <a:endParaRPr lang="en-US" dirty="0">
              <a:solidFill>
                <a:schemeClr val="bg1"/>
              </a:solidFill>
            </a:endParaRPr>
          </a:p>
          <a:p>
            <a:r>
              <a:rPr lang="en-US" dirty="0" smtClean="0">
                <a:solidFill>
                  <a:schemeClr val="bg1"/>
                </a:solidFill>
              </a:rPr>
              <a:t>Model Accuracy</a:t>
            </a:r>
            <a:endParaRPr lang="en-US" dirty="0" smtClean="0">
              <a:solidFill>
                <a:schemeClr val="bg1"/>
              </a:solidFill>
            </a:endParaRPr>
          </a:p>
          <a:p>
            <a:pPr lvl="1"/>
            <a:r>
              <a:rPr lang="en-US" dirty="0" smtClean="0">
                <a:solidFill>
                  <a:schemeClr val="bg1"/>
                </a:solidFill>
              </a:rPr>
              <a:t>Calculated MAPE=1.2%</a:t>
            </a:r>
          </a:p>
          <a:p>
            <a:pPr lvl="1"/>
            <a:r>
              <a:rPr lang="en-US" dirty="0" smtClean="0">
                <a:solidFill>
                  <a:schemeClr val="bg1"/>
                </a:solidFill>
              </a:rPr>
              <a:t>98.8% Accuracy </a:t>
            </a:r>
          </a:p>
          <a:p>
            <a:pPr lvl="1"/>
            <a:r>
              <a:rPr lang="en-US" dirty="0" smtClean="0">
                <a:solidFill>
                  <a:schemeClr val="bg1"/>
                </a:solidFill>
              </a:rPr>
              <a:t>Rejection of Null Hypothesis</a:t>
            </a:r>
            <a:endParaRPr lang="en-US" dirty="0" smtClean="0">
              <a:solidFill>
                <a:schemeClr val="bg1"/>
              </a:solidFill>
            </a:endParaRPr>
          </a:p>
        </p:txBody>
      </p:sp>
    </p:spTree>
    <p:extLst>
      <p:ext uri="{BB962C8B-B14F-4D97-AF65-F5344CB8AC3E}">
        <p14:creationId xmlns:p14="http://schemas.microsoft.com/office/powerpoint/2010/main" val="26738491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93F0ADB5-A0B4-4B01-A8C4-FDC34CE22B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AA6D0FDE-0241-4C21-A720-A694753582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654296" cy="6858000"/>
          </a:xfrm>
          <a:prstGeom prst="rect">
            <a:avLst/>
          </a:prstGeom>
          <a:solidFill>
            <a:schemeClr val="tx1">
              <a:lumMod val="95000"/>
              <a:lumOff val="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4" name="Picture 3" descr="Finance trade numbers">
            <a:extLst>
              <a:ext uri="{FF2B5EF4-FFF2-40B4-BE49-F238E27FC236}">
                <a16:creationId xmlns="" xmlns:a16="http://schemas.microsoft.com/office/drawing/2014/main" id="{32F354A1-38C7-4598-A0E1-7A286A3019B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650908" y="0"/>
            <a:ext cx="7541091" cy="6858000"/>
          </a:xfrm>
          <a:prstGeom prst="rect">
            <a:avLst/>
          </a:prstGeom>
        </p:spPr>
      </p:pic>
      <p:graphicFrame>
        <p:nvGraphicFramePr>
          <p:cNvPr id="5" name="Content Placeholder 2" descr="Icon Bullets">
            <a:extLst>
              <a:ext uri="{FF2B5EF4-FFF2-40B4-BE49-F238E27FC236}">
                <a16:creationId xmlns="" xmlns:a16="http://schemas.microsoft.com/office/drawing/2014/main" id="{51938B4F-26EE-4238-880D-3CE26A7E4AED}"/>
              </a:ext>
            </a:extLst>
          </p:cNvPr>
          <p:cNvGraphicFramePr>
            <a:graphicFrameLocks noGrp="1"/>
          </p:cNvGraphicFramePr>
          <p:nvPr>
            <p:ph idx="1"/>
            <p:extLst>
              <p:ext uri="{D42A27DB-BD31-4B8C-83A1-F6EECF244321}">
                <p14:modId xmlns:p14="http://schemas.microsoft.com/office/powerpoint/2010/main" val="2881417379"/>
              </p:ext>
            </p:extLst>
          </p:nvPr>
        </p:nvGraphicFramePr>
        <p:xfrm>
          <a:off x="1560600" y="2580448"/>
          <a:ext cx="9070795" cy="38949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 xmlns:a16="http://schemas.microsoft.com/office/drawing/2014/main" id="{9C9DE503-F7C2-4A40-83F4-4DE931E7D9DE}"/>
              </a:ext>
            </a:extLst>
          </p:cNvPr>
          <p:cNvSpPr>
            <a:spLocks noGrp="1"/>
          </p:cNvSpPr>
          <p:nvPr>
            <p:ph type="title"/>
          </p:nvPr>
        </p:nvSpPr>
        <p:spPr>
          <a:xfrm>
            <a:off x="3661344" y="88037"/>
            <a:ext cx="4869310" cy="853404"/>
          </a:xfrm>
          <a:noFill/>
          <a:ln>
            <a:solidFill>
              <a:schemeClr val="bg1"/>
            </a:solidFill>
          </a:ln>
          <a:effectLst>
            <a:glow rad="152400">
              <a:schemeClr val="bg1">
                <a:alpha val="13000"/>
              </a:schemeClr>
            </a:glow>
          </a:effectLst>
        </p:spPr>
        <p:txBody>
          <a:bodyPr wrap="square">
            <a:normAutofit fontScale="90000"/>
          </a:bodyPr>
          <a:lstStyle/>
          <a:p>
            <a:r>
              <a:rPr lang="en-US" dirty="0" smtClean="0">
                <a:solidFill>
                  <a:schemeClr val="bg1"/>
                </a:solidFill>
              </a:rPr>
              <a:t>Data Analysis Process</a:t>
            </a:r>
            <a:endParaRPr lang="en-US" dirty="0">
              <a:solidFill>
                <a:schemeClr val="bg1"/>
              </a:solidFill>
            </a:endParaRPr>
          </a:p>
        </p:txBody>
      </p:sp>
      <p:sp>
        <p:nvSpPr>
          <p:cNvPr id="7" name="TextBox 6"/>
          <p:cNvSpPr txBox="1"/>
          <p:nvPr/>
        </p:nvSpPr>
        <p:spPr>
          <a:xfrm>
            <a:off x="4293575" y="1453168"/>
            <a:ext cx="3604846" cy="615553"/>
          </a:xfrm>
          <a:prstGeom prst="rect">
            <a:avLst/>
          </a:prstGeom>
          <a:noFill/>
        </p:spPr>
        <p:txBody>
          <a:bodyPr wrap="square" rtlCol="0">
            <a:spAutoFit/>
          </a:bodyPr>
          <a:lstStyle/>
          <a:p>
            <a:pPr algn="ctr"/>
            <a:r>
              <a:rPr lang="en-US" sz="3400" dirty="0" smtClean="0">
                <a:solidFill>
                  <a:schemeClr val="bg1"/>
                </a:solidFill>
              </a:rPr>
              <a:t>Limitations</a:t>
            </a:r>
            <a:endParaRPr lang="en-US" sz="3400" dirty="0">
              <a:solidFill>
                <a:schemeClr val="bg1"/>
              </a:solidFill>
            </a:endParaRPr>
          </a:p>
        </p:txBody>
      </p:sp>
    </p:spTree>
    <p:extLst>
      <p:ext uri="{BB962C8B-B14F-4D97-AF65-F5344CB8AC3E}">
        <p14:creationId xmlns:p14="http://schemas.microsoft.com/office/powerpoint/2010/main" val="10930712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93F0ADB5-A0B4-4B01-A8C4-FDC34CE22B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AA6D0FDE-0241-4C21-A720-A694753582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654296" cy="6858000"/>
          </a:xfrm>
          <a:prstGeom prst="rect">
            <a:avLst/>
          </a:prstGeom>
          <a:solidFill>
            <a:schemeClr val="tx1">
              <a:lumMod val="95000"/>
              <a:lumOff val="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4" name="Picture 3" descr="Finance trade numbers">
            <a:extLst>
              <a:ext uri="{FF2B5EF4-FFF2-40B4-BE49-F238E27FC236}">
                <a16:creationId xmlns="" xmlns:a16="http://schemas.microsoft.com/office/drawing/2014/main" id="{32F354A1-38C7-4598-A0E1-7A286A3019B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650908" y="0"/>
            <a:ext cx="7541091" cy="6858000"/>
          </a:xfrm>
          <a:prstGeom prst="rect">
            <a:avLst/>
          </a:prstGeom>
        </p:spPr>
      </p:pic>
      <p:graphicFrame>
        <p:nvGraphicFramePr>
          <p:cNvPr id="5" name="Content Placeholder 2" descr="Icon Bullets">
            <a:extLst>
              <a:ext uri="{FF2B5EF4-FFF2-40B4-BE49-F238E27FC236}">
                <a16:creationId xmlns="" xmlns:a16="http://schemas.microsoft.com/office/drawing/2014/main" id="{51938B4F-26EE-4238-880D-3CE26A7E4AED}"/>
              </a:ext>
            </a:extLst>
          </p:cNvPr>
          <p:cNvGraphicFramePr>
            <a:graphicFrameLocks noGrp="1"/>
          </p:cNvGraphicFramePr>
          <p:nvPr>
            <p:ph idx="1"/>
            <p:extLst>
              <p:ext uri="{D42A27DB-BD31-4B8C-83A1-F6EECF244321}">
                <p14:modId xmlns:p14="http://schemas.microsoft.com/office/powerpoint/2010/main" val="2975599420"/>
              </p:ext>
            </p:extLst>
          </p:nvPr>
        </p:nvGraphicFramePr>
        <p:xfrm>
          <a:off x="1560600" y="2580448"/>
          <a:ext cx="9070795" cy="38949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 xmlns:a16="http://schemas.microsoft.com/office/drawing/2014/main" id="{9C9DE503-F7C2-4A40-83F4-4DE931E7D9DE}"/>
              </a:ext>
            </a:extLst>
          </p:cNvPr>
          <p:cNvSpPr>
            <a:spLocks noGrp="1"/>
          </p:cNvSpPr>
          <p:nvPr>
            <p:ph type="title"/>
          </p:nvPr>
        </p:nvSpPr>
        <p:spPr>
          <a:xfrm>
            <a:off x="3661344" y="88037"/>
            <a:ext cx="4869310" cy="853404"/>
          </a:xfrm>
          <a:noFill/>
          <a:ln>
            <a:solidFill>
              <a:schemeClr val="bg1"/>
            </a:solidFill>
          </a:ln>
          <a:effectLst>
            <a:glow rad="152400">
              <a:schemeClr val="bg1">
                <a:alpha val="13000"/>
              </a:schemeClr>
            </a:glow>
          </a:effectLst>
        </p:spPr>
        <p:txBody>
          <a:bodyPr wrap="square">
            <a:normAutofit fontScale="90000"/>
          </a:bodyPr>
          <a:lstStyle/>
          <a:p>
            <a:r>
              <a:rPr lang="en-US" dirty="0" smtClean="0">
                <a:solidFill>
                  <a:schemeClr val="bg1"/>
                </a:solidFill>
              </a:rPr>
              <a:t>Data Analysis Process</a:t>
            </a:r>
            <a:endParaRPr lang="en-US" dirty="0">
              <a:solidFill>
                <a:schemeClr val="bg1"/>
              </a:solidFill>
            </a:endParaRPr>
          </a:p>
        </p:txBody>
      </p:sp>
      <p:sp>
        <p:nvSpPr>
          <p:cNvPr id="7" name="TextBox 6"/>
          <p:cNvSpPr txBox="1"/>
          <p:nvPr/>
        </p:nvSpPr>
        <p:spPr>
          <a:xfrm>
            <a:off x="4164621" y="1453168"/>
            <a:ext cx="3862752" cy="615553"/>
          </a:xfrm>
          <a:prstGeom prst="rect">
            <a:avLst/>
          </a:prstGeom>
          <a:noFill/>
        </p:spPr>
        <p:txBody>
          <a:bodyPr wrap="square" rtlCol="0">
            <a:spAutoFit/>
          </a:bodyPr>
          <a:lstStyle/>
          <a:p>
            <a:pPr algn="ctr"/>
            <a:r>
              <a:rPr lang="en-US" sz="3400" dirty="0" smtClean="0">
                <a:solidFill>
                  <a:schemeClr val="bg1"/>
                </a:solidFill>
              </a:rPr>
              <a:t>Proposed Actions</a:t>
            </a:r>
            <a:endParaRPr lang="en-US" sz="3400" dirty="0">
              <a:solidFill>
                <a:schemeClr val="bg1"/>
              </a:solidFill>
            </a:endParaRPr>
          </a:p>
        </p:txBody>
      </p:sp>
    </p:spTree>
    <p:extLst>
      <p:ext uri="{BB962C8B-B14F-4D97-AF65-F5344CB8AC3E}">
        <p14:creationId xmlns:p14="http://schemas.microsoft.com/office/powerpoint/2010/main" val="33385717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4" name="Picture 3" descr="Hand with pen pointing at financial numbers">
            <a:extLst>
              <a:ext uri="{FF2B5EF4-FFF2-40B4-BE49-F238E27FC236}">
                <a16:creationId xmlns="" xmlns:a16="http://schemas.microsoft.com/office/drawing/2014/main" id="{AB2E0BE0-B684-4228-A4DF-58C8CAFFDF4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b="-1"/>
          <a:stretch/>
        </p:blipFill>
        <p:spPr>
          <a:xfrm>
            <a:off x="20" y="10"/>
            <a:ext cx="4657325" cy="6857990"/>
          </a:xfrm>
          <a:prstGeom prst="rect">
            <a:avLst/>
          </a:prstGeom>
        </p:spPr>
      </p:pic>
      <p:sp>
        <p:nvSpPr>
          <p:cNvPr id="3" name="Content Placeholder 2">
            <a:extLst>
              <a:ext uri="{FF2B5EF4-FFF2-40B4-BE49-F238E27FC236}">
                <a16:creationId xmlns="" xmlns:a16="http://schemas.microsoft.com/office/drawing/2014/main" id="{667D1328-A694-4327-A93A-3D919FD65B27}"/>
              </a:ext>
            </a:extLst>
          </p:cNvPr>
          <p:cNvSpPr>
            <a:spLocks noGrp="1"/>
          </p:cNvSpPr>
          <p:nvPr>
            <p:ph idx="1"/>
          </p:nvPr>
        </p:nvSpPr>
        <p:spPr>
          <a:xfrm>
            <a:off x="4657345" y="2464317"/>
            <a:ext cx="6747837" cy="3101983"/>
          </a:xfrm>
        </p:spPr>
        <p:txBody>
          <a:bodyPr>
            <a:normAutofit/>
          </a:bodyPr>
          <a:lstStyle/>
          <a:p>
            <a:r>
              <a:rPr lang="en-US" dirty="0" smtClean="0">
                <a:solidFill>
                  <a:schemeClr val="bg1"/>
                </a:solidFill>
              </a:rPr>
              <a:t>Model Accuracy</a:t>
            </a:r>
          </a:p>
          <a:p>
            <a:pPr lvl="1"/>
            <a:r>
              <a:rPr lang="en-US" dirty="0" smtClean="0">
                <a:solidFill>
                  <a:schemeClr val="bg1"/>
                </a:solidFill>
              </a:rPr>
              <a:t>Calculated MAPE=1.2%</a:t>
            </a:r>
          </a:p>
          <a:p>
            <a:pPr lvl="1"/>
            <a:r>
              <a:rPr lang="en-US" dirty="0" smtClean="0">
                <a:solidFill>
                  <a:schemeClr val="bg1"/>
                </a:solidFill>
              </a:rPr>
              <a:t>98.8% accuracy</a:t>
            </a:r>
          </a:p>
          <a:p>
            <a:pPr lvl="1"/>
            <a:endParaRPr lang="en-US" dirty="0" smtClean="0">
              <a:solidFill>
                <a:schemeClr val="bg1"/>
              </a:solidFill>
            </a:endParaRPr>
          </a:p>
          <a:p>
            <a:r>
              <a:rPr lang="en-US" dirty="0" smtClean="0">
                <a:solidFill>
                  <a:schemeClr val="bg1"/>
                </a:solidFill>
              </a:rPr>
              <a:t>Not limited to Microsoft </a:t>
            </a:r>
          </a:p>
          <a:p>
            <a:pPr lvl="1"/>
            <a:r>
              <a:rPr lang="en-US" dirty="0">
                <a:solidFill>
                  <a:schemeClr val="bg1"/>
                </a:solidFill>
              </a:rPr>
              <a:t>Since the model is based off of historical stock data, it can be used to forecast the future close prices of other companies as </a:t>
            </a:r>
            <a:r>
              <a:rPr lang="en-US" dirty="0" smtClean="0">
                <a:solidFill>
                  <a:schemeClr val="bg1"/>
                </a:solidFill>
              </a:rPr>
              <a:t>well.</a:t>
            </a:r>
            <a:endParaRPr lang="en-US" dirty="0">
              <a:solidFill>
                <a:schemeClr val="bg1"/>
              </a:solidFill>
            </a:endParaRPr>
          </a:p>
          <a:p>
            <a:pPr marL="228600" lvl="1" indent="0">
              <a:buNone/>
            </a:pPr>
            <a:endParaRPr lang="en-US" dirty="0">
              <a:solidFill>
                <a:schemeClr val="bg1"/>
              </a:solidFill>
            </a:endParaRPr>
          </a:p>
          <a:p>
            <a:pPr marL="228600" lvl="1" indent="0">
              <a:buNone/>
            </a:pPr>
            <a:endParaRPr lang="en-US" dirty="0">
              <a:solidFill>
                <a:schemeClr val="bg1"/>
              </a:solidFill>
            </a:endParaRPr>
          </a:p>
        </p:txBody>
      </p:sp>
      <p:sp>
        <p:nvSpPr>
          <p:cNvPr id="2" name="Title 1">
            <a:extLst>
              <a:ext uri="{FF2B5EF4-FFF2-40B4-BE49-F238E27FC236}">
                <a16:creationId xmlns="" xmlns:a16="http://schemas.microsoft.com/office/drawing/2014/main" id="{51F70220-677A-411B-B416-94321A555329}"/>
              </a:ext>
            </a:extLst>
          </p:cNvPr>
          <p:cNvSpPr>
            <a:spLocks noGrp="1"/>
          </p:cNvSpPr>
          <p:nvPr>
            <p:ph type="title"/>
          </p:nvPr>
        </p:nvSpPr>
        <p:spPr>
          <a:xfrm>
            <a:off x="5580537" y="521575"/>
            <a:ext cx="4901453" cy="1174991"/>
          </a:xfrm>
          <a:noFill/>
          <a:ln w="31750" cap="sq">
            <a:solidFill>
              <a:schemeClr val="bg1"/>
            </a:solidFill>
            <a:miter lim="800000"/>
          </a:ln>
          <a:effectLst>
            <a:glow rad="152400">
              <a:schemeClr val="bg1">
                <a:alpha val="13000"/>
              </a:schemeClr>
            </a:glow>
          </a:effectLst>
        </p:spPr>
        <p:txBody>
          <a:bodyPr vert="horz" wrap="square" lIns="182880" tIns="182880" rIns="182880" bIns="182880" rtlCol="0" anchor="ctr">
            <a:normAutofit/>
          </a:bodyPr>
          <a:lstStyle/>
          <a:p>
            <a:r>
              <a:rPr lang="en-US" dirty="0" smtClean="0">
                <a:solidFill>
                  <a:schemeClr val="bg1"/>
                </a:solidFill>
              </a:rPr>
              <a:t>Benefits of the study</a:t>
            </a:r>
            <a:endParaRPr lang="en-US" dirty="0">
              <a:solidFill>
                <a:schemeClr val="bg1"/>
              </a:solidFill>
            </a:endParaRPr>
          </a:p>
        </p:txBody>
      </p:sp>
    </p:spTree>
    <p:extLst>
      <p:ext uri="{BB962C8B-B14F-4D97-AF65-F5344CB8AC3E}">
        <p14:creationId xmlns:p14="http://schemas.microsoft.com/office/powerpoint/2010/main" val="24051443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F70220-677A-411B-B416-94321A555329}"/>
              </a:ext>
            </a:extLst>
          </p:cNvPr>
          <p:cNvSpPr>
            <a:spLocks noGrp="1"/>
          </p:cNvSpPr>
          <p:nvPr>
            <p:ph type="title"/>
          </p:nvPr>
        </p:nvSpPr>
        <p:spPr>
          <a:xfrm>
            <a:off x="6182265" y="978776"/>
            <a:ext cx="4451773" cy="1174991"/>
          </a:xfrm>
          <a:noFill/>
          <a:ln w="31750" cap="sq">
            <a:solidFill>
              <a:schemeClr val="bg1"/>
            </a:solidFill>
            <a:miter lim="800000"/>
          </a:ln>
          <a:effectLst>
            <a:glow rad="152400">
              <a:schemeClr val="bg1">
                <a:alpha val="13000"/>
              </a:schemeClr>
            </a:glow>
          </a:effectLst>
        </p:spPr>
        <p:txBody>
          <a:bodyPr vert="horz" wrap="square" lIns="182880" tIns="182880" rIns="182880" bIns="182880" rtlCol="0" anchor="ctr">
            <a:normAutofit/>
          </a:bodyPr>
          <a:lstStyle/>
          <a:p>
            <a:r>
              <a:rPr lang="en-US" dirty="0" smtClean="0">
                <a:solidFill>
                  <a:schemeClr val="bg1"/>
                </a:solidFill>
              </a:rPr>
              <a:t>Sources</a:t>
            </a:r>
            <a:endParaRPr lang="en-US" dirty="0">
              <a:solidFill>
                <a:schemeClr val="bg1"/>
              </a:solidFill>
            </a:endParaRPr>
          </a:p>
        </p:txBody>
      </p:sp>
      <p:pic>
        <p:nvPicPr>
          <p:cNvPr id="4" name="Picture 3" descr="Hand with pen pointing at financial numbers">
            <a:extLst>
              <a:ext uri="{FF2B5EF4-FFF2-40B4-BE49-F238E27FC236}">
                <a16:creationId xmlns="" xmlns:a16="http://schemas.microsoft.com/office/drawing/2014/main" id="{AB2E0BE0-B684-4228-A4DF-58C8CAFFDF4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b="-1"/>
          <a:stretch/>
        </p:blipFill>
        <p:spPr>
          <a:xfrm>
            <a:off x="20" y="10"/>
            <a:ext cx="4657325" cy="6857990"/>
          </a:xfrm>
          <a:prstGeom prst="rect">
            <a:avLst/>
          </a:prstGeom>
        </p:spPr>
      </p:pic>
      <p:sp>
        <p:nvSpPr>
          <p:cNvPr id="3" name="Content Placeholder 2">
            <a:extLst>
              <a:ext uri="{FF2B5EF4-FFF2-40B4-BE49-F238E27FC236}">
                <a16:creationId xmlns="" xmlns:a16="http://schemas.microsoft.com/office/drawing/2014/main" id="{667D1328-A694-4327-A93A-3D919FD65B27}"/>
              </a:ext>
            </a:extLst>
          </p:cNvPr>
          <p:cNvSpPr>
            <a:spLocks noGrp="1"/>
          </p:cNvSpPr>
          <p:nvPr>
            <p:ph idx="1"/>
          </p:nvPr>
        </p:nvSpPr>
        <p:spPr>
          <a:xfrm>
            <a:off x="4900020" y="2928191"/>
            <a:ext cx="7016261" cy="3101983"/>
          </a:xfrm>
        </p:spPr>
        <p:txBody>
          <a:bodyPr>
            <a:normAutofit fontScale="85000" lnSpcReduction="10000"/>
          </a:bodyPr>
          <a:lstStyle/>
          <a:p>
            <a:r>
              <a:rPr lang="en-US" dirty="0" smtClean="0">
                <a:solidFill>
                  <a:schemeClr val="bg1"/>
                </a:solidFill>
              </a:rPr>
              <a:t>B</a:t>
            </a:r>
            <a:r>
              <a:rPr lang="en-US" dirty="0">
                <a:solidFill>
                  <a:schemeClr val="bg1"/>
                </a:solidFill>
              </a:rPr>
              <a:t>, A. (2025, March 21). Predicting stock prices using lstms: A step-by-step guide to time series forecasting | by aditi B | medium. Medium. https://medium.com/@aditib259/predicting-stock-prices-using-lstms-time-series-forecasting-a-step-by-step-guide-a70ebb04bbb8 </a:t>
            </a:r>
          </a:p>
          <a:p>
            <a:r>
              <a:rPr lang="en-US" dirty="0">
                <a:solidFill>
                  <a:schemeClr val="bg1"/>
                </a:solidFill>
              </a:rPr>
              <a:t>Hayes, A. (2026, July 17). Master Arima: Your guide to time series forecasting. Investopedia. https://www.investopedia.com/terms/a/autoregressive-integrated-moving-average-arima.asp </a:t>
            </a:r>
          </a:p>
          <a:p>
            <a:r>
              <a:rPr lang="en-US" dirty="0">
                <a:solidFill>
                  <a:schemeClr val="bg1"/>
                </a:solidFill>
              </a:rPr>
              <a:t>Minhas, M. S. (2025, January 18). 10 reasons why I stopped using </a:t>
            </a:r>
            <a:r>
              <a:rPr lang="en-US" dirty="0" err="1">
                <a:solidFill>
                  <a:schemeClr val="bg1"/>
                </a:solidFill>
              </a:rPr>
              <a:t>jupyter</a:t>
            </a:r>
            <a:r>
              <a:rPr lang="en-US" dirty="0">
                <a:solidFill>
                  <a:schemeClr val="bg1"/>
                </a:solidFill>
              </a:rPr>
              <a:t> lab. Towards Data Science. https://towardsdatascience.com/10-reasons-why-i-stopped-using-jupyter-lab-498e958424ac/ </a:t>
            </a:r>
          </a:p>
        </p:txBody>
      </p:sp>
    </p:spTree>
    <p:extLst>
      <p:ext uri="{BB962C8B-B14F-4D97-AF65-F5344CB8AC3E}">
        <p14:creationId xmlns:p14="http://schemas.microsoft.com/office/powerpoint/2010/main" val="4241086819"/>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b385d60f68dd989dca1fdc827799d85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11b479caf7b199da365455750e457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Status xmlns="71af3243-3dd4-4a8d-8c0d-dd76da1f02a5">Not started</Status>
  </documentManagement>
</p:properties>
</file>

<file path=customXml/itemProps1.xml><?xml version="1.0" encoding="utf-8"?>
<ds:datastoreItem xmlns:ds="http://schemas.openxmlformats.org/officeDocument/2006/customXml" ds:itemID="{1EF06AFC-006B-4BB6-8B59-5A9E1B0534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235C91-959C-45D9-B60A-005B894ACEE3}">
  <ds:schemaRefs>
    <ds:schemaRef ds:uri="http://schemas.microsoft.com/sharepoint/v3/contenttype/forms"/>
  </ds:schemaRefs>
</ds:datastoreItem>
</file>

<file path=customXml/itemProps3.xml><?xml version="1.0" encoding="utf-8"?>
<ds:datastoreItem xmlns:ds="http://schemas.openxmlformats.org/officeDocument/2006/customXml" ds:itemID="{69E38AEF-4E2D-4D00-9707-4356DDB77317}">
  <ds:schemaRefs>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71af3243-3dd4-4a8d-8c0d-dd76da1f02a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Financial design</Template>
  <TotalTime>0</TotalTime>
  <Words>1464</Words>
  <Application>Microsoft Office PowerPoint</Application>
  <PresentationFormat>Widescreen</PresentationFormat>
  <Paragraphs>163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Gill Sans MT</vt:lpstr>
      <vt:lpstr>Parcel</vt:lpstr>
      <vt:lpstr>Forecasting the future of Microsoft stock</vt:lpstr>
      <vt:lpstr>PowerPoint Presentation</vt:lpstr>
      <vt:lpstr>Problem statement</vt:lpstr>
      <vt:lpstr>Data Analysis process</vt:lpstr>
      <vt:lpstr>Data Analysis Process</vt:lpstr>
      <vt:lpstr>Data Analysis Process</vt:lpstr>
      <vt:lpstr>Data Analysis Process</vt:lpstr>
      <vt:lpstr>Data Analysis Process</vt:lpstr>
      <vt:lpstr>Outline of findings</vt:lpstr>
      <vt:lpstr>Data Analysis Process</vt:lpstr>
      <vt:lpstr>Data Analysis Process</vt:lpstr>
      <vt:lpstr>Benefits of the study</vt:lpstr>
      <vt:lpstr>Sources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2026-09-20T19:03:42Z</dcterms:created>
  <dcterms:modified xsi:type="dcterms:W3CDTF">2026-09-20T23:36:16Z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